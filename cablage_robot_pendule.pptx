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642"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‹N°›</a:t>
            </a:fld>
            <a:endParaRPr lang="en-US"/>
          </a:p>
        </p:txBody>
      </p:sp>
    </p:spTree>
    <p:extLst>
      <p:ext uri="{BB962C8B-B14F-4D97-AF65-F5344CB8AC3E}">
        <p14:creationId xmlns=""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00800"/>
            <a:ext cx="12188952" cy="45720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914400"/>
            <a:ext cx="10058400" cy="1188720"/>
          </a:xfrm>
          <a:prstGeom prst="rect">
            <a:avLst/>
          </a:prstGeom>
          <a:noFill/>
        </p:spPr>
        <p:txBody>
          <a:bodyPr wrap="square">
            <a:spAutoFit/>
          </a:bodyPr>
          <a:lstStyle/>
          <a:p>
            <a:pPr algn="ctr"/>
            <a:r>
              <a:rPr sz="4400" b="1" i="0">
                <a:solidFill>
                  <a:srgbClr val="FFD700"/>
                </a:solidFill>
              </a:rPr>
              <a:t>ROBOT PENDULE INVERSÉ</a:t>
            </a:r>
          </a:p>
        </p:txBody>
      </p:sp>
      <p:sp>
        <p:nvSpPr>
          <p:cNvPr id="5" name="TextBox 4"/>
          <p:cNvSpPr txBox="1"/>
          <p:nvPr/>
        </p:nvSpPr>
        <p:spPr>
          <a:xfrm>
            <a:off x="914400" y="2194560"/>
            <a:ext cx="10058400" cy="731520"/>
          </a:xfrm>
          <a:prstGeom prst="rect">
            <a:avLst/>
          </a:prstGeom>
          <a:noFill/>
        </p:spPr>
        <p:txBody>
          <a:bodyPr wrap="square">
            <a:spAutoFit/>
          </a:bodyPr>
          <a:lstStyle/>
          <a:p>
            <a:pPr algn="ctr"/>
            <a:r>
              <a:rPr sz="2800" b="0" i="0">
                <a:solidFill>
                  <a:srgbClr val="FFFFFF"/>
                </a:solidFill>
              </a:rPr>
              <a:t>Guide de Câblage Complet</a:t>
            </a:r>
          </a:p>
        </p:txBody>
      </p:sp>
      <p:sp>
        <p:nvSpPr>
          <p:cNvPr id="6" name="Rectangle 5"/>
          <p:cNvSpPr/>
          <p:nvPr/>
        </p:nvSpPr>
        <p:spPr>
          <a:xfrm>
            <a:off x="1828800" y="3017520"/>
            <a:ext cx="8229600" cy="4572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3291840"/>
            <a:ext cx="1828800" cy="1371600"/>
          </a:xfrm>
          <a:prstGeom prst="rect">
            <a:avLst/>
          </a:prstGeom>
          <a:solidFill>
            <a:srgbClr val="0F3C78"/>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3429000"/>
            <a:ext cx="1645920" cy="1097280"/>
          </a:xfrm>
          <a:prstGeom prst="rect">
            <a:avLst/>
          </a:prstGeom>
          <a:noFill/>
        </p:spPr>
        <p:txBody>
          <a:bodyPr wrap="square">
            <a:spAutoFit/>
          </a:bodyPr>
          <a:lstStyle/>
          <a:p>
            <a:pPr algn="ctr"/>
            <a:r>
              <a:rPr sz="1300" b="1" i="0">
                <a:solidFill>
                  <a:srgbClr val="FFFFFF"/>
                </a:solidFill>
              </a:rPr>
              <a:t>MB1292B
STM32WB5MMG</a:t>
            </a:r>
          </a:p>
        </p:txBody>
      </p:sp>
      <p:sp>
        <p:nvSpPr>
          <p:cNvPr id="9" name="Rectangle 8"/>
          <p:cNvSpPr/>
          <p:nvPr/>
        </p:nvSpPr>
        <p:spPr>
          <a:xfrm>
            <a:off x="3017520" y="3291840"/>
            <a:ext cx="1828800" cy="1371600"/>
          </a:xfrm>
          <a:prstGeom prst="rect">
            <a:avLst/>
          </a:prstGeom>
          <a:solidFill>
            <a:srgbClr val="0F3C78"/>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08960" y="3429000"/>
            <a:ext cx="1645920" cy="1097280"/>
          </a:xfrm>
          <a:prstGeom prst="rect">
            <a:avLst/>
          </a:prstGeom>
          <a:noFill/>
        </p:spPr>
        <p:txBody>
          <a:bodyPr wrap="square">
            <a:spAutoFit/>
          </a:bodyPr>
          <a:lstStyle/>
          <a:p>
            <a:pPr algn="ctr"/>
            <a:r>
              <a:rPr sz="1300" b="1" i="0">
                <a:solidFill>
                  <a:srgbClr val="FFFFFF"/>
                </a:solidFill>
              </a:rPr>
              <a:t>Motor Shield
Arduino Rev3</a:t>
            </a:r>
          </a:p>
        </p:txBody>
      </p:sp>
      <p:sp>
        <p:nvSpPr>
          <p:cNvPr id="11" name="Rectangle 10"/>
          <p:cNvSpPr/>
          <p:nvPr/>
        </p:nvSpPr>
        <p:spPr>
          <a:xfrm>
            <a:off x="5760720" y="3291840"/>
            <a:ext cx="1828800" cy="1371600"/>
          </a:xfrm>
          <a:prstGeom prst="rect">
            <a:avLst/>
          </a:prstGeom>
          <a:solidFill>
            <a:srgbClr val="0F3C78"/>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0" y="3429000"/>
            <a:ext cx="1645920" cy="1097280"/>
          </a:xfrm>
          <a:prstGeom prst="rect">
            <a:avLst/>
          </a:prstGeom>
          <a:noFill/>
        </p:spPr>
        <p:txBody>
          <a:bodyPr wrap="square">
            <a:spAutoFit/>
          </a:bodyPr>
          <a:lstStyle/>
          <a:p>
            <a:pPr algn="ctr"/>
            <a:r>
              <a:rPr sz="1300" b="1" i="0">
                <a:solidFill>
                  <a:srgbClr val="FFFFFF"/>
                </a:solidFill>
              </a:rPr>
              <a:t>Moteurs DC
+ Encodeurs</a:t>
            </a:r>
          </a:p>
        </p:txBody>
      </p:sp>
      <p:sp>
        <p:nvSpPr>
          <p:cNvPr id="13" name="Rectangle 12"/>
          <p:cNvSpPr/>
          <p:nvPr/>
        </p:nvSpPr>
        <p:spPr>
          <a:xfrm>
            <a:off x="8503920" y="3291840"/>
            <a:ext cx="1828800" cy="1371600"/>
          </a:xfrm>
          <a:prstGeom prst="rect">
            <a:avLst/>
          </a:prstGeom>
          <a:solidFill>
            <a:srgbClr val="0F3C78"/>
          </a:solidFill>
          <a:ln w="1905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0" y="3429000"/>
            <a:ext cx="1645920" cy="1097280"/>
          </a:xfrm>
          <a:prstGeom prst="rect">
            <a:avLst/>
          </a:prstGeom>
          <a:noFill/>
        </p:spPr>
        <p:txBody>
          <a:bodyPr wrap="square">
            <a:spAutoFit/>
          </a:bodyPr>
          <a:lstStyle/>
          <a:p>
            <a:pPr algn="ctr"/>
            <a:r>
              <a:rPr sz="1300" b="1" i="0">
                <a:solidFill>
                  <a:srgbClr val="FFFFFF"/>
                </a:solidFill>
              </a:rPr>
              <a:t>Alimentation
Batteries</a:t>
            </a:r>
          </a:p>
        </p:txBody>
      </p:sp>
      <p:sp>
        <p:nvSpPr>
          <p:cNvPr id="15" name="TextBox 14"/>
          <p:cNvSpPr txBox="1"/>
          <p:nvPr/>
        </p:nvSpPr>
        <p:spPr>
          <a:xfrm>
            <a:off x="457200" y="6035040"/>
            <a:ext cx="11247120" cy="457200"/>
          </a:xfrm>
          <a:prstGeom prst="rect">
            <a:avLst/>
          </a:prstGeom>
          <a:noFill/>
        </p:spPr>
        <p:txBody>
          <a:bodyPr wrap="square">
            <a:spAutoFit/>
          </a:bodyPr>
          <a:lstStyle/>
          <a:p>
            <a:pPr algn="ctr"/>
            <a:r>
              <a:rPr sz="1100" b="0" i="0">
                <a:solidFill>
                  <a:srgbClr val="AAAAAA"/>
                </a:solidFill>
              </a:rPr>
              <a:t>Projet : Self-balancing two-wheeled robot  |  Carte : MB1292B (STM32WB5MMG @ 64 MHz)  |  Version :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Architecture Globale</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Vue d'ensemble des cartes et des flux de signaux</a:t>
            </a:r>
          </a:p>
        </p:txBody>
      </p:sp>
      <p:sp>
        <p:nvSpPr>
          <p:cNvPr id="5" name="Rectangle 4"/>
          <p:cNvSpPr/>
          <p:nvPr/>
        </p:nvSpPr>
        <p:spPr>
          <a:xfrm>
            <a:off x="182880" y="1325880"/>
            <a:ext cx="2926080" cy="4572000"/>
          </a:xfrm>
          <a:prstGeom prst="rect">
            <a:avLst/>
          </a:prstGeom>
          <a:solidFill>
            <a:srgbClr val="0F3C78"/>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399032"/>
            <a:ext cx="2743200" cy="457200"/>
          </a:xfrm>
          <a:prstGeom prst="rect">
            <a:avLst/>
          </a:prstGeom>
          <a:noFill/>
        </p:spPr>
        <p:txBody>
          <a:bodyPr wrap="square">
            <a:spAutoFit/>
          </a:bodyPr>
          <a:lstStyle/>
          <a:p>
            <a:pPr algn="ctr"/>
            <a:r>
              <a:rPr sz="1800" b="1" i="0">
                <a:solidFill>
                  <a:srgbClr val="FFD700"/>
                </a:solidFill>
              </a:rPr>
              <a:t>MB1292B</a:t>
            </a:r>
          </a:p>
        </p:txBody>
      </p:sp>
      <p:sp>
        <p:nvSpPr>
          <p:cNvPr id="7" name="TextBox 6"/>
          <p:cNvSpPr txBox="1"/>
          <p:nvPr/>
        </p:nvSpPr>
        <p:spPr>
          <a:xfrm>
            <a:off x="274320" y="1828800"/>
            <a:ext cx="2743200" cy="822960"/>
          </a:xfrm>
          <a:prstGeom prst="rect">
            <a:avLst/>
          </a:prstGeom>
          <a:noFill/>
        </p:spPr>
        <p:txBody>
          <a:bodyPr wrap="square">
            <a:spAutoFit/>
          </a:bodyPr>
          <a:lstStyle/>
          <a:p>
            <a:pPr algn="ctr"/>
            <a:r>
              <a:rPr sz="1100" b="0" i="0">
                <a:solidFill>
                  <a:srgbClr val="FFFFFF"/>
                </a:solidFill>
              </a:rPr>
              <a:t>STM32WB5MMG
Cortex-M4 @ 64 MHz
+ M0+ BLE 5.2</a:t>
            </a:r>
          </a:p>
        </p:txBody>
      </p:sp>
      <p:sp>
        <p:nvSpPr>
          <p:cNvPr id="8" name="TextBox 7"/>
          <p:cNvSpPr txBox="1"/>
          <p:nvPr/>
        </p:nvSpPr>
        <p:spPr>
          <a:xfrm>
            <a:off x="292608" y="2697480"/>
            <a:ext cx="2788920" cy="347472"/>
          </a:xfrm>
          <a:prstGeom prst="rect">
            <a:avLst/>
          </a:prstGeom>
          <a:noFill/>
        </p:spPr>
        <p:txBody>
          <a:bodyPr wrap="square">
            <a:spAutoFit/>
          </a:bodyPr>
          <a:lstStyle/>
          <a:p>
            <a:pPr algn="l"/>
            <a:r>
              <a:rPr sz="1000" b="0" i="0">
                <a:solidFill>
                  <a:srgbClr val="FFFFFF"/>
                </a:solidFill>
              </a:rPr>
              <a:t>• Boucle de contrôle RT (200 Hz)</a:t>
            </a:r>
          </a:p>
        </p:txBody>
      </p:sp>
      <p:sp>
        <p:nvSpPr>
          <p:cNvPr id="9" name="TextBox 8"/>
          <p:cNvSpPr txBox="1"/>
          <p:nvPr/>
        </p:nvSpPr>
        <p:spPr>
          <a:xfrm>
            <a:off x="292608" y="3044952"/>
            <a:ext cx="2788920" cy="347472"/>
          </a:xfrm>
          <a:prstGeom prst="rect">
            <a:avLst/>
          </a:prstGeom>
          <a:noFill/>
        </p:spPr>
        <p:txBody>
          <a:bodyPr wrap="square">
            <a:spAutoFit/>
          </a:bodyPr>
          <a:lstStyle/>
          <a:p>
            <a:pPr algn="l"/>
            <a:r>
              <a:rPr sz="1000" b="0" i="0">
                <a:solidFill>
                  <a:srgbClr val="FFFFFF"/>
                </a:solidFill>
              </a:rPr>
              <a:t>• IMU ISM330DHCX (I2C3 interne)</a:t>
            </a:r>
          </a:p>
        </p:txBody>
      </p:sp>
      <p:sp>
        <p:nvSpPr>
          <p:cNvPr id="10" name="TextBox 9"/>
          <p:cNvSpPr txBox="1"/>
          <p:nvPr/>
        </p:nvSpPr>
        <p:spPr>
          <a:xfrm>
            <a:off x="292608" y="3392424"/>
            <a:ext cx="2788920" cy="347472"/>
          </a:xfrm>
          <a:prstGeom prst="rect">
            <a:avLst/>
          </a:prstGeom>
          <a:noFill/>
        </p:spPr>
        <p:txBody>
          <a:bodyPr wrap="square">
            <a:spAutoFit/>
          </a:bodyPr>
          <a:lstStyle/>
          <a:p>
            <a:pPr algn="l"/>
            <a:r>
              <a:rPr sz="1000" b="0" i="0">
                <a:solidFill>
                  <a:srgbClr val="FFFFFF"/>
                </a:solidFill>
              </a:rPr>
              <a:t>• Encodeurs via TIM1 / TIM2</a:t>
            </a:r>
          </a:p>
        </p:txBody>
      </p:sp>
      <p:sp>
        <p:nvSpPr>
          <p:cNvPr id="11" name="TextBox 10"/>
          <p:cNvSpPr txBox="1"/>
          <p:nvPr/>
        </p:nvSpPr>
        <p:spPr>
          <a:xfrm>
            <a:off x="292608" y="3739896"/>
            <a:ext cx="2788920" cy="347472"/>
          </a:xfrm>
          <a:prstGeom prst="rect">
            <a:avLst/>
          </a:prstGeom>
          <a:noFill/>
        </p:spPr>
        <p:txBody>
          <a:bodyPr wrap="square">
            <a:spAutoFit/>
          </a:bodyPr>
          <a:lstStyle/>
          <a:p>
            <a:pPr algn="l"/>
            <a:r>
              <a:rPr sz="1000" b="0" i="0">
                <a:solidFill>
                  <a:srgbClr val="FFFFFF"/>
                </a:solidFill>
              </a:rPr>
              <a:t>• USART1 → PC (ST-Link VCP)</a:t>
            </a:r>
          </a:p>
        </p:txBody>
      </p:sp>
      <p:sp>
        <p:nvSpPr>
          <p:cNvPr id="12" name="TextBox 11"/>
          <p:cNvSpPr txBox="1"/>
          <p:nvPr/>
        </p:nvSpPr>
        <p:spPr>
          <a:xfrm>
            <a:off x="292608" y="4087368"/>
            <a:ext cx="2788920" cy="347472"/>
          </a:xfrm>
          <a:prstGeom prst="rect">
            <a:avLst/>
          </a:prstGeom>
          <a:noFill/>
        </p:spPr>
        <p:txBody>
          <a:bodyPr wrap="square">
            <a:spAutoFit/>
          </a:bodyPr>
          <a:lstStyle/>
          <a:p>
            <a:pPr algn="l"/>
            <a:r>
              <a:rPr sz="1000" b="0" i="0">
                <a:solidFill>
                  <a:srgbClr val="FFFFFF"/>
                </a:solidFill>
              </a:rPr>
              <a:t>• BLE 5.2 → Smartphone</a:t>
            </a:r>
          </a:p>
        </p:txBody>
      </p:sp>
      <p:sp>
        <p:nvSpPr>
          <p:cNvPr id="13" name="TextBox 12"/>
          <p:cNvSpPr txBox="1"/>
          <p:nvPr/>
        </p:nvSpPr>
        <p:spPr>
          <a:xfrm>
            <a:off x="292608" y="4434840"/>
            <a:ext cx="2788920" cy="347472"/>
          </a:xfrm>
          <a:prstGeom prst="rect">
            <a:avLst/>
          </a:prstGeom>
          <a:noFill/>
        </p:spPr>
        <p:txBody>
          <a:bodyPr wrap="square">
            <a:spAutoFit/>
          </a:bodyPr>
          <a:lstStyle/>
          <a:p>
            <a:pPr algn="l"/>
            <a:r>
              <a:rPr sz="1000" b="0" i="0">
                <a:solidFill>
                  <a:srgbClr val="FFFFFF"/>
                </a:solidFill>
              </a:rPr>
              <a:t>• PWM + DIR + BRAKE → Shield</a:t>
            </a:r>
          </a:p>
        </p:txBody>
      </p:sp>
      <p:sp>
        <p:nvSpPr>
          <p:cNvPr id="14" name="TextBox 13"/>
          <p:cNvSpPr txBox="1"/>
          <p:nvPr/>
        </p:nvSpPr>
        <p:spPr>
          <a:xfrm>
            <a:off x="292608" y="4782312"/>
            <a:ext cx="2788920" cy="347472"/>
          </a:xfrm>
          <a:prstGeom prst="rect">
            <a:avLst/>
          </a:prstGeom>
          <a:noFill/>
        </p:spPr>
        <p:txBody>
          <a:bodyPr wrap="square">
            <a:spAutoFit/>
          </a:bodyPr>
          <a:lstStyle/>
          <a:p>
            <a:pPr algn="l"/>
            <a:r>
              <a:rPr sz="1000" b="0" i="0">
                <a:solidFill>
                  <a:srgbClr val="FFFFFF"/>
                </a:solidFill>
              </a:rPr>
              <a:t>• ADC courant ← Shield</a:t>
            </a:r>
          </a:p>
        </p:txBody>
      </p:sp>
      <p:sp>
        <p:nvSpPr>
          <p:cNvPr id="15" name="TextBox 14"/>
          <p:cNvSpPr txBox="1"/>
          <p:nvPr/>
        </p:nvSpPr>
        <p:spPr>
          <a:xfrm>
            <a:off x="292608" y="5129784"/>
            <a:ext cx="2788920" cy="347472"/>
          </a:xfrm>
          <a:prstGeom prst="rect">
            <a:avLst/>
          </a:prstGeom>
          <a:noFill/>
        </p:spPr>
        <p:txBody>
          <a:bodyPr wrap="square">
            <a:spAutoFit/>
          </a:bodyPr>
          <a:lstStyle/>
          <a:p>
            <a:pPr algn="l"/>
            <a:r>
              <a:rPr sz="1000" b="0" i="0">
                <a:solidFill>
                  <a:srgbClr val="FFFFFF"/>
                </a:solidFill>
              </a:rPr>
              <a:t>• OLED / RGB / Boutons natifs</a:t>
            </a:r>
          </a:p>
        </p:txBody>
      </p:sp>
      <p:sp>
        <p:nvSpPr>
          <p:cNvPr id="16" name="Rectangle 15"/>
          <p:cNvSpPr/>
          <p:nvPr/>
        </p:nvSpPr>
        <p:spPr>
          <a:xfrm>
            <a:off x="4572000" y="1325880"/>
            <a:ext cx="2926080" cy="3200400"/>
          </a:xfrm>
          <a:prstGeom prst="rect">
            <a:avLst/>
          </a:prstGeom>
          <a:solidFill>
            <a:srgbClr val="16213E"/>
          </a:solidFill>
          <a:ln w="254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63440" y="1399032"/>
            <a:ext cx="2743200" cy="457200"/>
          </a:xfrm>
          <a:prstGeom prst="rect">
            <a:avLst/>
          </a:prstGeom>
          <a:noFill/>
        </p:spPr>
        <p:txBody>
          <a:bodyPr wrap="square">
            <a:spAutoFit/>
          </a:bodyPr>
          <a:lstStyle/>
          <a:p>
            <a:pPr algn="ctr"/>
            <a:r>
              <a:rPr sz="1600" b="1" i="0">
                <a:solidFill>
                  <a:srgbClr val="FF8800"/>
                </a:solidFill>
              </a:rPr>
              <a:t>Motor Shield Rev3</a:t>
            </a:r>
          </a:p>
        </p:txBody>
      </p:sp>
      <p:sp>
        <p:nvSpPr>
          <p:cNvPr id="18" name="TextBox 17"/>
          <p:cNvSpPr txBox="1"/>
          <p:nvPr/>
        </p:nvSpPr>
        <p:spPr>
          <a:xfrm>
            <a:off x="4663440" y="1828800"/>
            <a:ext cx="2743200" cy="365760"/>
          </a:xfrm>
          <a:prstGeom prst="rect">
            <a:avLst/>
          </a:prstGeom>
          <a:noFill/>
        </p:spPr>
        <p:txBody>
          <a:bodyPr wrap="square">
            <a:spAutoFit/>
          </a:bodyPr>
          <a:lstStyle/>
          <a:p>
            <a:pPr algn="ctr"/>
            <a:r>
              <a:rPr sz="1100" b="0" i="0">
                <a:solidFill>
                  <a:srgbClr val="FFFFFF"/>
                </a:solidFill>
              </a:rPr>
              <a:t>L298P — 2 canaux, 2 A/canal</a:t>
            </a:r>
          </a:p>
        </p:txBody>
      </p:sp>
      <p:sp>
        <p:nvSpPr>
          <p:cNvPr id="19" name="TextBox 18"/>
          <p:cNvSpPr txBox="1"/>
          <p:nvPr/>
        </p:nvSpPr>
        <p:spPr>
          <a:xfrm>
            <a:off x="4681728" y="2286000"/>
            <a:ext cx="2743200" cy="411480"/>
          </a:xfrm>
          <a:prstGeom prst="rect">
            <a:avLst/>
          </a:prstGeom>
          <a:noFill/>
        </p:spPr>
        <p:txBody>
          <a:bodyPr wrap="square">
            <a:spAutoFit/>
          </a:bodyPr>
          <a:lstStyle/>
          <a:p>
            <a:pPr algn="l"/>
            <a:r>
              <a:rPr sz="1100" b="0" i="0">
                <a:solidFill>
                  <a:srgbClr val="FFFFFF"/>
                </a:solidFill>
              </a:rPr>
              <a:t>• Reçoit PWM, DIR, BRAKE</a:t>
            </a:r>
          </a:p>
        </p:txBody>
      </p:sp>
      <p:sp>
        <p:nvSpPr>
          <p:cNvPr id="20" name="TextBox 19"/>
          <p:cNvSpPr txBox="1"/>
          <p:nvPr/>
        </p:nvSpPr>
        <p:spPr>
          <a:xfrm>
            <a:off x="4681728" y="2697480"/>
            <a:ext cx="2743200" cy="411480"/>
          </a:xfrm>
          <a:prstGeom prst="rect">
            <a:avLst/>
          </a:prstGeom>
          <a:noFill/>
        </p:spPr>
        <p:txBody>
          <a:bodyPr wrap="square">
            <a:spAutoFit/>
          </a:bodyPr>
          <a:lstStyle/>
          <a:p>
            <a:pPr algn="l"/>
            <a:r>
              <a:rPr sz="1100" b="0" i="0">
                <a:solidFill>
                  <a:srgbClr val="FFFFFF"/>
                </a:solidFill>
              </a:rPr>
              <a:t>• Pilote moteurs gauche &amp; droit</a:t>
            </a:r>
          </a:p>
        </p:txBody>
      </p:sp>
      <p:sp>
        <p:nvSpPr>
          <p:cNvPr id="21" name="TextBox 20"/>
          <p:cNvSpPr txBox="1"/>
          <p:nvPr/>
        </p:nvSpPr>
        <p:spPr>
          <a:xfrm>
            <a:off x="4681728" y="3108960"/>
            <a:ext cx="2743200" cy="411480"/>
          </a:xfrm>
          <a:prstGeom prst="rect">
            <a:avLst/>
          </a:prstGeom>
          <a:noFill/>
        </p:spPr>
        <p:txBody>
          <a:bodyPr wrap="square">
            <a:spAutoFit/>
          </a:bodyPr>
          <a:lstStyle/>
          <a:p>
            <a:pPr algn="l"/>
            <a:r>
              <a:rPr sz="1100" b="0" i="0">
                <a:solidFill>
                  <a:srgbClr val="FFFFFF"/>
                </a:solidFill>
              </a:rPr>
              <a:t>• Fournit mesure courant (analog.)</a:t>
            </a:r>
          </a:p>
        </p:txBody>
      </p:sp>
      <p:sp>
        <p:nvSpPr>
          <p:cNvPr id="22" name="TextBox 21"/>
          <p:cNvSpPr txBox="1"/>
          <p:nvPr/>
        </p:nvSpPr>
        <p:spPr>
          <a:xfrm>
            <a:off x="4681728" y="3520440"/>
            <a:ext cx="2743200" cy="411480"/>
          </a:xfrm>
          <a:prstGeom prst="rect">
            <a:avLst/>
          </a:prstGeom>
          <a:noFill/>
        </p:spPr>
        <p:txBody>
          <a:bodyPr wrap="square">
            <a:spAutoFit/>
          </a:bodyPr>
          <a:lstStyle/>
          <a:p>
            <a:pPr algn="l"/>
            <a:r>
              <a:rPr sz="1100" b="0" i="0">
                <a:solidFill>
                  <a:srgbClr val="FFFFFF"/>
                </a:solidFill>
              </a:rPr>
              <a:t>• Alimentation Vs (puissance)</a:t>
            </a:r>
          </a:p>
        </p:txBody>
      </p:sp>
      <p:sp>
        <p:nvSpPr>
          <p:cNvPr id="23" name="TextBox 22"/>
          <p:cNvSpPr txBox="1"/>
          <p:nvPr/>
        </p:nvSpPr>
        <p:spPr>
          <a:xfrm>
            <a:off x="4681728" y="3931920"/>
            <a:ext cx="2743200" cy="411480"/>
          </a:xfrm>
          <a:prstGeom prst="rect">
            <a:avLst/>
          </a:prstGeom>
          <a:noFill/>
        </p:spPr>
        <p:txBody>
          <a:bodyPr wrap="square">
            <a:spAutoFit/>
          </a:bodyPr>
          <a:lstStyle/>
          <a:p>
            <a:pPr algn="l"/>
            <a:r>
              <a:rPr sz="1100" b="0" i="0">
                <a:solidFill>
                  <a:srgbClr val="FFFFFF"/>
                </a:solidFill>
              </a:rPr>
              <a:t>  et Vss (logique) séparées</a:t>
            </a:r>
          </a:p>
        </p:txBody>
      </p:sp>
      <p:sp>
        <p:nvSpPr>
          <p:cNvPr id="24" name="Rectangle 23"/>
          <p:cNvSpPr/>
          <p:nvPr/>
        </p:nvSpPr>
        <p:spPr>
          <a:xfrm>
            <a:off x="4572000" y="4709160"/>
            <a:ext cx="2926080" cy="1097280"/>
          </a:xfrm>
          <a:prstGeom prst="rect">
            <a:avLst/>
          </a:prstGeom>
          <a:solidFill>
            <a:srgbClr val="16213E"/>
          </a:solidFill>
          <a:ln w="2540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63440" y="4782312"/>
            <a:ext cx="2743200" cy="457200"/>
          </a:xfrm>
          <a:prstGeom prst="rect">
            <a:avLst/>
          </a:prstGeom>
          <a:noFill/>
        </p:spPr>
        <p:txBody>
          <a:bodyPr wrap="square">
            <a:spAutoFit/>
          </a:bodyPr>
          <a:lstStyle/>
          <a:p>
            <a:pPr algn="ctr"/>
            <a:r>
              <a:rPr sz="1400" b="1" i="0">
                <a:solidFill>
                  <a:srgbClr val="00CC66"/>
                </a:solidFill>
              </a:rPr>
              <a:t>Moteurs DC + Encodeurs</a:t>
            </a:r>
          </a:p>
        </p:txBody>
      </p:sp>
      <p:sp>
        <p:nvSpPr>
          <p:cNvPr id="26" name="TextBox 25"/>
          <p:cNvSpPr txBox="1"/>
          <p:nvPr/>
        </p:nvSpPr>
        <p:spPr>
          <a:xfrm>
            <a:off x="4663440" y="5212080"/>
            <a:ext cx="2743200" cy="548640"/>
          </a:xfrm>
          <a:prstGeom prst="rect">
            <a:avLst/>
          </a:prstGeom>
          <a:noFill/>
        </p:spPr>
        <p:txBody>
          <a:bodyPr wrap="square">
            <a:spAutoFit/>
          </a:bodyPr>
          <a:lstStyle/>
          <a:p>
            <a:pPr algn="ctr"/>
            <a:r>
              <a:rPr sz="1000" b="0" i="0">
                <a:solidFill>
                  <a:srgbClr val="FFFFFF"/>
                </a:solidFill>
              </a:rPr>
              <a:t>29:1 gearbox — 64 CPR — 1856 ticks/tour
Gauche + Droit indépendants</a:t>
            </a:r>
          </a:p>
        </p:txBody>
      </p:sp>
      <p:sp>
        <p:nvSpPr>
          <p:cNvPr id="27" name="Rectangle 26"/>
          <p:cNvSpPr/>
          <p:nvPr/>
        </p:nvSpPr>
        <p:spPr>
          <a:xfrm>
            <a:off x="8686800" y="1325880"/>
            <a:ext cx="3200400" cy="1371600"/>
          </a:xfrm>
          <a:prstGeom prst="rect">
            <a:avLst/>
          </a:prstGeom>
          <a:solidFill>
            <a:srgbClr val="16213E"/>
          </a:solidFill>
          <a:ln w="2540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78240" y="1371600"/>
            <a:ext cx="3017520" cy="457200"/>
          </a:xfrm>
          <a:prstGeom prst="rect">
            <a:avLst/>
          </a:prstGeom>
          <a:noFill/>
        </p:spPr>
        <p:txBody>
          <a:bodyPr wrap="square">
            <a:spAutoFit/>
          </a:bodyPr>
          <a:lstStyle/>
          <a:p>
            <a:pPr algn="ctr"/>
            <a:r>
              <a:rPr sz="1600" b="1" i="0">
                <a:solidFill>
                  <a:srgbClr val="AA55FF"/>
                </a:solidFill>
              </a:rPr>
              <a:t>Smartphone</a:t>
            </a:r>
          </a:p>
        </p:txBody>
      </p:sp>
      <p:sp>
        <p:nvSpPr>
          <p:cNvPr id="29" name="TextBox 28"/>
          <p:cNvSpPr txBox="1"/>
          <p:nvPr/>
        </p:nvSpPr>
        <p:spPr>
          <a:xfrm>
            <a:off x="8778240" y="1828800"/>
            <a:ext cx="3017520" cy="685800"/>
          </a:xfrm>
          <a:prstGeom prst="rect">
            <a:avLst/>
          </a:prstGeom>
          <a:noFill/>
        </p:spPr>
        <p:txBody>
          <a:bodyPr wrap="square">
            <a:spAutoFit/>
          </a:bodyPr>
          <a:lstStyle/>
          <a:p>
            <a:pPr algn="ctr"/>
            <a:r>
              <a:rPr sz="1100" b="0" i="0">
                <a:solidFill>
                  <a:srgbClr val="FFFFFF"/>
                </a:solidFill>
              </a:rPr>
              <a:t>Client BLE 5.2
Commandes conduite / télémétrie</a:t>
            </a:r>
          </a:p>
        </p:txBody>
      </p:sp>
      <p:sp>
        <p:nvSpPr>
          <p:cNvPr id="30" name="Rectangle 29"/>
          <p:cNvSpPr/>
          <p:nvPr/>
        </p:nvSpPr>
        <p:spPr>
          <a:xfrm>
            <a:off x="8686800" y="2971800"/>
            <a:ext cx="3200400" cy="1371600"/>
          </a:xfrm>
          <a:prstGeom prst="rect">
            <a:avLst/>
          </a:prstGeom>
          <a:solidFill>
            <a:srgbClr val="16213E"/>
          </a:solidFill>
          <a:ln w="254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78240" y="3017520"/>
            <a:ext cx="3017520" cy="457200"/>
          </a:xfrm>
          <a:prstGeom prst="rect">
            <a:avLst/>
          </a:prstGeom>
          <a:noFill/>
        </p:spPr>
        <p:txBody>
          <a:bodyPr wrap="square">
            <a:spAutoFit/>
          </a:bodyPr>
          <a:lstStyle/>
          <a:p>
            <a:pPr algn="ctr"/>
            <a:r>
              <a:rPr sz="1600" b="1" i="0">
                <a:solidFill>
                  <a:srgbClr val="00BFFF"/>
                </a:solidFill>
              </a:rPr>
              <a:t>PC Ingénierie</a:t>
            </a:r>
          </a:p>
        </p:txBody>
      </p:sp>
      <p:sp>
        <p:nvSpPr>
          <p:cNvPr id="32" name="TextBox 31"/>
          <p:cNvSpPr txBox="1"/>
          <p:nvPr/>
        </p:nvSpPr>
        <p:spPr>
          <a:xfrm>
            <a:off x="8778240" y="3474720"/>
            <a:ext cx="3017520" cy="685800"/>
          </a:xfrm>
          <a:prstGeom prst="rect">
            <a:avLst/>
          </a:prstGeom>
          <a:noFill/>
        </p:spPr>
        <p:txBody>
          <a:bodyPr wrap="square">
            <a:spAutoFit/>
          </a:bodyPr>
          <a:lstStyle/>
          <a:p>
            <a:pPr algn="ctr"/>
            <a:r>
              <a:rPr sz="1100" b="0" i="0">
                <a:solidFill>
                  <a:srgbClr val="FFFFFF"/>
                </a:solidFill>
              </a:rPr>
              <a:t>ST-Link VCP (USB)
Tuning PID / Télémétrie détaillée</a:t>
            </a:r>
          </a:p>
        </p:txBody>
      </p:sp>
      <p:sp>
        <p:nvSpPr>
          <p:cNvPr id="33" name="Rectangle 32"/>
          <p:cNvSpPr/>
          <p:nvPr/>
        </p:nvSpPr>
        <p:spPr>
          <a:xfrm>
            <a:off x="8686800" y="4526280"/>
            <a:ext cx="3200400" cy="1371600"/>
          </a:xfrm>
          <a:prstGeom prst="rect">
            <a:avLst/>
          </a:prstGeom>
          <a:solidFill>
            <a:srgbClr val="16213E"/>
          </a:solidFill>
          <a:ln w="254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778240" y="4572000"/>
            <a:ext cx="3017520" cy="457200"/>
          </a:xfrm>
          <a:prstGeom prst="rect">
            <a:avLst/>
          </a:prstGeom>
          <a:noFill/>
        </p:spPr>
        <p:txBody>
          <a:bodyPr wrap="square">
            <a:spAutoFit/>
          </a:bodyPr>
          <a:lstStyle/>
          <a:p>
            <a:pPr algn="ctr"/>
            <a:r>
              <a:rPr sz="1600" b="1" i="0">
                <a:solidFill>
                  <a:srgbClr val="FF4444"/>
                </a:solidFill>
              </a:rPr>
              <a:t>Alimentation</a:t>
            </a:r>
          </a:p>
        </p:txBody>
      </p:sp>
      <p:sp>
        <p:nvSpPr>
          <p:cNvPr id="35" name="TextBox 34"/>
          <p:cNvSpPr txBox="1"/>
          <p:nvPr/>
        </p:nvSpPr>
        <p:spPr>
          <a:xfrm>
            <a:off x="8778240" y="5029200"/>
            <a:ext cx="3017520" cy="822960"/>
          </a:xfrm>
          <a:prstGeom prst="rect">
            <a:avLst/>
          </a:prstGeom>
          <a:noFill/>
        </p:spPr>
        <p:txBody>
          <a:bodyPr wrap="square">
            <a:spAutoFit/>
          </a:bodyPr>
          <a:lstStyle/>
          <a:p>
            <a:pPr algn="ctr"/>
            <a:r>
              <a:rPr sz="1000" b="0" i="0">
                <a:solidFill>
                  <a:srgbClr val="FFFFFF"/>
                </a:solidFill>
              </a:rPr>
              <a:t>Batt. puissance → Vs Shield
Batt. logique → MB1292B + Vss
Masse commune partagée</a:t>
            </a:r>
          </a:p>
        </p:txBody>
      </p:sp>
      <p:sp>
        <p:nvSpPr>
          <p:cNvPr id="36" name="TextBox 35"/>
          <p:cNvSpPr txBox="1"/>
          <p:nvPr/>
        </p:nvSpPr>
        <p:spPr>
          <a:xfrm>
            <a:off x="3200400" y="1874520"/>
            <a:ext cx="1280160" cy="347472"/>
          </a:xfrm>
          <a:prstGeom prst="rect">
            <a:avLst/>
          </a:prstGeom>
          <a:noFill/>
        </p:spPr>
        <p:txBody>
          <a:bodyPr wrap="square">
            <a:spAutoFit/>
          </a:bodyPr>
          <a:lstStyle/>
          <a:p>
            <a:pPr algn="ctr"/>
            <a:r>
              <a:rPr sz="1000" b="1" i="0">
                <a:solidFill>
                  <a:srgbClr val="FF8800"/>
                </a:solidFill>
              </a:rPr>
              <a:t>PWM+DIR+BRAKE →</a:t>
            </a:r>
          </a:p>
        </p:txBody>
      </p:sp>
      <p:sp>
        <p:nvSpPr>
          <p:cNvPr id="37" name="TextBox 36"/>
          <p:cNvSpPr txBox="1"/>
          <p:nvPr/>
        </p:nvSpPr>
        <p:spPr>
          <a:xfrm>
            <a:off x="3200400" y="2240280"/>
            <a:ext cx="1280160" cy="347472"/>
          </a:xfrm>
          <a:prstGeom prst="rect">
            <a:avLst/>
          </a:prstGeom>
          <a:noFill/>
        </p:spPr>
        <p:txBody>
          <a:bodyPr wrap="square">
            <a:spAutoFit/>
          </a:bodyPr>
          <a:lstStyle/>
          <a:p>
            <a:pPr algn="ctr"/>
            <a:r>
              <a:rPr sz="1000" b="1" i="0">
                <a:solidFill>
                  <a:srgbClr val="00CC66"/>
                </a:solidFill>
              </a:rPr>
              <a:t>← Mesure courant</a:t>
            </a:r>
          </a:p>
        </p:txBody>
      </p:sp>
      <p:sp>
        <p:nvSpPr>
          <p:cNvPr id="38" name="TextBox 37"/>
          <p:cNvSpPr txBox="1"/>
          <p:nvPr/>
        </p:nvSpPr>
        <p:spPr>
          <a:xfrm>
            <a:off x="3200400" y="2606040"/>
            <a:ext cx="1280160" cy="347472"/>
          </a:xfrm>
          <a:prstGeom prst="rect">
            <a:avLst/>
          </a:prstGeom>
          <a:noFill/>
        </p:spPr>
        <p:txBody>
          <a:bodyPr wrap="square">
            <a:spAutoFit/>
          </a:bodyPr>
          <a:lstStyle/>
          <a:p>
            <a:pPr algn="ctr"/>
            <a:r>
              <a:rPr sz="1000" b="1" i="0">
                <a:solidFill>
                  <a:srgbClr val="00CC66"/>
                </a:solidFill>
              </a:rPr>
              <a:t>Encodeurs →</a:t>
            </a:r>
          </a:p>
        </p:txBody>
      </p:sp>
      <p:sp>
        <p:nvSpPr>
          <p:cNvPr id="39" name="TextBox 38"/>
          <p:cNvSpPr txBox="1"/>
          <p:nvPr/>
        </p:nvSpPr>
        <p:spPr>
          <a:xfrm>
            <a:off x="3200400" y="2971800"/>
            <a:ext cx="1280160" cy="347472"/>
          </a:xfrm>
          <a:prstGeom prst="rect">
            <a:avLst/>
          </a:prstGeom>
          <a:noFill/>
        </p:spPr>
        <p:txBody>
          <a:bodyPr wrap="square">
            <a:spAutoFit/>
          </a:bodyPr>
          <a:lstStyle/>
          <a:p>
            <a:pPr algn="ctr"/>
            <a:r>
              <a:rPr sz="1000" b="1" i="0">
                <a:solidFill>
                  <a:srgbClr val="AA55FF"/>
                </a:solidFill>
              </a:rPr>
              <a:t>BLE 5.2 ↔</a:t>
            </a:r>
          </a:p>
        </p:txBody>
      </p:sp>
      <p:sp>
        <p:nvSpPr>
          <p:cNvPr id="40" name="TextBox 39"/>
          <p:cNvSpPr txBox="1"/>
          <p:nvPr/>
        </p:nvSpPr>
        <p:spPr>
          <a:xfrm>
            <a:off x="3200400" y="3337560"/>
            <a:ext cx="1280160" cy="347472"/>
          </a:xfrm>
          <a:prstGeom prst="rect">
            <a:avLst/>
          </a:prstGeom>
          <a:noFill/>
        </p:spPr>
        <p:txBody>
          <a:bodyPr wrap="square">
            <a:spAutoFit/>
          </a:bodyPr>
          <a:lstStyle/>
          <a:p>
            <a:pPr algn="ctr"/>
            <a:r>
              <a:rPr sz="1000" b="1" i="0">
                <a:solidFill>
                  <a:srgbClr val="00BFFF"/>
                </a:solidFill>
              </a:rPr>
              <a:t>USB ST-Link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MB1292B — Signaux d'Interface</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STM32WB5MMG · Cortex-M4 @ 64 MHz · BLE 5.2 intégré (M0+)</a:t>
            </a:r>
          </a:p>
        </p:txBody>
      </p:sp>
      <p:sp>
        <p:nvSpPr>
          <p:cNvPr id="5" name="Rectangle 4"/>
          <p:cNvSpPr/>
          <p:nvPr/>
        </p:nvSpPr>
        <p:spPr>
          <a:xfrm>
            <a:off x="182880" y="1234440"/>
            <a:ext cx="548640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032" y="1252728"/>
            <a:ext cx="5394960" cy="347472"/>
          </a:xfrm>
          <a:prstGeom prst="rect">
            <a:avLst/>
          </a:prstGeom>
          <a:noFill/>
        </p:spPr>
        <p:txBody>
          <a:bodyPr wrap="square">
            <a:spAutoFit/>
          </a:bodyPr>
          <a:lstStyle/>
          <a:p>
            <a:pPr algn="l"/>
            <a:r>
              <a:rPr sz="1400" b="1" i="0">
                <a:solidFill>
                  <a:srgbClr val="FFD700"/>
                </a:solidFill>
              </a:rPr>
              <a:t>Sorties MB1292B → Motor Shield</a:t>
            </a:r>
          </a:p>
        </p:txBody>
      </p:sp>
      <p:sp>
        <p:nvSpPr>
          <p:cNvPr id="7" name="Rectangle 6"/>
          <p:cNvSpPr/>
          <p:nvPr/>
        </p:nvSpPr>
        <p:spPr>
          <a:xfrm>
            <a:off x="182880" y="1600200"/>
            <a:ext cx="228600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636776"/>
            <a:ext cx="2194560" cy="310896"/>
          </a:xfrm>
          <a:prstGeom prst="rect">
            <a:avLst/>
          </a:prstGeom>
          <a:noFill/>
        </p:spPr>
        <p:txBody>
          <a:bodyPr wrap="square">
            <a:spAutoFit/>
          </a:bodyPr>
          <a:lstStyle/>
          <a:p>
            <a:pPr algn="ctr"/>
            <a:r>
              <a:rPr sz="1100" b="1" i="0">
                <a:solidFill>
                  <a:srgbClr val="FFD700"/>
                </a:solidFill>
              </a:rPr>
              <a:t>Signal</a:t>
            </a:r>
          </a:p>
        </p:txBody>
      </p:sp>
      <p:sp>
        <p:nvSpPr>
          <p:cNvPr id="9" name="Rectangle 8"/>
          <p:cNvSpPr/>
          <p:nvPr/>
        </p:nvSpPr>
        <p:spPr>
          <a:xfrm>
            <a:off x="2468880" y="1600200"/>
            <a:ext cx="82296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4600" y="1636776"/>
            <a:ext cx="731520" cy="310896"/>
          </a:xfrm>
          <a:prstGeom prst="rect">
            <a:avLst/>
          </a:prstGeom>
          <a:noFill/>
        </p:spPr>
        <p:txBody>
          <a:bodyPr wrap="square">
            <a:spAutoFit/>
          </a:bodyPr>
          <a:lstStyle/>
          <a:p>
            <a:pPr algn="ctr"/>
            <a:r>
              <a:rPr sz="1100" b="1" i="0">
                <a:solidFill>
                  <a:srgbClr val="FFD700"/>
                </a:solidFill>
              </a:rPr>
              <a:t>Pin STM32</a:t>
            </a:r>
          </a:p>
        </p:txBody>
      </p:sp>
      <p:sp>
        <p:nvSpPr>
          <p:cNvPr id="11" name="Rectangle 10"/>
          <p:cNvSpPr/>
          <p:nvPr/>
        </p:nvSpPr>
        <p:spPr>
          <a:xfrm>
            <a:off x="3291840" y="1600200"/>
            <a:ext cx="100584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37560" y="1636776"/>
            <a:ext cx="914400" cy="310896"/>
          </a:xfrm>
          <a:prstGeom prst="rect">
            <a:avLst/>
          </a:prstGeom>
          <a:noFill/>
        </p:spPr>
        <p:txBody>
          <a:bodyPr wrap="square">
            <a:spAutoFit/>
          </a:bodyPr>
          <a:lstStyle/>
          <a:p>
            <a:pPr algn="ctr"/>
            <a:r>
              <a:rPr sz="1100" b="1" i="0">
                <a:solidFill>
                  <a:srgbClr val="FFD700"/>
                </a:solidFill>
              </a:rPr>
              <a:t>Connecteur</a:t>
            </a:r>
          </a:p>
        </p:txBody>
      </p:sp>
      <p:sp>
        <p:nvSpPr>
          <p:cNvPr id="13" name="Rectangle 12"/>
          <p:cNvSpPr/>
          <p:nvPr/>
        </p:nvSpPr>
        <p:spPr>
          <a:xfrm>
            <a:off x="4297680" y="1600200"/>
            <a:ext cx="105156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400" y="1636776"/>
            <a:ext cx="960120" cy="310896"/>
          </a:xfrm>
          <a:prstGeom prst="rect">
            <a:avLst/>
          </a:prstGeom>
          <a:noFill/>
        </p:spPr>
        <p:txBody>
          <a:bodyPr wrap="square">
            <a:spAutoFit/>
          </a:bodyPr>
          <a:lstStyle/>
          <a:p>
            <a:pPr algn="ctr"/>
            <a:r>
              <a:rPr sz="1100" b="1" i="0">
                <a:solidFill>
                  <a:srgbClr val="FFD700"/>
                </a:solidFill>
              </a:rPr>
              <a:t>Périphérique</a:t>
            </a:r>
          </a:p>
        </p:txBody>
      </p:sp>
      <p:sp>
        <p:nvSpPr>
          <p:cNvPr id="15" name="Rectangle 14"/>
          <p:cNvSpPr/>
          <p:nvPr/>
        </p:nvSpPr>
        <p:spPr>
          <a:xfrm>
            <a:off x="5349240" y="1600200"/>
            <a:ext cx="86868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94960" y="1636776"/>
            <a:ext cx="777240" cy="310896"/>
          </a:xfrm>
          <a:prstGeom prst="rect">
            <a:avLst/>
          </a:prstGeom>
          <a:noFill/>
        </p:spPr>
        <p:txBody>
          <a:bodyPr wrap="square">
            <a:spAutoFit/>
          </a:bodyPr>
          <a:lstStyle/>
          <a:p>
            <a:pPr algn="ctr"/>
            <a:r>
              <a:rPr sz="1100" b="1" i="0">
                <a:solidFill>
                  <a:srgbClr val="FFD700"/>
                </a:solidFill>
              </a:rPr>
              <a:t>Couleur fil</a:t>
            </a:r>
          </a:p>
        </p:txBody>
      </p:sp>
      <p:sp>
        <p:nvSpPr>
          <p:cNvPr id="17" name="Rectangle 16"/>
          <p:cNvSpPr/>
          <p:nvPr/>
        </p:nvSpPr>
        <p:spPr>
          <a:xfrm>
            <a:off x="182880" y="1911096"/>
            <a:ext cx="2286000" cy="310896"/>
          </a:xfrm>
          <a:prstGeom prst="rect">
            <a:avLst/>
          </a:prstGeom>
          <a:solidFill>
            <a:srgbClr val="00B050"/>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938528"/>
            <a:ext cx="2194560" cy="310896"/>
          </a:xfrm>
          <a:prstGeom prst="rect">
            <a:avLst/>
          </a:prstGeom>
          <a:noFill/>
        </p:spPr>
        <p:txBody>
          <a:bodyPr wrap="square">
            <a:spAutoFit/>
          </a:bodyPr>
          <a:lstStyle/>
          <a:p>
            <a:pPr algn="l"/>
            <a:r>
              <a:rPr sz="1100" b="0" i="0">
                <a:solidFill>
                  <a:srgbClr val="FFFFFF"/>
                </a:solidFill>
              </a:rPr>
              <a:t>MOTOR_LEFT_PWM</a:t>
            </a:r>
          </a:p>
        </p:txBody>
      </p:sp>
      <p:sp>
        <p:nvSpPr>
          <p:cNvPr id="19" name="Rectangle 18"/>
          <p:cNvSpPr/>
          <p:nvPr/>
        </p:nvSpPr>
        <p:spPr>
          <a:xfrm>
            <a:off x="2468880" y="1911096"/>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14600" y="1938528"/>
            <a:ext cx="731520" cy="310896"/>
          </a:xfrm>
          <a:prstGeom prst="rect">
            <a:avLst/>
          </a:prstGeom>
          <a:noFill/>
        </p:spPr>
        <p:txBody>
          <a:bodyPr wrap="square">
            <a:spAutoFit/>
          </a:bodyPr>
          <a:lstStyle/>
          <a:p>
            <a:pPr algn="l"/>
            <a:r>
              <a:rPr sz="1100" b="0" i="0">
                <a:solidFill>
                  <a:srgbClr val="FFFFFF"/>
                </a:solidFill>
              </a:rPr>
              <a:t>PC1</a:t>
            </a:r>
          </a:p>
        </p:txBody>
      </p:sp>
      <p:sp>
        <p:nvSpPr>
          <p:cNvPr id="21" name="Rectangle 20"/>
          <p:cNvSpPr/>
          <p:nvPr/>
        </p:nvSpPr>
        <p:spPr>
          <a:xfrm>
            <a:off x="3291840" y="1911096"/>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37560" y="1938528"/>
            <a:ext cx="914400" cy="310896"/>
          </a:xfrm>
          <a:prstGeom prst="rect">
            <a:avLst/>
          </a:prstGeom>
          <a:noFill/>
        </p:spPr>
        <p:txBody>
          <a:bodyPr wrap="square">
            <a:spAutoFit/>
          </a:bodyPr>
          <a:lstStyle/>
          <a:p>
            <a:pPr algn="l"/>
            <a:r>
              <a:rPr sz="1100" b="0" i="0">
                <a:solidFill>
                  <a:srgbClr val="FFFFFF"/>
                </a:solidFill>
              </a:rPr>
              <a:t>Arduino A3</a:t>
            </a:r>
          </a:p>
        </p:txBody>
      </p:sp>
      <p:sp>
        <p:nvSpPr>
          <p:cNvPr id="23" name="Rectangle 22"/>
          <p:cNvSpPr/>
          <p:nvPr/>
        </p:nvSpPr>
        <p:spPr>
          <a:xfrm>
            <a:off x="4297680" y="1911096"/>
            <a:ext cx="10515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400" y="1938528"/>
            <a:ext cx="960120" cy="310896"/>
          </a:xfrm>
          <a:prstGeom prst="rect">
            <a:avLst/>
          </a:prstGeom>
          <a:noFill/>
        </p:spPr>
        <p:txBody>
          <a:bodyPr wrap="square">
            <a:spAutoFit/>
          </a:bodyPr>
          <a:lstStyle/>
          <a:p>
            <a:pPr algn="l"/>
            <a:r>
              <a:rPr sz="1100" b="0" i="0">
                <a:solidFill>
                  <a:srgbClr val="FFFFFF"/>
                </a:solidFill>
              </a:rPr>
              <a:t>LPTIM1_OUT</a:t>
            </a:r>
          </a:p>
        </p:txBody>
      </p:sp>
      <p:sp>
        <p:nvSpPr>
          <p:cNvPr id="25" name="Rectangle 24"/>
          <p:cNvSpPr/>
          <p:nvPr/>
        </p:nvSpPr>
        <p:spPr>
          <a:xfrm>
            <a:off x="5349240" y="1911096"/>
            <a:ext cx="8686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94960" y="1938528"/>
            <a:ext cx="777240" cy="310896"/>
          </a:xfrm>
          <a:prstGeom prst="rect">
            <a:avLst/>
          </a:prstGeom>
          <a:noFill/>
        </p:spPr>
        <p:txBody>
          <a:bodyPr wrap="square">
            <a:spAutoFit/>
          </a:bodyPr>
          <a:lstStyle/>
          <a:p>
            <a:pPr algn="l"/>
            <a:r>
              <a:rPr sz="1100" b="0" i="0">
                <a:solidFill>
                  <a:srgbClr val="AA55FF"/>
                </a:solidFill>
              </a:rPr>
              <a:t>Violet</a:t>
            </a:r>
          </a:p>
        </p:txBody>
      </p:sp>
      <p:sp>
        <p:nvSpPr>
          <p:cNvPr id="27" name="Rectangle 26"/>
          <p:cNvSpPr/>
          <p:nvPr/>
        </p:nvSpPr>
        <p:spPr>
          <a:xfrm>
            <a:off x="182880" y="2221992"/>
            <a:ext cx="2286000" cy="310896"/>
          </a:xfrm>
          <a:prstGeom prst="rect">
            <a:avLst/>
          </a:prstGeom>
          <a:solidFill>
            <a:srgbClr val="00B050"/>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8600" y="2249424"/>
            <a:ext cx="2194560" cy="310896"/>
          </a:xfrm>
          <a:prstGeom prst="rect">
            <a:avLst/>
          </a:prstGeom>
          <a:noFill/>
        </p:spPr>
        <p:txBody>
          <a:bodyPr wrap="square">
            <a:spAutoFit/>
          </a:bodyPr>
          <a:lstStyle/>
          <a:p>
            <a:pPr algn="l"/>
            <a:r>
              <a:rPr sz="1100" b="0" i="0">
                <a:solidFill>
                  <a:srgbClr val="FFFFFF"/>
                </a:solidFill>
              </a:rPr>
              <a:t>MOTOR_LEFT_DIR</a:t>
            </a:r>
          </a:p>
        </p:txBody>
      </p:sp>
      <p:sp>
        <p:nvSpPr>
          <p:cNvPr id="29" name="Rectangle 28"/>
          <p:cNvSpPr/>
          <p:nvPr/>
        </p:nvSpPr>
        <p:spPr>
          <a:xfrm>
            <a:off x="2468880" y="2221992"/>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4600" y="2249424"/>
            <a:ext cx="731520" cy="310896"/>
          </a:xfrm>
          <a:prstGeom prst="rect">
            <a:avLst/>
          </a:prstGeom>
          <a:noFill/>
        </p:spPr>
        <p:txBody>
          <a:bodyPr wrap="square">
            <a:spAutoFit/>
          </a:bodyPr>
          <a:lstStyle/>
          <a:p>
            <a:pPr algn="l"/>
            <a:r>
              <a:rPr sz="1100" b="0" i="0">
                <a:solidFill>
                  <a:srgbClr val="FFFFFF"/>
                </a:solidFill>
              </a:rPr>
              <a:t>PD12</a:t>
            </a:r>
          </a:p>
        </p:txBody>
      </p:sp>
      <p:sp>
        <p:nvSpPr>
          <p:cNvPr id="31" name="Rectangle 30"/>
          <p:cNvSpPr/>
          <p:nvPr/>
        </p:nvSpPr>
        <p:spPr>
          <a:xfrm>
            <a:off x="3291840" y="2221992"/>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337560" y="2249424"/>
            <a:ext cx="914400" cy="310896"/>
          </a:xfrm>
          <a:prstGeom prst="rect">
            <a:avLst/>
          </a:prstGeom>
          <a:noFill/>
        </p:spPr>
        <p:txBody>
          <a:bodyPr wrap="square">
            <a:spAutoFit/>
          </a:bodyPr>
          <a:lstStyle/>
          <a:p>
            <a:pPr algn="l"/>
            <a:r>
              <a:rPr sz="1100" b="0" i="0">
                <a:solidFill>
                  <a:srgbClr val="FFFFFF"/>
                </a:solidFill>
              </a:rPr>
              <a:t>Arduino D2</a:t>
            </a:r>
          </a:p>
        </p:txBody>
      </p:sp>
      <p:sp>
        <p:nvSpPr>
          <p:cNvPr id="33" name="Rectangle 32"/>
          <p:cNvSpPr/>
          <p:nvPr/>
        </p:nvSpPr>
        <p:spPr>
          <a:xfrm>
            <a:off x="4297680" y="2221992"/>
            <a:ext cx="10515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43400" y="2249424"/>
            <a:ext cx="960120" cy="310896"/>
          </a:xfrm>
          <a:prstGeom prst="rect">
            <a:avLst/>
          </a:prstGeom>
          <a:noFill/>
        </p:spPr>
        <p:txBody>
          <a:bodyPr wrap="square">
            <a:spAutoFit/>
          </a:bodyPr>
          <a:lstStyle/>
          <a:p>
            <a:pPr algn="l"/>
            <a:r>
              <a:rPr sz="1100" b="0" i="0">
                <a:solidFill>
                  <a:srgbClr val="FFFFFF"/>
                </a:solidFill>
              </a:rPr>
              <a:t>GPIO out</a:t>
            </a:r>
          </a:p>
        </p:txBody>
      </p:sp>
      <p:sp>
        <p:nvSpPr>
          <p:cNvPr id="35" name="Rectangle 34"/>
          <p:cNvSpPr/>
          <p:nvPr/>
        </p:nvSpPr>
        <p:spPr>
          <a:xfrm>
            <a:off x="5349240" y="2221992"/>
            <a:ext cx="8686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94960" y="2249424"/>
            <a:ext cx="777240" cy="310896"/>
          </a:xfrm>
          <a:prstGeom prst="rect">
            <a:avLst/>
          </a:prstGeom>
          <a:noFill/>
        </p:spPr>
        <p:txBody>
          <a:bodyPr wrap="square">
            <a:spAutoFit/>
          </a:bodyPr>
          <a:lstStyle/>
          <a:p>
            <a:pPr algn="l"/>
            <a:r>
              <a:rPr sz="1100" b="0" i="0">
                <a:solidFill>
                  <a:srgbClr val="AAAAAA"/>
                </a:solidFill>
              </a:rPr>
              <a:t>Gris</a:t>
            </a:r>
          </a:p>
        </p:txBody>
      </p:sp>
      <p:sp>
        <p:nvSpPr>
          <p:cNvPr id="37" name="Rectangle 36"/>
          <p:cNvSpPr/>
          <p:nvPr/>
        </p:nvSpPr>
        <p:spPr>
          <a:xfrm>
            <a:off x="182880" y="2532888"/>
            <a:ext cx="22860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28600" y="2560320"/>
            <a:ext cx="2194560" cy="310896"/>
          </a:xfrm>
          <a:prstGeom prst="rect">
            <a:avLst/>
          </a:prstGeom>
          <a:noFill/>
        </p:spPr>
        <p:txBody>
          <a:bodyPr wrap="square">
            <a:spAutoFit/>
          </a:bodyPr>
          <a:lstStyle/>
          <a:p>
            <a:pPr algn="l"/>
            <a:r>
              <a:rPr sz="1100" b="0" i="0">
                <a:solidFill>
                  <a:srgbClr val="FFFFFF"/>
                </a:solidFill>
              </a:rPr>
              <a:t>MOTOR_LEFT_BRAKE</a:t>
            </a:r>
          </a:p>
        </p:txBody>
      </p:sp>
      <p:sp>
        <p:nvSpPr>
          <p:cNvPr id="39" name="Rectangle 38"/>
          <p:cNvSpPr/>
          <p:nvPr/>
        </p:nvSpPr>
        <p:spPr>
          <a:xfrm>
            <a:off x="2468880" y="2532888"/>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4600" y="2560320"/>
            <a:ext cx="731520" cy="310896"/>
          </a:xfrm>
          <a:prstGeom prst="rect">
            <a:avLst/>
          </a:prstGeom>
          <a:noFill/>
        </p:spPr>
        <p:txBody>
          <a:bodyPr wrap="square">
            <a:spAutoFit/>
          </a:bodyPr>
          <a:lstStyle/>
          <a:p>
            <a:pPr algn="l"/>
            <a:r>
              <a:rPr sz="1100" b="0" i="0">
                <a:solidFill>
                  <a:srgbClr val="FFFFFF"/>
                </a:solidFill>
              </a:rPr>
              <a:t>PD13</a:t>
            </a:r>
          </a:p>
        </p:txBody>
      </p:sp>
      <p:sp>
        <p:nvSpPr>
          <p:cNvPr id="41" name="Rectangle 40"/>
          <p:cNvSpPr/>
          <p:nvPr/>
        </p:nvSpPr>
        <p:spPr>
          <a:xfrm>
            <a:off x="3291840" y="2532888"/>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337560" y="2560320"/>
            <a:ext cx="914400" cy="310896"/>
          </a:xfrm>
          <a:prstGeom prst="rect">
            <a:avLst/>
          </a:prstGeom>
          <a:noFill/>
        </p:spPr>
        <p:txBody>
          <a:bodyPr wrap="square">
            <a:spAutoFit/>
          </a:bodyPr>
          <a:lstStyle/>
          <a:p>
            <a:pPr algn="l"/>
            <a:r>
              <a:rPr sz="1100" b="0" i="0">
                <a:solidFill>
                  <a:srgbClr val="FFFFFF"/>
                </a:solidFill>
              </a:rPr>
              <a:t>Arduino D8</a:t>
            </a:r>
          </a:p>
        </p:txBody>
      </p:sp>
      <p:sp>
        <p:nvSpPr>
          <p:cNvPr id="43" name="Rectangle 42"/>
          <p:cNvSpPr/>
          <p:nvPr/>
        </p:nvSpPr>
        <p:spPr>
          <a:xfrm>
            <a:off x="4297680" y="2532888"/>
            <a:ext cx="10515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343400" y="2560320"/>
            <a:ext cx="960120" cy="310896"/>
          </a:xfrm>
          <a:prstGeom prst="rect">
            <a:avLst/>
          </a:prstGeom>
          <a:noFill/>
        </p:spPr>
        <p:txBody>
          <a:bodyPr wrap="square">
            <a:spAutoFit/>
          </a:bodyPr>
          <a:lstStyle/>
          <a:p>
            <a:pPr algn="l"/>
            <a:r>
              <a:rPr sz="1100" b="0" i="0">
                <a:solidFill>
                  <a:srgbClr val="FFFFFF"/>
                </a:solidFill>
              </a:rPr>
              <a:t>GPIO out</a:t>
            </a:r>
          </a:p>
        </p:txBody>
      </p:sp>
      <p:sp>
        <p:nvSpPr>
          <p:cNvPr id="45" name="Rectangle 44"/>
          <p:cNvSpPr/>
          <p:nvPr/>
        </p:nvSpPr>
        <p:spPr>
          <a:xfrm>
            <a:off x="5349240" y="2532888"/>
            <a:ext cx="8686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394960" y="2560320"/>
            <a:ext cx="777240" cy="310896"/>
          </a:xfrm>
          <a:prstGeom prst="rect">
            <a:avLst/>
          </a:prstGeom>
          <a:noFill/>
        </p:spPr>
        <p:txBody>
          <a:bodyPr wrap="square">
            <a:spAutoFit/>
          </a:bodyPr>
          <a:lstStyle/>
          <a:p>
            <a:pPr algn="l"/>
            <a:r>
              <a:rPr sz="1100" b="0" i="0">
                <a:solidFill>
                  <a:srgbClr val="00BFFF"/>
                </a:solidFill>
              </a:rPr>
              <a:t>Bleu</a:t>
            </a:r>
          </a:p>
        </p:txBody>
      </p:sp>
      <p:sp>
        <p:nvSpPr>
          <p:cNvPr id="47" name="Rectangle 46"/>
          <p:cNvSpPr/>
          <p:nvPr/>
        </p:nvSpPr>
        <p:spPr>
          <a:xfrm>
            <a:off x="182880" y="2843784"/>
            <a:ext cx="22860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28600" y="2871216"/>
            <a:ext cx="2194560" cy="310896"/>
          </a:xfrm>
          <a:prstGeom prst="rect">
            <a:avLst/>
          </a:prstGeom>
          <a:noFill/>
        </p:spPr>
        <p:txBody>
          <a:bodyPr wrap="square">
            <a:spAutoFit/>
          </a:bodyPr>
          <a:lstStyle/>
          <a:p>
            <a:pPr algn="l"/>
            <a:r>
              <a:rPr sz="1100" b="0" i="0">
                <a:solidFill>
                  <a:srgbClr val="FFFFFF"/>
                </a:solidFill>
              </a:rPr>
              <a:t>MOTOR_RIGHT_PWM</a:t>
            </a:r>
          </a:p>
        </p:txBody>
      </p:sp>
      <p:sp>
        <p:nvSpPr>
          <p:cNvPr id="49" name="Rectangle 48"/>
          <p:cNvSpPr/>
          <p:nvPr/>
        </p:nvSpPr>
        <p:spPr>
          <a:xfrm>
            <a:off x="2468880" y="2843784"/>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514600" y="2871216"/>
            <a:ext cx="731520" cy="310896"/>
          </a:xfrm>
          <a:prstGeom prst="rect">
            <a:avLst/>
          </a:prstGeom>
          <a:noFill/>
        </p:spPr>
        <p:txBody>
          <a:bodyPr wrap="square">
            <a:spAutoFit/>
          </a:bodyPr>
          <a:lstStyle/>
          <a:p>
            <a:pPr algn="l"/>
            <a:r>
              <a:rPr sz="1100" b="0" i="0">
                <a:solidFill>
                  <a:srgbClr val="FFFFFF"/>
                </a:solidFill>
              </a:rPr>
              <a:t>PE0</a:t>
            </a:r>
          </a:p>
        </p:txBody>
      </p:sp>
      <p:sp>
        <p:nvSpPr>
          <p:cNvPr id="51" name="Rectangle 50"/>
          <p:cNvSpPr/>
          <p:nvPr/>
        </p:nvSpPr>
        <p:spPr>
          <a:xfrm>
            <a:off x="3291840" y="2843784"/>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337560" y="2871216"/>
            <a:ext cx="914400" cy="310896"/>
          </a:xfrm>
          <a:prstGeom prst="rect">
            <a:avLst/>
          </a:prstGeom>
          <a:noFill/>
        </p:spPr>
        <p:txBody>
          <a:bodyPr wrap="square">
            <a:spAutoFit/>
          </a:bodyPr>
          <a:lstStyle/>
          <a:p>
            <a:pPr algn="l"/>
            <a:r>
              <a:rPr sz="1100" b="0" i="0">
                <a:solidFill>
                  <a:srgbClr val="FFFFFF"/>
                </a:solidFill>
              </a:rPr>
              <a:t>Arduino D6</a:t>
            </a:r>
          </a:p>
        </p:txBody>
      </p:sp>
      <p:sp>
        <p:nvSpPr>
          <p:cNvPr id="53" name="Rectangle 52"/>
          <p:cNvSpPr/>
          <p:nvPr/>
        </p:nvSpPr>
        <p:spPr>
          <a:xfrm>
            <a:off x="4297680" y="2843784"/>
            <a:ext cx="10515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343400" y="2871216"/>
            <a:ext cx="960120" cy="310896"/>
          </a:xfrm>
          <a:prstGeom prst="rect">
            <a:avLst/>
          </a:prstGeom>
          <a:noFill/>
        </p:spPr>
        <p:txBody>
          <a:bodyPr wrap="square">
            <a:spAutoFit/>
          </a:bodyPr>
          <a:lstStyle/>
          <a:p>
            <a:pPr algn="l"/>
            <a:r>
              <a:rPr sz="1100" b="0" i="0">
                <a:solidFill>
                  <a:srgbClr val="FFFFFF"/>
                </a:solidFill>
              </a:rPr>
              <a:t>TIM16_CH1</a:t>
            </a:r>
          </a:p>
        </p:txBody>
      </p:sp>
      <p:sp>
        <p:nvSpPr>
          <p:cNvPr id="55" name="Rectangle 54"/>
          <p:cNvSpPr/>
          <p:nvPr/>
        </p:nvSpPr>
        <p:spPr>
          <a:xfrm>
            <a:off x="5349240" y="2843784"/>
            <a:ext cx="8686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394960" y="2871216"/>
            <a:ext cx="777240" cy="310896"/>
          </a:xfrm>
          <a:prstGeom prst="rect">
            <a:avLst/>
          </a:prstGeom>
          <a:noFill/>
        </p:spPr>
        <p:txBody>
          <a:bodyPr wrap="square">
            <a:spAutoFit/>
          </a:bodyPr>
          <a:lstStyle/>
          <a:p>
            <a:pPr algn="l"/>
            <a:r>
              <a:rPr sz="1100" b="0" i="0">
                <a:solidFill>
                  <a:srgbClr val="AA55FF"/>
                </a:solidFill>
              </a:rPr>
              <a:t>Violet</a:t>
            </a:r>
          </a:p>
        </p:txBody>
      </p:sp>
      <p:sp>
        <p:nvSpPr>
          <p:cNvPr id="57" name="Rectangle 56"/>
          <p:cNvSpPr/>
          <p:nvPr/>
        </p:nvSpPr>
        <p:spPr>
          <a:xfrm>
            <a:off x="182880" y="3154680"/>
            <a:ext cx="22860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28600" y="3182112"/>
            <a:ext cx="2194560" cy="310896"/>
          </a:xfrm>
          <a:prstGeom prst="rect">
            <a:avLst/>
          </a:prstGeom>
          <a:noFill/>
        </p:spPr>
        <p:txBody>
          <a:bodyPr wrap="square">
            <a:spAutoFit/>
          </a:bodyPr>
          <a:lstStyle/>
          <a:p>
            <a:pPr algn="l"/>
            <a:r>
              <a:rPr sz="1100" b="0" i="0">
                <a:solidFill>
                  <a:srgbClr val="FFFFFF"/>
                </a:solidFill>
              </a:rPr>
              <a:t>MOTOR_RIGHT_DIR</a:t>
            </a:r>
          </a:p>
        </p:txBody>
      </p:sp>
      <p:sp>
        <p:nvSpPr>
          <p:cNvPr id="59" name="Rectangle 58"/>
          <p:cNvSpPr/>
          <p:nvPr/>
        </p:nvSpPr>
        <p:spPr>
          <a:xfrm>
            <a:off x="2468880" y="3154680"/>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514600" y="3182112"/>
            <a:ext cx="731520" cy="310896"/>
          </a:xfrm>
          <a:prstGeom prst="rect">
            <a:avLst/>
          </a:prstGeom>
          <a:noFill/>
        </p:spPr>
        <p:txBody>
          <a:bodyPr wrap="square">
            <a:spAutoFit/>
          </a:bodyPr>
          <a:lstStyle/>
          <a:p>
            <a:pPr algn="l"/>
            <a:r>
              <a:rPr sz="1100" b="0" i="0">
                <a:solidFill>
                  <a:srgbClr val="FFFFFF"/>
                </a:solidFill>
              </a:rPr>
              <a:t>PE3</a:t>
            </a:r>
          </a:p>
        </p:txBody>
      </p:sp>
      <p:sp>
        <p:nvSpPr>
          <p:cNvPr id="61" name="Rectangle 60"/>
          <p:cNvSpPr/>
          <p:nvPr/>
        </p:nvSpPr>
        <p:spPr>
          <a:xfrm>
            <a:off x="3291840" y="3154680"/>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337560" y="3182112"/>
            <a:ext cx="914400" cy="310896"/>
          </a:xfrm>
          <a:prstGeom prst="rect">
            <a:avLst/>
          </a:prstGeom>
          <a:noFill/>
        </p:spPr>
        <p:txBody>
          <a:bodyPr wrap="square">
            <a:spAutoFit/>
          </a:bodyPr>
          <a:lstStyle/>
          <a:p>
            <a:pPr algn="l"/>
            <a:r>
              <a:rPr sz="1100" b="0" i="0">
                <a:solidFill>
                  <a:srgbClr val="FFFFFF"/>
                </a:solidFill>
              </a:rPr>
              <a:t>Arduino D4</a:t>
            </a:r>
          </a:p>
        </p:txBody>
      </p:sp>
      <p:sp>
        <p:nvSpPr>
          <p:cNvPr id="63" name="Rectangle 62"/>
          <p:cNvSpPr/>
          <p:nvPr/>
        </p:nvSpPr>
        <p:spPr>
          <a:xfrm>
            <a:off x="4297680" y="3154680"/>
            <a:ext cx="10515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43400" y="3182112"/>
            <a:ext cx="960120" cy="310896"/>
          </a:xfrm>
          <a:prstGeom prst="rect">
            <a:avLst/>
          </a:prstGeom>
          <a:noFill/>
        </p:spPr>
        <p:txBody>
          <a:bodyPr wrap="square">
            <a:spAutoFit/>
          </a:bodyPr>
          <a:lstStyle/>
          <a:p>
            <a:pPr algn="l"/>
            <a:r>
              <a:rPr sz="1100" b="0" i="0">
                <a:solidFill>
                  <a:srgbClr val="FFFFFF"/>
                </a:solidFill>
              </a:rPr>
              <a:t>GPIO out</a:t>
            </a:r>
          </a:p>
        </p:txBody>
      </p:sp>
      <p:sp>
        <p:nvSpPr>
          <p:cNvPr id="65" name="Rectangle 64"/>
          <p:cNvSpPr/>
          <p:nvPr/>
        </p:nvSpPr>
        <p:spPr>
          <a:xfrm>
            <a:off x="5349240" y="3154680"/>
            <a:ext cx="8686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394960" y="3182112"/>
            <a:ext cx="777240" cy="310896"/>
          </a:xfrm>
          <a:prstGeom prst="rect">
            <a:avLst/>
          </a:prstGeom>
          <a:noFill/>
        </p:spPr>
        <p:txBody>
          <a:bodyPr wrap="square">
            <a:spAutoFit/>
          </a:bodyPr>
          <a:lstStyle/>
          <a:p>
            <a:pPr algn="l"/>
            <a:r>
              <a:rPr sz="1100" b="0" i="0">
                <a:solidFill>
                  <a:srgbClr val="AAAAAA"/>
                </a:solidFill>
              </a:rPr>
              <a:t>Gris</a:t>
            </a:r>
          </a:p>
        </p:txBody>
      </p:sp>
      <p:sp>
        <p:nvSpPr>
          <p:cNvPr id="67" name="Rectangle 66"/>
          <p:cNvSpPr/>
          <p:nvPr/>
        </p:nvSpPr>
        <p:spPr>
          <a:xfrm>
            <a:off x="182880" y="3465576"/>
            <a:ext cx="22860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28600" y="3493008"/>
            <a:ext cx="2194560" cy="310896"/>
          </a:xfrm>
          <a:prstGeom prst="rect">
            <a:avLst/>
          </a:prstGeom>
          <a:noFill/>
        </p:spPr>
        <p:txBody>
          <a:bodyPr wrap="square">
            <a:spAutoFit/>
          </a:bodyPr>
          <a:lstStyle/>
          <a:p>
            <a:pPr algn="l"/>
            <a:r>
              <a:rPr sz="1100" b="0" i="0">
                <a:solidFill>
                  <a:srgbClr val="FFFFFF"/>
                </a:solidFill>
              </a:rPr>
              <a:t>MOTOR_RIGHT_BRAKE</a:t>
            </a:r>
          </a:p>
        </p:txBody>
      </p:sp>
      <p:sp>
        <p:nvSpPr>
          <p:cNvPr id="69" name="Rectangle 68"/>
          <p:cNvSpPr/>
          <p:nvPr/>
        </p:nvSpPr>
        <p:spPr>
          <a:xfrm>
            <a:off x="2468880" y="3465576"/>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514600" y="3493008"/>
            <a:ext cx="731520" cy="310896"/>
          </a:xfrm>
          <a:prstGeom prst="rect">
            <a:avLst/>
          </a:prstGeom>
          <a:noFill/>
        </p:spPr>
        <p:txBody>
          <a:bodyPr wrap="square">
            <a:spAutoFit/>
          </a:bodyPr>
          <a:lstStyle/>
          <a:p>
            <a:pPr algn="l"/>
            <a:r>
              <a:rPr sz="1100" b="0" i="0">
                <a:solidFill>
                  <a:srgbClr val="FFFFFF"/>
                </a:solidFill>
              </a:rPr>
              <a:t>PB2</a:t>
            </a:r>
          </a:p>
        </p:txBody>
      </p:sp>
      <p:sp>
        <p:nvSpPr>
          <p:cNvPr id="71" name="Rectangle 70"/>
          <p:cNvSpPr/>
          <p:nvPr/>
        </p:nvSpPr>
        <p:spPr>
          <a:xfrm>
            <a:off x="3291840" y="3465576"/>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337560" y="3493008"/>
            <a:ext cx="914400" cy="310896"/>
          </a:xfrm>
          <a:prstGeom prst="rect">
            <a:avLst/>
          </a:prstGeom>
          <a:noFill/>
        </p:spPr>
        <p:txBody>
          <a:bodyPr wrap="square">
            <a:spAutoFit/>
          </a:bodyPr>
          <a:lstStyle/>
          <a:p>
            <a:pPr algn="l"/>
            <a:r>
              <a:rPr sz="1100" b="0" i="0">
                <a:solidFill>
                  <a:srgbClr val="FFFFFF"/>
                </a:solidFill>
              </a:rPr>
              <a:t>Arduino D7</a:t>
            </a:r>
          </a:p>
        </p:txBody>
      </p:sp>
      <p:sp>
        <p:nvSpPr>
          <p:cNvPr id="73" name="Rectangle 72"/>
          <p:cNvSpPr/>
          <p:nvPr/>
        </p:nvSpPr>
        <p:spPr>
          <a:xfrm>
            <a:off x="4297680" y="3465576"/>
            <a:ext cx="10515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343400" y="3493008"/>
            <a:ext cx="960120" cy="310896"/>
          </a:xfrm>
          <a:prstGeom prst="rect">
            <a:avLst/>
          </a:prstGeom>
          <a:noFill/>
        </p:spPr>
        <p:txBody>
          <a:bodyPr wrap="square">
            <a:spAutoFit/>
          </a:bodyPr>
          <a:lstStyle/>
          <a:p>
            <a:pPr algn="l"/>
            <a:r>
              <a:rPr sz="1100" b="0" i="0">
                <a:solidFill>
                  <a:srgbClr val="FFFFFF"/>
                </a:solidFill>
              </a:rPr>
              <a:t>GPIO out</a:t>
            </a:r>
          </a:p>
        </p:txBody>
      </p:sp>
      <p:sp>
        <p:nvSpPr>
          <p:cNvPr id="75" name="Rectangle 74"/>
          <p:cNvSpPr/>
          <p:nvPr/>
        </p:nvSpPr>
        <p:spPr>
          <a:xfrm>
            <a:off x="5349240" y="3465576"/>
            <a:ext cx="8686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394960" y="3493008"/>
            <a:ext cx="777240" cy="310896"/>
          </a:xfrm>
          <a:prstGeom prst="rect">
            <a:avLst/>
          </a:prstGeom>
          <a:noFill/>
        </p:spPr>
        <p:txBody>
          <a:bodyPr wrap="square">
            <a:spAutoFit/>
          </a:bodyPr>
          <a:lstStyle/>
          <a:p>
            <a:pPr algn="l"/>
            <a:r>
              <a:rPr sz="1100" b="0" i="0">
                <a:solidFill>
                  <a:srgbClr val="00BFFF"/>
                </a:solidFill>
              </a:rPr>
              <a:t>Bleu</a:t>
            </a:r>
          </a:p>
        </p:txBody>
      </p:sp>
      <p:sp>
        <p:nvSpPr>
          <p:cNvPr id="77" name="Rectangle 76"/>
          <p:cNvSpPr/>
          <p:nvPr/>
        </p:nvSpPr>
        <p:spPr>
          <a:xfrm>
            <a:off x="6126480" y="1234440"/>
            <a:ext cx="576072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199632" y="1252728"/>
            <a:ext cx="5669280" cy="347472"/>
          </a:xfrm>
          <a:prstGeom prst="rect">
            <a:avLst/>
          </a:prstGeom>
          <a:noFill/>
        </p:spPr>
        <p:txBody>
          <a:bodyPr wrap="square">
            <a:spAutoFit/>
          </a:bodyPr>
          <a:lstStyle/>
          <a:p>
            <a:pPr algn="l"/>
            <a:r>
              <a:rPr sz="1400" b="1" i="0">
                <a:solidFill>
                  <a:srgbClr val="FFD700"/>
                </a:solidFill>
              </a:rPr>
              <a:t>Entrées MB1292B ← Motor Shield / Encodeurs</a:t>
            </a:r>
          </a:p>
        </p:txBody>
      </p:sp>
      <p:sp>
        <p:nvSpPr>
          <p:cNvPr id="79" name="Rectangle 78"/>
          <p:cNvSpPr/>
          <p:nvPr/>
        </p:nvSpPr>
        <p:spPr>
          <a:xfrm>
            <a:off x="6126480" y="1600200"/>
            <a:ext cx="210312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172200" y="1636776"/>
            <a:ext cx="2011680" cy="310896"/>
          </a:xfrm>
          <a:prstGeom prst="rect">
            <a:avLst/>
          </a:prstGeom>
          <a:noFill/>
        </p:spPr>
        <p:txBody>
          <a:bodyPr wrap="square">
            <a:spAutoFit/>
          </a:bodyPr>
          <a:lstStyle/>
          <a:p>
            <a:pPr algn="ctr"/>
            <a:r>
              <a:rPr sz="1100" b="1" i="0">
                <a:solidFill>
                  <a:srgbClr val="FFD700"/>
                </a:solidFill>
              </a:rPr>
              <a:t>Signal</a:t>
            </a:r>
          </a:p>
        </p:txBody>
      </p:sp>
      <p:sp>
        <p:nvSpPr>
          <p:cNvPr id="81" name="Rectangle 80"/>
          <p:cNvSpPr/>
          <p:nvPr/>
        </p:nvSpPr>
        <p:spPr>
          <a:xfrm>
            <a:off x="8229600" y="1600200"/>
            <a:ext cx="82296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275320" y="1636776"/>
            <a:ext cx="731520" cy="310896"/>
          </a:xfrm>
          <a:prstGeom prst="rect">
            <a:avLst/>
          </a:prstGeom>
          <a:noFill/>
        </p:spPr>
        <p:txBody>
          <a:bodyPr wrap="square">
            <a:spAutoFit/>
          </a:bodyPr>
          <a:lstStyle/>
          <a:p>
            <a:pPr algn="ctr"/>
            <a:r>
              <a:rPr sz="1100" b="1" i="0">
                <a:solidFill>
                  <a:srgbClr val="FFD700"/>
                </a:solidFill>
              </a:rPr>
              <a:t>Pin STM32</a:t>
            </a:r>
          </a:p>
        </p:txBody>
      </p:sp>
      <p:sp>
        <p:nvSpPr>
          <p:cNvPr id="83" name="Rectangle 82"/>
          <p:cNvSpPr/>
          <p:nvPr/>
        </p:nvSpPr>
        <p:spPr>
          <a:xfrm>
            <a:off x="9052560" y="1600200"/>
            <a:ext cx="118872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098280" y="1636776"/>
            <a:ext cx="1097280" cy="310896"/>
          </a:xfrm>
          <a:prstGeom prst="rect">
            <a:avLst/>
          </a:prstGeom>
          <a:noFill/>
        </p:spPr>
        <p:txBody>
          <a:bodyPr wrap="square">
            <a:spAutoFit/>
          </a:bodyPr>
          <a:lstStyle/>
          <a:p>
            <a:pPr algn="ctr"/>
            <a:r>
              <a:rPr sz="1100" b="1" i="0">
                <a:solidFill>
                  <a:srgbClr val="FFD700"/>
                </a:solidFill>
              </a:rPr>
              <a:t>Connecteur</a:t>
            </a:r>
          </a:p>
        </p:txBody>
      </p:sp>
      <p:sp>
        <p:nvSpPr>
          <p:cNvPr id="85" name="Rectangle 84"/>
          <p:cNvSpPr/>
          <p:nvPr/>
        </p:nvSpPr>
        <p:spPr>
          <a:xfrm>
            <a:off x="10241280" y="1600200"/>
            <a:ext cx="100584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0287000" y="1636776"/>
            <a:ext cx="914400" cy="310896"/>
          </a:xfrm>
          <a:prstGeom prst="rect">
            <a:avLst/>
          </a:prstGeom>
          <a:noFill/>
        </p:spPr>
        <p:txBody>
          <a:bodyPr wrap="square">
            <a:spAutoFit/>
          </a:bodyPr>
          <a:lstStyle/>
          <a:p>
            <a:pPr algn="ctr"/>
            <a:r>
              <a:rPr sz="1100" b="1" i="0">
                <a:solidFill>
                  <a:srgbClr val="FFD700"/>
                </a:solidFill>
              </a:rPr>
              <a:t>Périph.</a:t>
            </a:r>
          </a:p>
        </p:txBody>
      </p:sp>
      <p:sp>
        <p:nvSpPr>
          <p:cNvPr id="87" name="Rectangle 86"/>
          <p:cNvSpPr/>
          <p:nvPr/>
        </p:nvSpPr>
        <p:spPr>
          <a:xfrm>
            <a:off x="11247120" y="1600200"/>
            <a:ext cx="73152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1292840" y="1636776"/>
            <a:ext cx="640080" cy="310896"/>
          </a:xfrm>
          <a:prstGeom prst="rect">
            <a:avLst/>
          </a:prstGeom>
          <a:noFill/>
        </p:spPr>
        <p:txBody>
          <a:bodyPr wrap="square">
            <a:spAutoFit/>
          </a:bodyPr>
          <a:lstStyle/>
          <a:p>
            <a:pPr algn="ctr"/>
            <a:r>
              <a:rPr sz="1100" b="1" i="0">
                <a:solidFill>
                  <a:srgbClr val="FFD700"/>
                </a:solidFill>
              </a:rPr>
              <a:t>Couleur</a:t>
            </a:r>
          </a:p>
        </p:txBody>
      </p:sp>
      <p:sp>
        <p:nvSpPr>
          <p:cNvPr id="89" name="Rectangle 88"/>
          <p:cNvSpPr/>
          <p:nvPr/>
        </p:nvSpPr>
        <p:spPr>
          <a:xfrm>
            <a:off x="6126480" y="1911096"/>
            <a:ext cx="210312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172200" y="1938528"/>
            <a:ext cx="2011680" cy="310896"/>
          </a:xfrm>
          <a:prstGeom prst="rect">
            <a:avLst/>
          </a:prstGeom>
          <a:noFill/>
        </p:spPr>
        <p:txBody>
          <a:bodyPr wrap="square">
            <a:spAutoFit/>
          </a:bodyPr>
          <a:lstStyle/>
          <a:p>
            <a:pPr algn="l"/>
            <a:r>
              <a:rPr sz="1100" b="0" i="0">
                <a:solidFill>
                  <a:srgbClr val="FFFFFF"/>
                </a:solidFill>
              </a:rPr>
              <a:t>MOTOR_LEFT_CURRENT</a:t>
            </a:r>
          </a:p>
        </p:txBody>
      </p:sp>
      <p:sp>
        <p:nvSpPr>
          <p:cNvPr id="91" name="Rectangle 90"/>
          <p:cNvSpPr/>
          <p:nvPr/>
        </p:nvSpPr>
        <p:spPr>
          <a:xfrm>
            <a:off x="8229600" y="1911096"/>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275320" y="1938528"/>
            <a:ext cx="731520" cy="310896"/>
          </a:xfrm>
          <a:prstGeom prst="rect">
            <a:avLst/>
          </a:prstGeom>
          <a:noFill/>
        </p:spPr>
        <p:txBody>
          <a:bodyPr wrap="square">
            <a:spAutoFit/>
          </a:bodyPr>
          <a:lstStyle/>
          <a:p>
            <a:pPr algn="l"/>
            <a:r>
              <a:rPr sz="1100" b="0" i="0">
                <a:solidFill>
                  <a:srgbClr val="FFFFFF"/>
                </a:solidFill>
              </a:rPr>
              <a:t>PA5</a:t>
            </a:r>
          </a:p>
        </p:txBody>
      </p:sp>
      <p:sp>
        <p:nvSpPr>
          <p:cNvPr id="93" name="Rectangle 92"/>
          <p:cNvSpPr/>
          <p:nvPr/>
        </p:nvSpPr>
        <p:spPr>
          <a:xfrm>
            <a:off x="9052560" y="1911096"/>
            <a:ext cx="118872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098280" y="1938528"/>
            <a:ext cx="1097280" cy="310896"/>
          </a:xfrm>
          <a:prstGeom prst="rect">
            <a:avLst/>
          </a:prstGeom>
          <a:noFill/>
        </p:spPr>
        <p:txBody>
          <a:bodyPr wrap="square">
            <a:spAutoFit/>
          </a:bodyPr>
          <a:lstStyle/>
          <a:p>
            <a:pPr algn="l"/>
            <a:r>
              <a:rPr sz="1100" b="0" i="0">
                <a:solidFill>
                  <a:srgbClr val="FFFFFF"/>
                </a:solidFill>
              </a:rPr>
              <a:t>Arduino A2</a:t>
            </a:r>
          </a:p>
        </p:txBody>
      </p:sp>
      <p:sp>
        <p:nvSpPr>
          <p:cNvPr id="95" name="Rectangle 94"/>
          <p:cNvSpPr/>
          <p:nvPr/>
        </p:nvSpPr>
        <p:spPr>
          <a:xfrm>
            <a:off x="10241280" y="1911096"/>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0287000" y="1938528"/>
            <a:ext cx="914400" cy="310896"/>
          </a:xfrm>
          <a:prstGeom prst="rect">
            <a:avLst/>
          </a:prstGeom>
          <a:noFill/>
        </p:spPr>
        <p:txBody>
          <a:bodyPr wrap="square">
            <a:spAutoFit/>
          </a:bodyPr>
          <a:lstStyle/>
          <a:p>
            <a:pPr algn="l"/>
            <a:r>
              <a:rPr sz="1100" b="0" i="0">
                <a:solidFill>
                  <a:srgbClr val="FFFFFF"/>
                </a:solidFill>
              </a:rPr>
              <a:t>ADC1_IN10</a:t>
            </a:r>
          </a:p>
        </p:txBody>
      </p:sp>
      <p:sp>
        <p:nvSpPr>
          <p:cNvPr id="97" name="Rectangle 96"/>
          <p:cNvSpPr/>
          <p:nvPr/>
        </p:nvSpPr>
        <p:spPr>
          <a:xfrm>
            <a:off x="11247120" y="1911096"/>
            <a:ext cx="73152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11292840" y="1938528"/>
            <a:ext cx="640080" cy="310896"/>
          </a:xfrm>
          <a:prstGeom prst="rect">
            <a:avLst/>
          </a:prstGeom>
          <a:noFill/>
        </p:spPr>
        <p:txBody>
          <a:bodyPr wrap="square">
            <a:spAutoFit/>
          </a:bodyPr>
          <a:lstStyle/>
          <a:p>
            <a:pPr algn="l"/>
            <a:r>
              <a:rPr sz="1100" b="0" i="0">
                <a:solidFill>
                  <a:srgbClr val="00DD88"/>
                </a:solidFill>
              </a:rPr>
              <a:t>Vert</a:t>
            </a:r>
          </a:p>
        </p:txBody>
      </p:sp>
      <p:sp>
        <p:nvSpPr>
          <p:cNvPr id="99" name="Rectangle 98"/>
          <p:cNvSpPr/>
          <p:nvPr/>
        </p:nvSpPr>
        <p:spPr>
          <a:xfrm>
            <a:off x="6126480" y="2221992"/>
            <a:ext cx="210312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6172200" y="2249424"/>
            <a:ext cx="2011680" cy="310896"/>
          </a:xfrm>
          <a:prstGeom prst="rect">
            <a:avLst/>
          </a:prstGeom>
          <a:noFill/>
        </p:spPr>
        <p:txBody>
          <a:bodyPr wrap="square">
            <a:spAutoFit/>
          </a:bodyPr>
          <a:lstStyle/>
          <a:p>
            <a:pPr algn="l"/>
            <a:r>
              <a:rPr sz="1100" b="0" i="0">
                <a:solidFill>
                  <a:srgbClr val="FFFFFF"/>
                </a:solidFill>
              </a:rPr>
              <a:t>MOTOR_RIGHT_CURRENT</a:t>
            </a:r>
          </a:p>
        </p:txBody>
      </p:sp>
      <p:sp>
        <p:nvSpPr>
          <p:cNvPr id="101" name="Rectangle 100"/>
          <p:cNvSpPr/>
          <p:nvPr/>
        </p:nvSpPr>
        <p:spPr>
          <a:xfrm>
            <a:off x="8229600" y="2221992"/>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8275320" y="2249424"/>
            <a:ext cx="731520" cy="310896"/>
          </a:xfrm>
          <a:prstGeom prst="rect">
            <a:avLst/>
          </a:prstGeom>
          <a:noFill/>
        </p:spPr>
        <p:txBody>
          <a:bodyPr wrap="square">
            <a:spAutoFit/>
          </a:bodyPr>
          <a:lstStyle/>
          <a:p>
            <a:pPr algn="l"/>
            <a:r>
              <a:rPr sz="1100" b="0" i="0">
                <a:solidFill>
                  <a:srgbClr val="FFFFFF"/>
                </a:solidFill>
              </a:rPr>
              <a:t>PC3</a:t>
            </a:r>
          </a:p>
        </p:txBody>
      </p:sp>
      <p:sp>
        <p:nvSpPr>
          <p:cNvPr id="103" name="Rectangle 102"/>
          <p:cNvSpPr/>
          <p:nvPr/>
        </p:nvSpPr>
        <p:spPr>
          <a:xfrm>
            <a:off x="9052560" y="2221992"/>
            <a:ext cx="118872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9098280" y="2249424"/>
            <a:ext cx="1097280" cy="310896"/>
          </a:xfrm>
          <a:prstGeom prst="rect">
            <a:avLst/>
          </a:prstGeom>
          <a:noFill/>
        </p:spPr>
        <p:txBody>
          <a:bodyPr wrap="square">
            <a:spAutoFit/>
          </a:bodyPr>
          <a:lstStyle/>
          <a:p>
            <a:pPr algn="l"/>
            <a:r>
              <a:rPr sz="1100" b="0" i="0">
                <a:solidFill>
                  <a:srgbClr val="FFFFFF"/>
                </a:solidFill>
              </a:rPr>
              <a:t>Arduino A0</a:t>
            </a:r>
          </a:p>
        </p:txBody>
      </p:sp>
      <p:sp>
        <p:nvSpPr>
          <p:cNvPr id="105" name="Rectangle 104"/>
          <p:cNvSpPr/>
          <p:nvPr/>
        </p:nvSpPr>
        <p:spPr>
          <a:xfrm>
            <a:off x="10241280" y="2221992"/>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10287000" y="2249424"/>
            <a:ext cx="914400" cy="310896"/>
          </a:xfrm>
          <a:prstGeom prst="rect">
            <a:avLst/>
          </a:prstGeom>
          <a:noFill/>
        </p:spPr>
        <p:txBody>
          <a:bodyPr wrap="square">
            <a:spAutoFit/>
          </a:bodyPr>
          <a:lstStyle/>
          <a:p>
            <a:pPr algn="l"/>
            <a:r>
              <a:rPr sz="1100" b="0" i="0">
                <a:solidFill>
                  <a:srgbClr val="FFFFFF"/>
                </a:solidFill>
              </a:rPr>
              <a:t>ADC1_IN4</a:t>
            </a:r>
          </a:p>
        </p:txBody>
      </p:sp>
      <p:sp>
        <p:nvSpPr>
          <p:cNvPr id="107" name="Rectangle 106"/>
          <p:cNvSpPr/>
          <p:nvPr/>
        </p:nvSpPr>
        <p:spPr>
          <a:xfrm>
            <a:off x="11247120" y="2221992"/>
            <a:ext cx="73152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11292840" y="2249424"/>
            <a:ext cx="640080" cy="310896"/>
          </a:xfrm>
          <a:prstGeom prst="rect">
            <a:avLst/>
          </a:prstGeom>
          <a:noFill/>
        </p:spPr>
        <p:txBody>
          <a:bodyPr wrap="square">
            <a:spAutoFit/>
          </a:bodyPr>
          <a:lstStyle/>
          <a:p>
            <a:pPr algn="l"/>
            <a:r>
              <a:rPr sz="1100" b="0" i="0">
                <a:solidFill>
                  <a:srgbClr val="00DD88"/>
                </a:solidFill>
              </a:rPr>
              <a:t>Vert</a:t>
            </a:r>
          </a:p>
        </p:txBody>
      </p:sp>
      <p:sp>
        <p:nvSpPr>
          <p:cNvPr id="109" name="Rectangle 108"/>
          <p:cNvSpPr/>
          <p:nvPr/>
        </p:nvSpPr>
        <p:spPr>
          <a:xfrm>
            <a:off x="6126480" y="2532888"/>
            <a:ext cx="210312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6172200" y="2560320"/>
            <a:ext cx="2011680" cy="310896"/>
          </a:xfrm>
          <a:prstGeom prst="rect">
            <a:avLst/>
          </a:prstGeom>
          <a:noFill/>
        </p:spPr>
        <p:txBody>
          <a:bodyPr wrap="square">
            <a:spAutoFit/>
          </a:bodyPr>
          <a:lstStyle/>
          <a:p>
            <a:pPr algn="l"/>
            <a:r>
              <a:rPr sz="1100" b="0" i="0">
                <a:solidFill>
                  <a:srgbClr val="FFFFFF"/>
                </a:solidFill>
              </a:rPr>
              <a:t>ENC_LEFT_CHA</a:t>
            </a:r>
          </a:p>
        </p:txBody>
      </p:sp>
      <p:sp>
        <p:nvSpPr>
          <p:cNvPr id="111" name="Rectangle 110"/>
          <p:cNvSpPr/>
          <p:nvPr/>
        </p:nvSpPr>
        <p:spPr>
          <a:xfrm>
            <a:off x="8229600" y="2532888"/>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8275320" y="2560320"/>
            <a:ext cx="731520" cy="310896"/>
          </a:xfrm>
          <a:prstGeom prst="rect">
            <a:avLst/>
          </a:prstGeom>
          <a:noFill/>
        </p:spPr>
        <p:txBody>
          <a:bodyPr wrap="square">
            <a:spAutoFit/>
          </a:bodyPr>
          <a:lstStyle/>
          <a:p>
            <a:pPr algn="l"/>
            <a:r>
              <a:rPr sz="1100" b="0" i="0">
                <a:solidFill>
                  <a:srgbClr val="FFFFFF"/>
                </a:solidFill>
              </a:rPr>
              <a:t>PD14</a:t>
            </a:r>
          </a:p>
        </p:txBody>
      </p:sp>
      <p:sp>
        <p:nvSpPr>
          <p:cNvPr id="113" name="Rectangle 112"/>
          <p:cNvSpPr/>
          <p:nvPr/>
        </p:nvSpPr>
        <p:spPr>
          <a:xfrm>
            <a:off x="9052560" y="2532888"/>
            <a:ext cx="118872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9098280" y="2560320"/>
            <a:ext cx="1097280" cy="310896"/>
          </a:xfrm>
          <a:prstGeom prst="rect">
            <a:avLst/>
          </a:prstGeom>
          <a:noFill/>
        </p:spPr>
        <p:txBody>
          <a:bodyPr wrap="square">
            <a:spAutoFit/>
          </a:bodyPr>
          <a:lstStyle/>
          <a:p>
            <a:pPr algn="l"/>
            <a:r>
              <a:rPr sz="1100" b="0" i="0">
                <a:solidFill>
                  <a:srgbClr val="FFFFFF"/>
                </a:solidFill>
              </a:rPr>
              <a:t>Arduino D3</a:t>
            </a:r>
          </a:p>
        </p:txBody>
      </p:sp>
      <p:sp>
        <p:nvSpPr>
          <p:cNvPr id="115" name="Rectangle 114"/>
          <p:cNvSpPr/>
          <p:nvPr/>
        </p:nvSpPr>
        <p:spPr>
          <a:xfrm>
            <a:off x="10241280" y="2532888"/>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10287000" y="2560320"/>
            <a:ext cx="914400" cy="310896"/>
          </a:xfrm>
          <a:prstGeom prst="rect">
            <a:avLst/>
          </a:prstGeom>
          <a:noFill/>
        </p:spPr>
        <p:txBody>
          <a:bodyPr wrap="square">
            <a:spAutoFit/>
          </a:bodyPr>
          <a:lstStyle/>
          <a:p>
            <a:pPr algn="l"/>
            <a:r>
              <a:rPr sz="1100" b="0" i="0">
                <a:solidFill>
                  <a:srgbClr val="FFFFFF"/>
                </a:solidFill>
              </a:rPr>
              <a:t>TIM1_CH1</a:t>
            </a:r>
          </a:p>
        </p:txBody>
      </p:sp>
      <p:sp>
        <p:nvSpPr>
          <p:cNvPr id="117" name="Rectangle 116"/>
          <p:cNvSpPr/>
          <p:nvPr/>
        </p:nvSpPr>
        <p:spPr>
          <a:xfrm>
            <a:off x="11247120" y="2532888"/>
            <a:ext cx="73152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11292840" y="2560320"/>
            <a:ext cx="640080" cy="310896"/>
          </a:xfrm>
          <a:prstGeom prst="rect">
            <a:avLst/>
          </a:prstGeom>
          <a:noFill/>
        </p:spPr>
        <p:txBody>
          <a:bodyPr wrap="square">
            <a:spAutoFit/>
          </a:bodyPr>
          <a:lstStyle/>
          <a:p>
            <a:pPr algn="l"/>
            <a:r>
              <a:rPr sz="1100" b="0" i="0">
                <a:solidFill>
                  <a:srgbClr val="FFFFFF"/>
                </a:solidFill>
              </a:rPr>
              <a:t>—</a:t>
            </a:r>
          </a:p>
        </p:txBody>
      </p:sp>
      <p:sp>
        <p:nvSpPr>
          <p:cNvPr id="119" name="Rectangle 118"/>
          <p:cNvSpPr/>
          <p:nvPr/>
        </p:nvSpPr>
        <p:spPr>
          <a:xfrm>
            <a:off x="6126480" y="2843784"/>
            <a:ext cx="210312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6172200" y="2871216"/>
            <a:ext cx="2011680" cy="310896"/>
          </a:xfrm>
          <a:prstGeom prst="rect">
            <a:avLst/>
          </a:prstGeom>
          <a:noFill/>
        </p:spPr>
        <p:txBody>
          <a:bodyPr wrap="square">
            <a:spAutoFit/>
          </a:bodyPr>
          <a:lstStyle/>
          <a:p>
            <a:pPr algn="l"/>
            <a:r>
              <a:rPr sz="1100" b="0" i="0">
                <a:solidFill>
                  <a:srgbClr val="FFFFFF"/>
                </a:solidFill>
              </a:rPr>
              <a:t>ENC_LEFT_CHB</a:t>
            </a:r>
          </a:p>
        </p:txBody>
      </p:sp>
      <p:sp>
        <p:nvSpPr>
          <p:cNvPr id="121" name="Rectangle 120"/>
          <p:cNvSpPr/>
          <p:nvPr/>
        </p:nvSpPr>
        <p:spPr>
          <a:xfrm>
            <a:off x="8229600" y="2843784"/>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8275320" y="2871216"/>
            <a:ext cx="731520" cy="310896"/>
          </a:xfrm>
          <a:prstGeom prst="rect">
            <a:avLst/>
          </a:prstGeom>
          <a:noFill/>
        </p:spPr>
        <p:txBody>
          <a:bodyPr wrap="square">
            <a:spAutoFit/>
          </a:bodyPr>
          <a:lstStyle/>
          <a:p>
            <a:pPr algn="l"/>
            <a:r>
              <a:rPr sz="1100" b="0" i="0">
                <a:solidFill>
                  <a:srgbClr val="FFFFFF"/>
                </a:solidFill>
              </a:rPr>
              <a:t>PD15</a:t>
            </a:r>
          </a:p>
        </p:txBody>
      </p:sp>
      <p:sp>
        <p:nvSpPr>
          <p:cNvPr id="123" name="Rectangle 122"/>
          <p:cNvSpPr/>
          <p:nvPr/>
        </p:nvSpPr>
        <p:spPr>
          <a:xfrm>
            <a:off x="9052560" y="2843784"/>
            <a:ext cx="118872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9098280" y="2871216"/>
            <a:ext cx="1097280" cy="310896"/>
          </a:xfrm>
          <a:prstGeom prst="rect">
            <a:avLst/>
          </a:prstGeom>
          <a:noFill/>
        </p:spPr>
        <p:txBody>
          <a:bodyPr wrap="square">
            <a:spAutoFit/>
          </a:bodyPr>
          <a:lstStyle/>
          <a:p>
            <a:pPr algn="l"/>
            <a:r>
              <a:rPr sz="1100" b="0" i="0">
                <a:solidFill>
                  <a:srgbClr val="FFFFFF"/>
                </a:solidFill>
              </a:rPr>
              <a:t>Arduino D9</a:t>
            </a:r>
          </a:p>
        </p:txBody>
      </p:sp>
      <p:sp>
        <p:nvSpPr>
          <p:cNvPr id="125" name="Rectangle 124"/>
          <p:cNvSpPr/>
          <p:nvPr/>
        </p:nvSpPr>
        <p:spPr>
          <a:xfrm>
            <a:off x="10241280" y="2843784"/>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10287000" y="2871216"/>
            <a:ext cx="914400" cy="310896"/>
          </a:xfrm>
          <a:prstGeom prst="rect">
            <a:avLst/>
          </a:prstGeom>
          <a:noFill/>
        </p:spPr>
        <p:txBody>
          <a:bodyPr wrap="square">
            <a:spAutoFit/>
          </a:bodyPr>
          <a:lstStyle/>
          <a:p>
            <a:pPr algn="l"/>
            <a:r>
              <a:rPr sz="1100" b="0" i="0">
                <a:solidFill>
                  <a:srgbClr val="FFFFFF"/>
                </a:solidFill>
              </a:rPr>
              <a:t>TIM1_CH2</a:t>
            </a:r>
          </a:p>
        </p:txBody>
      </p:sp>
      <p:sp>
        <p:nvSpPr>
          <p:cNvPr id="127" name="Rectangle 126"/>
          <p:cNvSpPr/>
          <p:nvPr/>
        </p:nvSpPr>
        <p:spPr>
          <a:xfrm>
            <a:off x="11247120" y="2843784"/>
            <a:ext cx="73152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11292840" y="2871216"/>
            <a:ext cx="640080" cy="310896"/>
          </a:xfrm>
          <a:prstGeom prst="rect">
            <a:avLst/>
          </a:prstGeom>
          <a:noFill/>
        </p:spPr>
        <p:txBody>
          <a:bodyPr wrap="square">
            <a:spAutoFit/>
          </a:bodyPr>
          <a:lstStyle/>
          <a:p>
            <a:pPr algn="l"/>
            <a:r>
              <a:rPr sz="1100" b="0" i="0">
                <a:solidFill>
                  <a:srgbClr val="FFFFFF"/>
                </a:solidFill>
              </a:rPr>
              <a:t>—</a:t>
            </a:r>
          </a:p>
        </p:txBody>
      </p:sp>
      <p:sp>
        <p:nvSpPr>
          <p:cNvPr id="129" name="Rectangle 128"/>
          <p:cNvSpPr/>
          <p:nvPr/>
        </p:nvSpPr>
        <p:spPr>
          <a:xfrm>
            <a:off x="6126480" y="3154680"/>
            <a:ext cx="210312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172200" y="3182112"/>
            <a:ext cx="2011680" cy="310896"/>
          </a:xfrm>
          <a:prstGeom prst="rect">
            <a:avLst/>
          </a:prstGeom>
          <a:noFill/>
        </p:spPr>
        <p:txBody>
          <a:bodyPr wrap="square">
            <a:spAutoFit/>
          </a:bodyPr>
          <a:lstStyle/>
          <a:p>
            <a:pPr algn="l"/>
            <a:r>
              <a:rPr sz="1100" b="0" i="0">
                <a:solidFill>
                  <a:srgbClr val="FFFFFF"/>
                </a:solidFill>
              </a:rPr>
              <a:t>ENC_RIGHT_CHA</a:t>
            </a:r>
          </a:p>
        </p:txBody>
      </p:sp>
      <p:sp>
        <p:nvSpPr>
          <p:cNvPr id="131" name="Rectangle 130"/>
          <p:cNvSpPr/>
          <p:nvPr/>
        </p:nvSpPr>
        <p:spPr>
          <a:xfrm>
            <a:off x="8229600" y="3154680"/>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8275320" y="3182112"/>
            <a:ext cx="731520" cy="310896"/>
          </a:xfrm>
          <a:prstGeom prst="rect">
            <a:avLst/>
          </a:prstGeom>
          <a:noFill/>
        </p:spPr>
        <p:txBody>
          <a:bodyPr wrap="square">
            <a:spAutoFit/>
          </a:bodyPr>
          <a:lstStyle/>
          <a:p>
            <a:pPr algn="l"/>
            <a:r>
              <a:rPr sz="1100" b="0" i="0">
                <a:solidFill>
                  <a:srgbClr val="FFFFFF"/>
                </a:solidFill>
              </a:rPr>
              <a:t>PA15</a:t>
            </a:r>
          </a:p>
        </p:txBody>
      </p:sp>
      <p:sp>
        <p:nvSpPr>
          <p:cNvPr id="133" name="Rectangle 132"/>
          <p:cNvSpPr/>
          <p:nvPr/>
        </p:nvSpPr>
        <p:spPr>
          <a:xfrm>
            <a:off x="9052560" y="3154680"/>
            <a:ext cx="118872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9098280" y="3182112"/>
            <a:ext cx="1097280" cy="310896"/>
          </a:xfrm>
          <a:prstGeom prst="rect">
            <a:avLst/>
          </a:prstGeom>
          <a:noFill/>
        </p:spPr>
        <p:txBody>
          <a:bodyPr wrap="square">
            <a:spAutoFit/>
          </a:bodyPr>
          <a:lstStyle/>
          <a:p>
            <a:pPr algn="l"/>
            <a:r>
              <a:rPr sz="1100" b="0" i="0">
                <a:solidFill>
                  <a:srgbClr val="FFFFFF"/>
                </a:solidFill>
              </a:rPr>
              <a:t>STMod+ pin 14</a:t>
            </a:r>
          </a:p>
        </p:txBody>
      </p:sp>
      <p:sp>
        <p:nvSpPr>
          <p:cNvPr id="135" name="Rectangle 134"/>
          <p:cNvSpPr/>
          <p:nvPr/>
        </p:nvSpPr>
        <p:spPr>
          <a:xfrm>
            <a:off x="10241280" y="3154680"/>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10287000" y="3182112"/>
            <a:ext cx="914400" cy="310896"/>
          </a:xfrm>
          <a:prstGeom prst="rect">
            <a:avLst/>
          </a:prstGeom>
          <a:noFill/>
        </p:spPr>
        <p:txBody>
          <a:bodyPr wrap="square">
            <a:spAutoFit/>
          </a:bodyPr>
          <a:lstStyle/>
          <a:p>
            <a:pPr algn="l"/>
            <a:r>
              <a:rPr sz="1100" b="0" i="0">
                <a:solidFill>
                  <a:srgbClr val="FFFFFF"/>
                </a:solidFill>
              </a:rPr>
              <a:t>TIM2_CH1</a:t>
            </a:r>
          </a:p>
        </p:txBody>
      </p:sp>
      <p:sp>
        <p:nvSpPr>
          <p:cNvPr id="137" name="Rectangle 136"/>
          <p:cNvSpPr/>
          <p:nvPr/>
        </p:nvSpPr>
        <p:spPr>
          <a:xfrm>
            <a:off x="11247120" y="3154680"/>
            <a:ext cx="73152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11292840" y="3182112"/>
            <a:ext cx="640080" cy="310896"/>
          </a:xfrm>
          <a:prstGeom prst="rect">
            <a:avLst/>
          </a:prstGeom>
          <a:noFill/>
        </p:spPr>
        <p:txBody>
          <a:bodyPr wrap="square">
            <a:spAutoFit/>
          </a:bodyPr>
          <a:lstStyle/>
          <a:p>
            <a:pPr algn="l"/>
            <a:r>
              <a:rPr sz="1100" b="0" i="0">
                <a:solidFill>
                  <a:srgbClr val="FFFFFF"/>
                </a:solidFill>
              </a:rPr>
              <a:t>—</a:t>
            </a:r>
          </a:p>
        </p:txBody>
      </p:sp>
      <p:sp>
        <p:nvSpPr>
          <p:cNvPr id="139" name="Rectangle 138"/>
          <p:cNvSpPr/>
          <p:nvPr/>
        </p:nvSpPr>
        <p:spPr>
          <a:xfrm>
            <a:off x="6126480" y="3465576"/>
            <a:ext cx="210312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6172200" y="3493008"/>
            <a:ext cx="2011680" cy="310896"/>
          </a:xfrm>
          <a:prstGeom prst="rect">
            <a:avLst/>
          </a:prstGeom>
          <a:noFill/>
        </p:spPr>
        <p:txBody>
          <a:bodyPr wrap="square">
            <a:spAutoFit/>
          </a:bodyPr>
          <a:lstStyle/>
          <a:p>
            <a:pPr algn="l"/>
            <a:r>
              <a:rPr sz="1100" b="0" i="0">
                <a:solidFill>
                  <a:srgbClr val="FFFFFF"/>
                </a:solidFill>
              </a:rPr>
              <a:t>ENC_RIGHT_CHB</a:t>
            </a:r>
          </a:p>
        </p:txBody>
      </p:sp>
      <p:sp>
        <p:nvSpPr>
          <p:cNvPr id="141" name="Rectangle 140"/>
          <p:cNvSpPr/>
          <p:nvPr/>
        </p:nvSpPr>
        <p:spPr>
          <a:xfrm>
            <a:off x="8229600" y="3465576"/>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8275320" y="3493008"/>
            <a:ext cx="731520" cy="310896"/>
          </a:xfrm>
          <a:prstGeom prst="rect">
            <a:avLst/>
          </a:prstGeom>
          <a:noFill/>
        </p:spPr>
        <p:txBody>
          <a:bodyPr wrap="square">
            <a:spAutoFit/>
          </a:bodyPr>
          <a:lstStyle/>
          <a:p>
            <a:pPr algn="l"/>
            <a:r>
              <a:rPr sz="1100" b="0" i="0">
                <a:solidFill>
                  <a:srgbClr val="FFFFFF"/>
                </a:solidFill>
              </a:rPr>
              <a:t>PB3</a:t>
            </a:r>
          </a:p>
        </p:txBody>
      </p:sp>
      <p:sp>
        <p:nvSpPr>
          <p:cNvPr id="143" name="Rectangle 142"/>
          <p:cNvSpPr/>
          <p:nvPr/>
        </p:nvSpPr>
        <p:spPr>
          <a:xfrm>
            <a:off x="9052560" y="3465576"/>
            <a:ext cx="118872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9098280" y="3493008"/>
            <a:ext cx="1097280" cy="310896"/>
          </a:xfrm>
          <a:prstGeom prst="rect">
            <a:avLst/>
          </a:prstGeom>
          <a:noFill/>
        </p:spPr>
        <p:txBody>
          <a:bodyPr wrap="square">
            <a:spAutoFit/>
          </a:bodyPr>
          <a:lstStyle/>
          <a:p>
            <a:pPr algn="l"/>
            <a:r>
              <a:rPr sz="1100" b="0" i="0">
                <a:solidFill>
                  <a:srgbClr val="FFFFFF"/>
                </a:solidFill>
              </a:rPr>
              <a:t>Direct (⚠ SWO)</a:t>
            </a:r>
          </a:p>
        </p:txBody>
      </p:sp>
      <p:sp>
        <p:nvSpPr>
          <p:cNvPr id="145" name="Rectangle 144"/>
          <p:cNvSpPr/>
          <p:nvPr/>
        </p:nvSpPr>
        <p:spPr>
          <a:xfrm>
            <a:off x="10241280" y="3465576"/>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10287000" y="3493008"/>
            <a:ext cx="914400" cy="310896"/>
          </a:xfrm>
          <a:prstGeom prst="rect">
            <a:avLst/>
          </a:prstGeom>
          <a:noFill/>
        </p:spPr>
        <p:txBody>
          <a:bodyPr wrap="square">
            <a:spAutoFit/>
          </a:bodyPr>
          <a:lstStyle/>
          <a:p>
            <a:pPr algn="l"/>
            <a:r>
              <a:rPr sz="1100" b="0" i="0">
                <a:solidFill>
                  <a:srgbClr val="FFFFFF"/>
                </a:solidFill>
              </a:rPr>
              <a:t>TIM2_CH2</a:t>
            </a:r>
          </a:p>
        </p:txBody>
      </p:sp>
      <p:sp>
        <p:nvSpPr>
          <p:cNvPr id="147" name="Rectangle 146"/>
          <p:cNvSpPr/>
          <p:nvPr/>
        </p:nvSpPr>
        <p:spPr>
          <a:xfrm>
            <a:off x="11247120" y="3465576"/>
            <a:ext cx="73152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11292840" y="3493008"/>
            <a:ext cx="640080" cy="310896"/>
          </a:xfrm>
          <a:prstGeom prst="rect">
            <a:avLst/>
          </a:prstGeom>
          <a:noFill/>
        </p:spPr>
        <p:txBody>
          <a:bodyPr wrap="square">
            <a:spAutoFit/>
          </a:bodyPr>
          <a:lstStyle/>
          <a:p>
            <a:pPr algn="l"/>
            <a:r>
              <a:rPr sz="1100" b="0" i="0">
                <a:solidFill>
                  <a:srgbClr val="FFFFFF"/>
                </a:solidFill>
              </a:rPr>
              <a:t>—</a:t>
            </a:r>
          </a:p>
        </p:txBody>
      </p:sp>
      <p:sp>
        <p:nvSpPr>
          <p:cNvPr id="149" name="Rectangle 148"/>
          <p:cNvSpPr/>
          <p:nvPr/>
        </p:nvSpPr>
        <p:spPr>
          <a:xfrm>
            <a:off x="182880" y="5074920"/>
            <a:ext cx="11795760" cy="457200"/>
          </a:xfrm>
          <a:prstGeom prst="rect">
            <a:avLst/>
          </a:prstGeom>
          <a:solidFill>
            <a:srgbClr val="5C1C00"/>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365760" y="5093208"/>
            <a:ext cx="11430000" cy="457200"/>
          </a:xfrm>
          <a:prstGeom prst="rect">
            <a:avLst/>
          </a:prstGeom>
          <a:noFill/>
        </p:spPr>
        <p:txBody>
          <a:bodyPr wrap="square">
            <a:spAutoFit/>
          </a:bodyPr>
          <a:lstStyle/>
          <a:p>
            <a:pPr algn="l"/>
            <a:r>
              <a:rPr sz="1100" b="1" i="0">
                <a:solidFill>
                  <a:srgbClr val="FF4444"/>
                </a:solidFill>
              </a:rPr>
              <a:t>⚠  PB3 (ENC_RIGHT_CHB) désactive la trace SWO — OK en Release, nécessite désactivation dans CubeMX   |   ⚠  PB3 = SWO dans le .ioc par défaut : changer le signal vers TIM2_CH2</a:t>
            </a:r>
          </a:p>
        </p:txBody>
      </p:sp>
      <p:sp>
        <p:nvSpPr>
          <p:cNvPr id="151" name="Rectangle 150"/>
          <p:cNvSpPr/>
          <p:nvPr/>
        </p:nvSpPr>
        <p:spPr>
          <a:xfrm>
            <a:off x="182880" y="5596128"/>
            <a:ext cx="1179576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256032" y="5614416"/>
            <a:ext cx="11704320" cy="347472"/>
          </a:xfrm>
          <a:prstGeom prst="rect">
            <a:avLst/>
          </a:prstGeom>
          <a:noFill/>
        </p:spPr>
        <p:txBody>
          <a:bodyPr wrap="square">
            <a:spAutoFit/>
          </a:bodyPr>
          <a:lstStyle/>
          <a:p>
            <a:pPr algn="l"/>
            <a:r>
              <a:rPr sz="1400" b="1" i="0">
                <a:solidFill>
                  <a:srgbClr val="FFD700"/>
                </a:solidFill>
              </a:rPr>
              <a:t>Communication externe</a:t>
            </a:r>
          </a:p>
        </p:txBody>
      </p:sp>
      <p:sp>
        <p:nvSpPr>
          <p:cNvPr id="153" name="Rectangle 152"/>
          <p:cNvSpPr/>
          <p:nvPr/>
        </p:nvSpPr>
        <p:spPr>
          <a:xfrm>
            <a:off x="182880" y="5961888"/>
            <a:ext cx="1188720" cy="347472"/>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228600" y="5998464"/>
            <a:ext cx="1097280" cy="347472"/>
          </a:xfrm>
          <a:prstGeom prst="rect">
            <a:avLst/>
          </a:prstGeom>
          <a:noFill/>
        </p:spPr>
        <p:txBody>
          <a:bodyPr wrap="square">
            <a:spAutoFit/>
          </a:bodyPr>
          <a:lstStyle/>
          <a:p>
            <a:pPr algn="ctr"/>
            <a:r>
              <a:rPr sz="1100" b="1" i="0">
                <a:solidFill>
                  <a:srgbClr val="FFD700"/>
                </a:solidFill>
              </a:rPr>
              <a:t>Canal</a:t>
            </a:r>
          </a:p>
        </p:txBody>
      </p:sp>
      <p:sp>
        <p:nvSpPr>
          <p:cNvPr id="155" name="Rectangle 154"/>
          <p:cNvSpPr/>
          <p:nvPr/>
        </p:nvSpPr>
        <p:spPr>
          <a:xfrm>
            <a:off x="1371600" y="5961888"/>
            <a:ext cx="2011680" cy="347472"/>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1417320" y="5998464"/>
            <a:ext cx="1920240" cy="347472"/>
          </a:xfrm>
          <a:prstGeom prst="rect">
            <a:avLst/>
          </a:prstGeom>
          <a:noFill/>
        </p:spPr>
        <p:txBody>
          <a:bodyPr wrap="square">
            <a:spAutoFit/>
          </a:bodyPr>
          <a:lstStyle/>
          <a:p>
            <a:pPr algn="ctr"/>
            <a:r>
              <a:rPr sz="1100" b="1" i="0">
                <a:solidFill>
                  <a:srgbClr val="FFD700"/>
                </a:solidFill>
              </a:rPr>
              <a:t>Signal</a:t>
            </a:r>
          </a:p>
        </p:txBody>
      </p:sp>
      <p:sp>
        <p:nvSpPr>
          <p:cNvPr id="157" name="Rectangle 156"/>
          <p:cNvSpPr/>
          <p:nvPr/>
        </p:nvSpPr>
        <p:spPr>
          <a:xfrm>
            <a:off x="3383280" y="5961888"/>
            <a:ext cx="1188720" cy="347472"/>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3429000" y="5998464"/>
            <a:ext cx="1097280" cy="347472"/>
          </a:xfrm>
          <a:prstGeom prst="rect">
            <a:avLst/>
          </a:prstGeom>
          <a:noFill/>
        </p:spPr>
        <p:txBody>
          <a:bodyPr wrap="square">
            <a:spAutoFit/>
          </a:bodyPr>
          <a:lstStyle/>
          <a:p>
            <a:pPr algn="ctr"/>
            <a:r>
              <a:rPr sz="1100" b="1" i="0">
                <a:solidFill>
                  <a:srgbClr val="FFD700"/>
                </a:solidFill>
              </a:rPr>
              <a:t>Pins</a:t>
            </a:r>
          </a:p>
        </p:txBody>
      </p:sp>
      <p:sp>
        <p:nvSpPr>
          <p:cNvPr id="159" name="Rectangle 158"/>
          <p:cNvSpPr/>
          <p:nvPr/>
        </p:nvSpPr>
        <p:spPr>
          <a:xfrm>
            <a:off x="4572000" y="5961888"/>
            <a:ext cx="1280160" cy="347472"/>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4617720" y="5998464"/>
            <a:ext cx="1188720" cy="347472"/>
          </a:xfrm>
          <a:prstGeom prst="rect">
            <a:avLst/>
          </a:prstGeom>
          <a:noFill/>
        </p:spPr>
        <p:txBody>
          <a:bodyPr wrap="square">
            <a:spAutoFit/>
          </a:bodyPr>
          <a:lstStyle/>
          <a:p>
            <a:pPr algn="ctr"/>
            <a:r>
              <a:rPr sz="1100" b="1" i="0">
                <a:solidFill>
                  <a:srgbClr val="FFD700"/>
                </a:solidFill>
              </a:rPr>
              <a:t>Périphérique</a:t>
            </a:r>
          </a:p>
        </p:txBody>
      </p:sp>
      <p:sp>
        <p:nvSpPr>
          <p:cNvPr id="161" name="Rectangle 160"/>
          <p:cNvSpPr/>
          <p:nvPr/>
        </p:nvSpPr>
        <p:spPr>
          <a:xfrm>
            <a:off x="5852160" y="5961888"/>
            <a:ext cx="6035040" cy="347472"/>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5897880" y="5998464"/>
            <a:ext cx="5943600" cy="347472"/>
          </a:xfrm>
          <a:prstGeom prst="rect">
            <a:avLst/>
          </a:prstGeom>
          <a:noFill/>
        </p:spPr>
        <p:txBody>
          <a:bodyPr wrap="square">
            <a:spAutoFit/>
          </a:bodyPr>
          <a:lstStyle/>
          <a:p>
            <a:pPr algn="ctr"/>
            <a:r>
              <a:rPr sz="1100" b="1" i="0">
                <a:solidFill>
                  <a:srgbClr val="FFD700"/>
                </a:solidFill>
              </a:rPr>
              <a:t>Description</a:t>
            </a:r>
          </a:p>
        </p:txBody>
      </p:sp>
      <p:sp>
        <p:nvSpPr>
          <p:cNvPr id="163" name="Rectangle 162"/>
          <p:cNvSpPr/>
          <p:nvPr/>
        </p:nvSpPr>
        <p:spPr>
          <a:xfrm>
            <a:off x="182880" y="6309360"/>
            <a:ext cx="1188720" cy="347472"/>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228600" y="6336792"/>
            <a:ext cx="1097280" cy="347472"/>
          </a:xfrm>
          <a:prstGeom prst="rect">
            <a:avLst/>
          </a:prstGeom>
          <a:noFill/>
        </p:spPr>
        <p:txBody>
          <a:bodyPr wrap="square">
            <a:spAutoFit/>
          </a:bodyPr>
          <a:lstStyle/>
          <a:p>
            <a:pPr algn="l"/>
            <a:r>
              <a:rPr sz="1100" b="0" i="0">
                <a:solidFill>
                  <a:srgbClr val="FFFFFF"/>
                </a:solidFill>
              </a:rPr>
              <a:t>PC (VCP)</a:t>
            </a:r>
          </a:p>
        </p:txBody>
      </p:sp>
      <p:sp>
        <p:nvSpPr>
          <p:cNvPr id="165" name="Rectangle 164"/>
          <p:cNvSpPr/>
          <p:nvPr/>
        </p:nvSpPr>
        <p:spPr>
          <a:xfrm>
            <a:off x="1371600" y="6309360"/>
            <a:ext cx="2011680" cy="347472"/>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1417320" y="6336792"/>
            <a:ext cx="1920240" cy="347472"/>
          </a:xfrm>
          <a:prstGeom prst="rect">
            <a:avLst/>
          </a:prstGeom>
          <a:noFill/>
        </p:spPr>
        <p:txBody>
          <a:bodyPr wrap="square">
            <a:spAutoFit/>
          </a:bodyPr>
          <a:lstStyle/>
          <a:p>
            <a:pPr algn="l"/>
            <a:r>
              <a:rPr sz="1100" b="0" i="0">
                <a:solidFill>
                  <a:srgbClr val="FFFFFF"/>
                </a:solidFill>
              </a:rPr>
              <a:t>CTRL_VCP_TX / RX</a:t>
            </a:r>
          </a:p>
        </p:txBody>
      </p:sp>
      <p:sp>
        <p:nvSpPr>
          <p:cNvPr id="167" name="Rectangle 166"/>
          <p:cNvSpPr/>
          <p:nvPr/>
        </p:nvSpPr>
        <p:spPr>
          <a:xfrm>
            <a:off x="3383280" y="6309360"/>
            <a:ext cx="1188720" cy="347472"/>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3429000" y="6336792"/>
            <a:ext cx="1097280" cy="347472"/>
          </a:xfrm>
          <a:prstGeom prst="rect">
            <a:avLst/>
          </a:prstGeom>
          <a:noFill/>
        </p:spPr>
        <p:txBody>
          <a:bodyPr wrap="square">
            <a:spAutoFit/>
          </a:bodyPr>
          <a:lstStyle/>
          <a:p>
            <a:pPr algn="l"/>
            <a:r>
              <a:rPr sz="1100" b="0" i="0">
                <a:solidFill>
                  <a:srgbClr val="FFFFFF"/>
                </a:solidFill>
              </a:rPr>
              <a:t>PB6 / PB7</a:t>
            </a:r>
          </a:p>
        </p:txBody>
      </p:sp>
      <p:sp>
        <p:nvSpPr>
          <p:cNvPr id="169" name="Rectangle 168"/>
          <p:cNvSpPr/>
          <p:nvPr/>
        </p:nvSpPr>
        <p:spPr>
          <a:xfrm>
            <a:off x="4572000" y="6309360"/>
            <a:ext cx="1280160" cy="347472"/>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4617720" y="6336792"/>
            <a:ext cx="1188720" cy="347472"/>
          </a:xfrm>
          <a:prstGeom prst="rect">
            <a:avLst/>
          </a:prstGeom>
          <a:noFill/>
        </p:spPr>
        <p:txBody>
          <a:bodyPr wrap="square">
            <a:spAutoFit/>
          </a:bodyPr>
          <a:lstStyle/>
          <a:p>
            <a:pPr algn="l"/>
            <a:r>
              <a:rPr sz="1100" b="0" i="0">
                <a:solidFill>
                  <a:srgbClr val="FFFFFF"/>
                </a:solidFill>
              </a:rPr>
              <a:t>USART1</a:t>
            </a:r>
          </a:p>
        </p:txBody>
      </p:sp>
      <p:sp>
        <p:nvSpPr>
          <p:cNvPr id="171" name="Rectangle 170"/>
          <p:cNvSpPr/>
          <p:nvPr/>
        </p:nvSpPr>
        <p:spPr>
          <a:xfrm>
            <a:off x="5852160" y="6309360"/>
            <a:ext cx="6035040" cy="347472"/>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5897880" y="6336792"/>
            <a:ext cx="5943600" cy="347472"/>
          </a:xfrm>
          <a:prstGeom prst="rect">
            <a:avLst/>
          </a:prstGeom>
          <a:noFill/>
        </p:spPr>
        <p:txBody>
          <a:bodyPr wrap="square">
            <a:spAutoFit/>
          </a:bodyPr>
          <a:lstStyle/>
          <a:p>
            <a:pPr algn="l"/>
            <a:r>
              <a:rPr sz="1100" b="0" i="0">
                <a:solidFill>
                  <a:srgbClr val="FFFFFF"/>
                </a:solidFill>
              </a:rPr>
              <a:t>ST-Link intégré — pas de câble externe nécessaire</a:t>
            </a:r>
          </a:p>
        </p:txBody>
      </p:sp>
      <p:sp>
        <p:nvSpPr>
          <p:cNvPr id="173" name="Rectangle 172"/>
          <p:cNvSpPr/>
          <p:nvPr/>
        </p:nvSpPr>
        <p:spPr>
          <a:xfrm>
            <a:off x="182880" y="6656832"/>
            <a:ext cx="1188720" cy="347472"/>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228600" y="6684264"/>
            <a:ext cx="1097280" cy="347472"/>
          </a:xfrm>
          <a:prstGeom prst="rect">
            <a:avLst/>
          </a:prstGeom>
          <a:noFill/>
        </p:spPr>
        <p:txBody>
          <a:bodyPr wrap="square">
            <a:spAutoFit/>
          </a:bodyPr>
          <a:lstStyle/>
          <a:p>
            <a:pPr algn="l"/>
            <a:r>
              <a:rPr sz="1100" b="0" i="0">
                <a:solidFill>
                  <a:srgbClr val="FFFFFF"/>
                </a:solidFill>
              </a:rPr>
              <a:t>Smartphone</a:t>
            </a:r>
          </a:p>
        </p:txBody>
      </p:sp>
      <p:sp>
        <p:nvSpPr>
          <p:cNvPr id="175" name="Rectangle 174"/>
          <p:cNvSpPr/>
          <p:nvPr/>
        </p:nvSpPr>
        <p:spPr>
          <a:xfrm>
            <a:off x="1371600" y="6656832"/>
            <a:ext cx="2011680" cy="347472"/>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1417320" y="6684264"/>
            <a:ext cx="1920240" cy="347472"/>
          </a:xfrm>
          <a:prstGeom prst="rect">
            <a:avLst/>
          </a:prstGeom>
          <a:noFill/>
        </p:spPr>
        <p:txBody>
          <a:bodyPr wrap="square">
            <a:spAutoFit/>
          </a:bodyPr>
          <a:lstStyle/>
          <a:p>
            <a:pPr algn="l"/>
            <a:r>
              <a:rPr sz="1100" b="0" i="0">
                <a:solidFill>
                  <a:srgbClr val="FFFFFF"/>
                </a:solidFill>
              </a:rPr>
              <a:t>BLE 5.2</a:t>
            </a:r>
          </a:p>
        </p:txBody>
      </p:sp>
      <p:sp>
        <p:nvSpPr>
          <p:cNvPr id="177" name="Rectangle 176"/>
          <p:cNvSpPr/>
          <p:nvPr/>
        </p:nvSpPr>
        <p:spPr>
          <a:xfrm>
            <a:off x="3383280" y="6656832"/>
            <a:ext cx="1188720" cy="347472"/>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3429000" y="6684264"/>
            <a:ext cx="1097280" cy="347472"/>
          </a:xfrm>
          <a:prstGeom prst="rect">
            <a:avLst/>
          </a:prstGeom>
          <a:noFill/>
        </p:spPr>
        <p:txBody>
          <a:bodyPr wrap="square">
            <a:spAutoFit/>
          </a:bodyPr>
          <a:lstStyle/>
          <a:p>
            <a:pPr algn="l"/>
            <a:r>
              <a:rPr sz="1100" b="0" i="0">
                <a:solidFill>
                  <a:srgbClr val="FFFFFF"/>
                </a:solidFill>
              </a:rPr>
              <a:t>Interne M0+</a:t>
            </a:r>
          </a:p>
        </p:txBody>
      </p:sp>
      <p:sp>
        <p:nvSpPr>
          <p:cNvPr id="179" name="Rectangle 178"/>
          <p:cNvSpPr/>
          <p:nvPr/>
        </p:nvSpPr>
        <p:spPr>
          <a:xfrm>
            <a:off x="4572000" y="6656832"/>
            <a:ext cx="1280160" cy="347472"/>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4617720" y="6684264"/>
            <a:ext cx="1188720" cy="347472"/>
          </a:xfrm>
          <a:prstGeom prst="rect">
            <a:avLst/>
          </a:prstGeom>
          <a:noFill/>
        </p:spPr>
        <p:txBody>
          <a:bodyPr wrap="square">
            <a:spAutoFit/>
          </a:bodyPr>
          <a:lstStyle/>
          <a:p>
            <a:pPr algn="l"/>
            <a:r>
              <a:rPr sz="1100" b="0" i="0">
                <a:solidFill>
                  <a:srgbClr val="FFFFFF"/>
                </a:solidFill>
              </a:rPr>
              <a:t>BLE stack</a:t>
            </a:r>
          </a:p>
        </p:txBody>
      </p:sp>
      <p:sp>
        <p:nvSpPr>
          <p:cNvPr id="181" name="Rectangle 180"/>
          <p:cNvSpPr/>
          <p:nvPr/>
        </p:nvSpPr>
        <p:spPr>
          <a:xfrm>
            <a:off x="5852160" y="6656832"/>
            <a:ext cx="6035040" cy="347472"/>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5897880" y="6684264"/>
            <a:ext cx="5943600" cy="347472"/>
          </a:xfrm>
          <a:prstGeom prst="rect">
            <a:avLst/>
          </a:prstGeom>
          <a:noFill/>
        </p:spPr>
        <p:txBody>
          <a:bodyPr wrap="square">
            <a:spAutoFit/>
          </a:bodyPr>
          <a:lstStyle/>
          <a:p>
            <a:pPr algn="l"/>
            <a:r>
              <a:rPr sz="1100" b="0" i="0">
                <a:solidFill>
                  <a:srgbClr val="FFFFFF"/>
                </a:solidFill>
              </a:rPr>
              <a:t>Commandes + télémétrie temps réel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Arduino Motor Shield Rev3</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Pont en H L298P — 2 canaux bidirectionnels — 2 A par canal max</a:t>
            </a:r>
          </a:p>
        </p:txBody>
      </p:sp>
      <p:sp>
        <p:nvSpPr>
          <p:cNvPr id="5" name="Rectangle 4"/>
          <p:cNvSpPr/>
          <p:nvPr/>
        </p:nvSpPr>
        <p:spPr>
          <a:xfrm>
            <a:off x="182880" y="1234440"/>
            <a:ext cx="685800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032" y="1252728"/>
            <a:ext cx="6766560" cy="347472"/>
          </a:xfrm>
          <a:prstGeom prst="rect">
            <a:avLst/>
          </a:prstGeom>
          <a:noFill/>
        </p:spPr>
        <p:txBody>
          <a:bodyPr wrap="square">
            <a:spAutoFit/>
          </a:bodyPr>
          <a:lstStyle/>
          <a:p>
            <a:pPr algn="l"/>
            <a:r>
              <a:rPr sz="1400" b="1" i="0">
                <a:solidFill>
                  <a:srgbClr val="FFD700"/>
                </a:solidFill>
              </a:rPr>
              <a:t>Broches Motor Shield → câblage vers MB1292B</a:t>
            </a:r>
          </a:p>
        </p:txBody>
      </p:sp>
      <p:sp>
        <p:nvSpPr>
          <p:cNvPr id="7" name="Rectangle 6"/>
          <p:cNvSpPr/>
          <p:nvPr/>
        </p:nvSpPr>
        <p:spPr>
          <a:xfrm>
            <a:off x="182880" y="1600200"/>
            <a:ext cx="182880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636776"/>
            <a:ext cx="1737360" cy="310896"/>
          </a:xfrm>
          <a:prstGeom prst="rect">
            <a:avLst/>
          </a:prstGeom>
          <a:noFill/>
        </p:spPr>
        <p:txBody>
          <a:bodyPr wrap="square">
            <a:spAutoFit/>
          </a:bodyPr>
          <a:lstStyle/>
          <a:p>
            <a:pPr algn="ctr"/>
            <a:r>
              <a:rPr sz="1000" b="1" i="0">
                <a:solidFill>
                  <a:srgbClr val="FFD700"/>
                </a:solidFill>
              </a:rPr>
              <a:t>Broche Shield</a:t>
            </a:r>
          </a:p>
        </p:txBody>
      </p:sp>
      <p:sp>
        <p:nvSpPr>
          <p:cNvPr id="9" name="Rectangle 8"/>
          <p:cNvSpPr/>
          <p:nvPr/>
        </p:nvSpPr>
        <p:spPr>
          <a:xfrm>
            <a:off x="2011680" y="1600200"/>
            <a:ext cx="182880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57400" y="1636776"/>
            <a:ext cx="1737360" cy="310896"/>
          </a:xfrm>
          <a:prstGeom prst="rect">
            <a:avLst/>
          </a:prstGeom>
          <a:noFill/>
        </p:spPr>
        <p:txBody>
          <a:bodyPr wrap="square">
            <a:spAutoFit/>
          </a:bodyPr>
          <a:lstStyle/>
          <a:p>
            <a:pPr algn="ctr"/>
            <a:r>
              <a:rPr sz="1000" b="1" i="0">
                <a:solidFill>
                  <a:srgbClr val="FFD700"/>
                </a:solidFill>
              </a:rPr>
              <a:t>Signal Shield</a:t>
            </a:r>
          </a:p>
        </p:txBody>
      </p:sp>
      <p:sp>
        <p:nvSpPr>
          <p:cNvPr id="11" name="Rectangle 10"/>
          <p:cNvSpPr/>
          <p:nvPr/>
        </p:nvSpPr>
        <p:spPr>
          <a:xfrm>
            <a:off x="3840480" y="1600200"/>
            <a:ext cx="182880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86200" y="1636776"/>
            <a:ext cx="1737360" cy="310896"/>
          </a:xfrm>
          <a:prstGeom prst="rect">
            <a:avLst/>
          </a:prstGeom>
          <a:noFill/>
        </p:spPr>
        <p:txBody>
          <a:bodyPr wrap="square">
            <a:spAutoFit/>
          </a:bodyPr>
          <a:lstStyle/>
          <a:p>
            <a:pPr algn="ctr"/>
            <a:r>
              <a:rPr sz="1000" b="1" i="0">
                <a:solidFill>
                  <a:srgbClr val="FFD700"/>
                </a:solidFill>
              </a:rPr>
              <a:t>Signal STM32</a:t>
            </a:r>
          </a:p>
        </p:txBody>
      </p:sp>
      <p:sp>
        <p:nvSpPr>
          <p:cNvPr id="13" name="Rectangle 12"/>
          <p:cNvSpPr/>
          <p:nvPr/>
        </p:nvSpPr>
        <p:spPr>
          <a:xfrm>
            <a:off x="5669280" y="1600200"/>
            <a:ext cx="82296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15000" y="1636776"/>
            <a:ext cx="731520" cy="310896"/>
          </a:xfrm>
          <a:prstGeom prst="rect">
            <a:avLst/>
          </a:prstGeom>
          <a:noFill/>
        </p:spPr>
        <p:txBody>
          <a:bodyPr wrap="square">
            <a:spAutoFit/>
          </a:bodyPr>
          <a:lstStyle/>
          <a:p>
            <a:pPr algn="ctr"/>
            <a:r>
              <a:rPr sz="1000" b="1" i="0">
                <a:solidFill>
                  <a:srgbClr val="FFD700"/>
                </a:solidFill>
              </a:rPr>
              <a:t>Pin STM32</a:t>
            </a:r>
          </a:p>
        </p:txBody>
      </p:sp>
      <p:sp>
        <p:nvSpPr>
          <p:cNvPr id="15" name="Rectangle 14"/>
          <p:cNvSpPr/>
          <p:nvPr/>
        </p:nvSpPr>
        <p:spPr>
          <a:xfrm>
            <a:off x="6492240" y="1600200"/>
            <a:ext cx="182880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60" y="1636776"/>
            <a:ext cx="1737360" cy="310896"/>
          </a:xfrm>
          <a:prstGeom prst="rect">
            <a:avLst/>
          </a:prstGeom>
          <a:noFill/>
        </p:spPr>
        <p:txBody>
          <a:bodyPr wrap="square">
            <a:spAutoFit/>
          </a:bodyPr>
          <a:lstStyle/>
          <a:p>
            <a:pPr algn="ctr"/>
            <a:r>
              <a:rPr sz="1000" b="1" i="0">
                <a:solidFill>
                  <a:srgbClr val="FFD700"/>
                </a:solidFill>
              </a:rPr>
              <a:t>Connecteur MB1292B</a:t>
            </a:r>
          </a:p>
        </p:txBody>
      </p:sp>
      <p:sp>
        <p:nvSpPr>
          <p:cNvPr id="17" name="Rectangle 16"/>
          <p:cNvSpPr/>
          <p:nvPr/>
        </p:nvSpPr>
        <p:spPr>
          <a:xfrm>
            <a:off x="182880" y="1911096"/>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938528"/>
            <a:ext cx="1737360" cy="310896"/>
          </a:xfrm>
          <a:prstGeom prst="rect">
            <a:avLst/>
          </a:prstGeom>
          <a:noFill/>
        </p:spPr>
        <p:txBody>
          <a:bodyPr wrap="square">
            <a:spAutoFit/>
          </a:bodyPr>
          <a:lstStyle/>
          <a:p>
            <a:pPr algn="l"/>
            <a:r>
              <a:rPr sz="1000" b="0" i="0">
                <a:solidFill>
                  <a:srgbClr val="FFFFFF"/>
                </a:solidFill>
              </a:rPr>
              <a:t>PWM A (D3 Arduino)</a:t>
            </a:r>
          </a:p>
        </p:txBody>
      </p:sp>
      <p:sp>
        <p:nvSpPr>
          <p:cNvPr id="19" name="Rectangle 18"/>
          <p:cNvSpPr/>
          <p:nvPr/>
        </p:nvSpPr>
        <p:spPr>
          <a:xfrm>
            <a:off x="2011680" y="1911096"/>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57400" y="1938528"/>
            <a:ext cx="1737360" cy="310896"/>
          </a:xfrm>
          <a:prstGeom prst="rect">
            <a:avLst/>
          </a:prstGeom>
          <a:noFill/>
        </p:spPr>
        <p:txBody>
          <a:bodyPr wrap="square">
            <a:spAutoFit/>
          </a:bodyPr>
          <a:lstStyle/>
          <a:p>
            <a:pPr algn="l"/>
            <a:r>
              <a:rPr sz="1000" b="0" i="0">
                <a:solidFill>
                  <a:srgbClr val="FFFFFF"/>
                </a:solidFill>
              </a:rPr>
              <a:t>MOTOR_LEFT_PWM</a:t>
            </a:r>
          </a:p>
        </p:txBody>
      </p:sp>
      <p:sp>
        <p:nvSpPr>
          <p:cNvPr id="21" name="Rectangle 20"/>
          <p:cNvSpPr/>
          <p:nvPr/>
        </p:nvSpPr>
        <p:spPr>
          <a:xfrm>
            <a:off x="3840480" y="1911096"/>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86200" y="1938528"/>
            <a:ext cx="1737360" cy="310896"/>
          </a:xfrm>
          <a:prstGeom prst="rect">
            <a:avLst/>
          </a:prstGeom>
          <a:noFill/>
        </p:spPr>
        <p:txBody>
          <a:bodyPr wrap="square">
            <a:spAutoFit/>
          </a:bodyPr>
          <a:lstStyle/>
          <a:p>
            <a:pPr algn="l"/>
            <a:r>
              <a:rPr sz="1000" b="0" i="0">
                <a:solidFill>
                  <a:srgbClr val="FFFFFF"/>
                </a:solidFill>
              </a:rPr>
              <a:t>MOTOR_LEFT_PWM</a:t>
            </a:r>
          </a:p>
        </p:txBody>
      </p:sp>
      <p:sp>
        <p:nvSpPr>
          <p:cNvPr id="23" name="Rectangle 22"/>
          <p:cNvSpPr/>
          <p:nvPr/>
        </p:nvSpPr>
        <p:spPr>
          <a:xfrm>
            <a:off x="5669280" y="1911096"/>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15000" y="1938528"/>
            <a:ext cx="731520" cy="310896"/>
          </a:xfrm>
          <a:prstGeom prst="rect">
            <a:avLst/>
          </a:prstGeom>
          <a:noFill/>
        </p:spPr>
        <p:txBody>
          <a:bodyPr wrap="square">
            <a:spAutoFit/>
          </a:bodyPr>
          <a:lstStyle/>
          <a:p>
            <a:pPr algn="l"/>
            <a:r>
              <a:rPr sz="1000" b="0" i="0">
                <a:solidFill>
                  <a:srgbClr val="FFFFFF"/>
                </a:solidFill>
              </a:rPr>
              <a:t>PC1</a:t>
            </a:r>
          </a:p>
        </p:txBody>
      </p:sp>
      <p:sp>
        <p:nvSpPr>
          <p:cNvPr id="25" name="Rectangle 24"/>
          <p:cNvSpPr/>
          <p:nvPr/>
        </p:nvSpPr>
        <p:spPr>
          <a:xfrm>
            <a:off x="6492240" y="1911096"/>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37960" y="1938528"/>
            <a:ext cx="1737360" cy="310896"/>
          </a:xfrm>
          <a:prstGeom prst="rect">
            <a:avLst/>
          </a:prstGeom>
          <a:noFill/>
        </p:spPr>
        <p:txBody>
          <a:bodyPr wrap="square">
            <a:spAutoFit/>
          </a:bodyPr>
          <a:lstStyle/>
          <a:p>
            <a:pPr algn="l"/>
            <a:r>
              <a:rPr sz="1000" b="0" i="0">
                <a:solidFill>
                  <a:srgbClr val="FFFFFF"/>
                </a:solidFill>
              </a:rPr>
              <a:t>Arduino A3</a:t>
            </a:r>
          </a:p>
        </p:txBody>
      </p:sp>
      <p:sp>
        <p:nvSpPr>
          <p:cNvPr id="27" name="Rectangle 26"/>
          <p:cNvSpPr/>
          <p:nvPr/>
        </p:nvSpPr>
        <p:spPr>
          <a:xfrm>
            <a:off x="182880" y="2221992"/>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8600" y="2249424"/>
            <a:ext cx="1737360" cy="310896"/>
          </a:xfrm>
          <a:prstGeom prst="rect">
            <a:avLst/>
          </a:prstGeom>
          <a:noFill/>
        </p:spPr>
        <p:txBody>
          <a:bodyPr wrap="square">
            <a:spAutoFit/>
          </a:bodyPr>
          <a:lstStyle/>
          <a:p>
            <a:pPr algn="l"/>
            <a:r>
              <a:rPr sz="1000" b="0" i="0">
                <a:solidFill>
                  <a:srgbClr val="FFFFFF"/>
                </a:solidFill>
              </a:rPr>
              <a:t>DIR A (D12 Arduino)</a:t>
            </a:r>
          </a:p>
        </p:txBody>
      </p:sp>
      <p:sp>
        <p:nvSpPr>
          <p:cNvPr id="29" name="Rectangle 28"/>
          <p:cNvSpPr/>
          <p:nvPr/>
        </p:nvSpPr>
        <p:spPr>
          <a:xfrm>
            <a:off x="2011680" y="2221992"/>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57400" y="2249424"/>
            <a:ext cx="1737360" cy="310896"/>
          </a:xfrm>
          <a:prstGeom prst="rect">
            <a:avLst/>
          </a:prstGeom>
          <a:noFill/>
        </p:spPr>
        <p:txBody>
          <a:bodyPr wrap="square">
            <a:spAutoFit/>
          </a:bodyPr>
          <a:lstStyle/>
          <a:p>
            <a:pPr algn="l"/>
            <a:r>
              <a:rPr sz="1000" b="0" i="0">
                <a:solidFill>
                  <a:srgbClr val="FFFFFF"/>
                </a:solidFill>
              </a:rPr>
              <a:t>MOTOR_LEFT_DIR</a:t>
            </a:r>
          </a:p>
        </p:txBody>
      </p:sp>
      <p:sp>
        <p:nvSpPr>
          <p:cNvPr id="31" name="Rectangle 30"/>
          <p:cNvSpPr/>
          <p:nvPr/>
        </p:nvSpPr>
        <p:spPr>
          <a:xfrm>
            <a:off x="3840480" y="2221992"/>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886200" y="2249424"/>
            <a:ext cx="1737360" cy="310896"/>
          </a:xfrm>
          <a:prstGeom prst="rect">
            <a:avLst/>
          </a:prstGeom>
          <a:noFill/>
        </p:spPr>
        <p:txBody>
          <a:bodyPr wrap="square">
            <a:spAutoFit/>
          </a:bodyPr>
          <a:lstStyle/>
          <a:p>
            <a:pPr algn="l"/>
            <a:r>
              <a:rPr sz="1000" b="0" i="0">
                <a:solidFill>
                  <a:srgbClr val="FFFFFF"/>
                </a:solidFill>
              </a:rPr>
              <a:t>MOTOR_LEFT_DIR</a:t>
            </a:r>
          </a:p>
        </p:txBody>
      </p:sp>
      <p:sp>
        <p:nvSpPr>
          <p:cNvPr id="33" name="Rectangle 32"/>
          <p:cNvSpPr/>
          <p:nvPr/>
        </p:nvSpPr>
        <p:spPr>
          <a:xfrm>
            <a:off x="5669280" y="2221992"/>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715000" y="2249424"/>
            <a:ext cx="731520" cy="310896"/>
          </a:xfrm>
          <a:prstGeom prst="rect">
            <a:avLst/>
          </a:prstGeom>
          <a:noFill/>
        </p:spPr>
        <p:txBody>
          <a:bodyPr wrap="square">
            <a:spAutoFit/>
          </a:bodyPr>
          <a:lstStyle/>
          <a:p>
            <a:pPr algn="l"/>
            <a:r>
              <a:rPr sz="1000" b="0" i="0">
                <a:solidFill>
                  <a:srgbClr val="FFFFFF"/>
                </a:solidFill>
              </a:rPr>
              <a:t>PD12</a:t>
            </a:r>
          </a:p>
        </p:txBody>
      </p:sp>
      <p:sp>
        <p:nvSpPr>
          <p:cNvPr id="35" name="Rectangle 34"/>
          <p:cNvSpPr/>
          <p:nvPr/>
        </p:nvSpPr>
        <p:spPr>
          <a:xfrm>
            <a:off x="6492240" y="2221992"/>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37960" y="2249424"/>
            <a:ext cx="1737360" cy="310896"/>
          </a:xfrm>
          <a:prstGeom prst="rect">
            <a:avLst/>
          </a:prstGeom>
          <a:noFill/>
        </p:spPr>
        <p:txBody>
          <a:bodyPr wrap="square">
            <a:spAutoFit/>
          </a:bodyPr>
          <a:lstStyle/>
          <a:p>
            <a:pPr algn="l"/>
            <a:r>
              <a:rPr sz="1000" b="0" i="0">
                <a:solidFill>
                  <a:srgbClr val="FFFFFF"/>
                </a:solidFill>
              </a:rPr>
              <a:t>Arduino D2</a:t>
            </a:r>
          </a:p>
        </p:txBody>
      </p:sp>
      <p:sp>
        <p:nvSpPr>
          <p:cNvPr id="37" name="Rectangle 36"/>
          <p:cNvSpPr/>
          <p:nvPr/>
        </p:nvSpPr>
        <p:spPr>
          <a:xfrm>
            <a:off x="182880" y="2532888"/>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28600" y="2560320"/>
            <a:ext cx="1737360" cy="310896"/>
          </a:xfrm>
          <a:prstGeom prst="rect">
            <a:avLst/>
          </a:prstGeom>
          <a:noFill/>
        </p:spPr>
        <p:txBody>
          <a:bodyPr wrap="square">
            <a:spAutoFit/>
          </a:bodyPr>
          <a:lstStyle/>
          <a:p>
            <a:pPr algn="l"/>
            <a:r>
              <a:rPr sz="1000" b="0" i="0">
                <a:solidFill>
                  <a:srgbClr val="FFFFFF"/>
                </a:solidFill>
              </a:rPr>
              <a:t>BRAKE A (D9 Arduino)</a:t>
            </a:r>
          </a:p>
        </p:txBody>
      </p:sp>
      <p:sp>
        <p:nvSpPr>
          <p:cNvPr id="39" name="Rectangle 38"/>
          <p:cNvSpPr/>
          <p:nvPr/>
        </p:nvSpPr>
        <p:spPr>
          <a:xfrm>
            <a:off x="2011680" y="2532888"/>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057400" y="2560320"/>
            <a:ext cx="1737360" cy="310896"/>
          </a:xfrm>
          <a:prstGeom prst="rect">
            <a:avLst/>
          </a:prstGeom>
          <a:noFill/>
        </p:spPr>
        <p:txBody>
          <a:bodyPr wrap="square">
            <a:spAutoFit/>
          </a:bodyPr>
          <a:lstStyle/>
          <a:p>
            <a:pPr algn="l"/>
            <a:r>
              <a:rPr sz="1000" b="0" i="0">
                <a:solidFill>
                  <a:srgbClr val="FFFFFF"/>
                </a:solidFill>
              </a:rPr>
              <a:t>MOTOR_LEFT_BRAKE</a:t>
            </a:r>
          </a:p>
        </p:txBody>
      </p:sp>
      <p:sp>
        <p:nvSpPr>
          <p:cNvPr id="41" name="Rectangle 40"/>
          <p:cNvSpPr/>
          <p:nvPr/>
        </p:nvSpPr>
        <p:spPr>
          <a:xfrm>
            <a:off x="3840480" y="2532888"/>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886200" y="2560320"/>
            <a:ext cx="1737360" cy="310896"/>
          </a:xfrm>
          <a:prstGeom prst="rect">
            <a:avLst/>
          </a:prstGeom>
          <a:noFill/>
        </p:spPr>
        <p:txBody>
          <a:bodyPr wrap="square">
            <a:spAutoFit/>
          </a:bodyPr>
          <a:lstStyle/>
          <a:p>
            <a:pPr algn="l"/>
            <a:r>
              <a:rPr sz="1000" b="0" i="0">
                <a:solidFill>
                  <a:srgbClr val="FFFFFF"/>
                </a:solidFill>
              </a:rPr>
              <a:t>MOTOR_LEFT_BRAKE</a:t>
            </a:r>
          </a:p>
        </p:txBody>
      </p:sp>
      <p:sp>
        <p:nvSpPr>
          <p:cNvPr id="43" name="Rectangle 42"/>
          <p:cNvSpPr/>
          <p:nvPr/>
        </p:nvSpPr>
        <p:spPr>
          <a:xfrm>
            <a:off x="5669280" y="2532888"/>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715000" y="2560320"/>
            <a:ext cx="731520" cy="310896"/>
          </a:xfrm>
          <a:prstGeom prst="rect">
            <a:avLst/>
          </a:prstGeom>
          <a:noFill/>
        </p:spPr>
        <p:txBody>
          <a:bodyPr wrap="square">
            <a:spAutoFit/>
          </a:bodyPr>
          <a:lstStyle/>
          <a:p>
            <a:pPr algn="l"/>
            <a:r>
              <a:rPr sz="1000" b="0" i="0">
                <a:solidFill>
                  <a:srgbClr val="FFFFFF"/>
                </a:solidFill>
              </a:rPr>
              <a:t>PD13</a:t>
            </a:r>
          </a:p>
        </p:txBody>
      </p:sp>
      <p:sp>
        <p:nvSpPr>
          <p:cNvPr id="45" name="Rectangle 44"/>
          <p:cNvSpPr/>
          <p:nvPr/>
        </p:nvSpPr>
        <p:spPr>
          <a:xfrm>
            <a:off x="6492240" y="2532888"/>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37960" y="2560320"/>
            <a:ext cx="1737360" cy="310896"/>
          </a:xfrm>
          <a:prstGeom prst="rect">
            <a:avLst/>
          </a:prstGeom>
          <a:noFill/>
        </p:spPr>
        <p:txBody>
          <a:bodyPr wrap="square">
            <a:spAutoFit/>
          </a:bodyPr>
          <a:lstStyle/>
          <a:p>
            <a:pPr algn="l"/>
            <a:r>
              <a:rPr sz="1000" b="0" i="0">
                <a:solidFill>
                  <a:srgbClr val="FFFFFF"/>
                </a:solidFill>
              </a:rPr>
              <a:t>Arduino D8</a:t>
            </a:r>
          </a:p>
        </p:txBody>
      </p:sp>
      <p:sp>
        <p:nvSpPr>
          <p:cNvPr id="47" name="Rectangle 46"/>
          <p:cNvSpPr/>
          <p:nvPr/>
        </p:nvSpPr>
        <p:spPr>
          <a:xfrm>
            <a:off x="182880" y="2843784"/>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28600" y="2871216"/>
            <a:ext cx="1737360" cy="310896"/>
          </a:xfrm>
          <a:prstGeom prst="rect">
            <a:avLst/>
          </a:prstGeom>
          <a:noFill/>
        </p:spPr>
        <p:txBody>
          <a:bodyPr wrap="square">
            <a:spAutoFit/>
          </a:bodyPr>
          <a:lstStyle/>
          <a:p>
            <a:pPr algn="l"/>
            <a:r>
              <a:rPr sz="1000" b="0" i="0">
                <a:solidFill>
                  <a:srgbClr val="FFFFFF"/>
                </a:solidFill>
              </a:rPr>
              <a:t>PWM B (D11 Arduino)</a:t>
            </a:r>
          </a:p>
        </p:txBody>
      </p:sp>
      <p:sp>
        <p:nvSpPr>
          <p:cNvPr id="49" name="Rectangle 48"/>
          <p:cNvSpPr/>
          <p:nvPr/>
        </p:nvSpPr>
        <p:spPr>
          <a:xfrm>
            <a:off x="2011680" y="2843784"/>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057400" y="2871216"/>
            <a:ext cx="1737360" cy="310896"/>
          </a:xfrm>
          <a:prstGeom prst="rect">
            <a:avLst/>
          </a:prstGeom>
          <a:noFill/>
        </p:spPr>
        <p:txBody>
          <a:bodyPr wrap="square">
            <a:spAutoFit/>
          </a:bodyPr>
          <a:lstStyle/>
          <a:p>
            <a:pPr algn="l"/>
            <a:r>
              <a:rPr sz="1000" b="0" i="0">
                <a:solidFill>
                  <a:srgbClr val="FFFFFF"/>
                </a:solidFill>
              </a:rPr>
              <a:t>MOTOR_RIGHT_PWM</a:t>
            </a:r>
          </a:p>
        </p:txBody>
      </p:sp>
      <p:sp>
        <p:nvSpPr>
          <p:cNvPr id="51" name="Rectangle 50"/>
          <p:cNvSpPr/>
          <p:nvPr/>
        </p:nvSpPr>
        <p:spPr>
          <a:xfrm>
            <a:off x="3840480" y="2843784"/>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886200" y="2871216"/>
            <a:ext cx="1737360" cy="310896"/>
          </a:xfrm>
          <a:prstGeom prst="rect">
            <a:avLst/>
          </a:prstGeom>
          <a:noFill/>
        </p:spPr>
        <p:txBody>
          <a:bodyPr wrap="square">
            <a:spAutoFit/>
          </a:bodyPr>
          <a:lstStyle/>
          <a:p>
            <a:pPr algn="l"/>
            <a:r>
              <a:rPr sz="1000" b="0" i="0">
                <a:solidFill>
                  <a:srgbClr val="FFFFFF"/>
                </a:solidFill>
              </a:rPr>
              <a:t>MOTOR_RIGHT_PWM</a:t>
            </a:r>
          </a:p>
        </p:txBody>
      </p:sp>
      <p:sp>
        <p:nvSpPr>
          <p:cNvPr id="53" name="Rectangle 52"/>
          <p:cNvSpPr/>
          <p:nvPr/>
        </p:nvSpPr>
        <p:spPr>
          <a:xfrm>
            <a:off x="5669280" y="2843784"/>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715000" y="2871216"/>
            <a:ext cx="731520" cy="310896"/>
          </a:xfrm>
          <a:prstGeom prst="rect">
            <a:avLst/>
          </a:prstGeom>
          <a:noFill/>
        </p:spPr>
        <p:txBody>
          <a:bodyPr wrap="square">
            <a:spAutoFit/>
          </a:bodyPr>
          <a:lstStyle/>
          <a:p>
            <a:pPr algn="l"/>
            <a:r>
              <a:rPr sz="1000" b="0" i="0">
                <a:solidFill>
                  <a:srgbClr val="FFFFFF"/>
                </a:solidFill>
              </a:rPr>
              <a:t>PE0</a:t>
            </a:r>
          </a:p>
        </p:txBody>
      </p:sp>
      <p:sp>
        <p:nvSpPr>
          <p:cNvPr id="55" name="Rectangle 54"/>
          <p:cNvSpPr/>
          <p:nvPr/>
        </p:nvSpPr>
        <p:spPr>
          <a:xfrm>
            <a:off x="6492240" y="2843784"/>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37960" y="2871216"/>
            <a:ext cx="1737360" cy="310896"/>
          </a:xfrm>
          <a:prstGeom prst="rect">
            <a:avLst/>
          </a:prstGeom>
          <a:noFill/>
        </p:spPr>
        <p:txBody>
          <a:bodyPr wrap="square">
            <a:spAutoFit/>
          </a:bodyPr>
          <a:lstStyle/>
          <a:p>
            <a:pPr algn="l"/>
            <a:r>
              <a:rPr sz="1000" b="0" i="0">
                <a:solidFill>
                  <a:srgbClr val="FFFFFF"/>
                </a:solidFill>
              </a:rPr>
              <a:t>Arduino D6</a:t>
            </a:r>
          </a:p>
        </p:txBody>
      </p:sp>
      <p:sp>
        <p:nvSpPr>
          <p:cNvPr id="57" name="Rectangle 56"/>
          <p:cNvSpPr/>
          <p:nvPr/>
        </p:nvSpPr>
        <p:spPr>
          <a:xfrm>
            <a:off x="182880" y="3154680"/>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28600" y="3182112"/>
            <a:ext cx="1737360" cy="310896"/>
          </a:xfrm>
          <a:prstGeom prst="rect">
            <a:avLst/>
          </a:prstGeom>
          <a:noFill/>
        </p:spPr>
        <p:txBody>
          <a:bodyPr wrap="square">
            <a:spAutoFit/>
          </a:bodyPr>
          <a:lstStyle/>
          <a:p>
            <a:pPr algn="l"/>
            <a:r>
              <a:rPr sz="1000" b="0" i="0">
                <a:solidFill>
                  <a:srgbClr val="FFFFFF"/>
                </a:solidFill>
              </a:rPr>
              <a:t>DIR B (D13 Arduino)</a:t>
            </a:r>
          </a:p>
        </p:txBody>
      </p:sp>
      <p:sp>
        <p:nvSpPr>
          <p:cNvPr id="59" name="Rectangle 58"/>
          <p:cNvSpPr/>
          <p:nvPr/>
        </p:nvSpPr>
        <p:spPr>
          <a:xfrm>
            <a:off x="2011680" y="3154680"/>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057400" y="3182112"/>
            <a:ext cx="1737360" cy="310896"/>
          </a:xfrm>
          <a:prstGeom prst="rect">
            <a:avLst/>
          </a:prstGeom>
          <a:noFill/>
        </p:spPr>
        <p:txBody>
          <a:bodyPr wrap="square">
            <a:spAutoFit/>
          </a:bodyPr>
          <a:lstStyle/>
          <a:p>
            <a:pPr algn="l"/>
            <a:r>
              <a:rPr sz="1000" b="0" i="0">
                <a:solidFill>
                  <a:srgbClr val="FFFFFF"/>
                </a:solidFill>
              </a:rPr>
              <a:t>MOTOR_RIGHT_DIR</a:t>
            </a:r>
          </a:p>
        </p:txBody>
      </p:sp>
      <p:sp>
        <p:nvSpPr>
          <p:cNvPr id="61" name="Rectangle 60"/>
          <p:cNvSpPr/>
          <p:nvPr/>
        </p:nvSpPr>
        <p:spPr>
          <a:xfrm>
            <a:off x="3840480" y="3154680"/>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886200" y="3182112"/>
            <a:ext cx="1737360" cy="310896"/>
          </a:xfrm>
          <a:prstGeom prst="rect">
            <a:avLst/>
          </a:prstGeom>
          <a:noFill/>
        </p:spPr>
        <p:txBody>
          <a:bodyPr wrap="square">
            <a:spAutoFit/>
          </a:bodyPr>
          <a:lstStyle/>
          <a:p>
            <a:pPr algn="l"/>
            <a:r>
              <a:rPr sz="1000" b="0" i="0">
                <a:solidFill>
                  <a:srgbClr val="FFFFFF"/>
                </a:solidFill>
              </a:rPr>
              <a:t>MOTOR_RIGHT_DIR</a:t>
            </a:r>
          </a:p>
        </p:txBody>
      </p:sp>
      <p:sp>
        <p:nvSpPr>
          <p:cNvPr id="63" name="Rectangle 62"/>
          <p:cNvSpPr/>
          <p:nvPr/>
        </p:nvSpPr>
        <p:spPr>
          <a:xfrm>
            <a:off x="5669280" y="3154680"/>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715000" y="3182112"/>
            <a:ext cx="731520" cy="310896"/>
          </a:xfrm>
          <a:prstGeom prst="rect">
            <a:avLst/>
          </a:prstGeom>
          <a:noFill/>
        </p:spPr>
        <p:txBody>
          <a:bodyPr wrap="square">
            <a:spAutoFit/>
          </a:bodyPr>
          <a:lstStyle/>
          <a:p>
            <a:pPr algn="l"/>
            <a:r>
              <a:rPr sz="1000" b="0" i="0">
                <a:solidFill>
                  <a:srgbClr val="FFFFFF"/>
                </a:solidFill>
              </a:rPr>
              <a:t>PE3</a:t>
            </a:r>
          </a:p>
        </p:txBody>
      </p:sp>
      <p:sp>
        <p:nvSpPr>
          <p:cNvPr id="65" name="Rectangle 64"/>
          <p:cNvSpPr/>
          <p:nvPr/>
        </p:nvSpPr>
        <p:spPr>
          <a:xfrm>
            <a:off x="6492240" y="3154680"/>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537960" y="3182112"/>
            <a:ext cx="1737360" cy="310896"/>
          </a:xfrm>
          <a:prstGeom prst="rect">
            <a:avLst/>
          </a:prstGeom>
          <a:noFill/>
        </p:spPr>
        <p:txBody>
          <a:bodyPr wrap="square">
            <a:spAutoFit/>
          </a:bodyPr>
          <a:lstStyle/>
          <a:p>
            <a:pPr algn="l"/>
            <a:r>
              <a:rPr sz="1000" b="0" i="0">
                <a:solidFill>
                  <a:srgbClr val="FFFFFF"/>
                </a:solidFill>
              </a:rPr>
              <a:t>Arduino D4</a:t>
            </a:r>
          </a:p>
        </p:txBody>
      </p:sp>
      <p:sp>
        <p:nvSpPr>
          <p:cNvPr id="67" name="Rectangle 66"/>
          <p:cNvSpPr/>
          <p:nvPr/>
        </p:nvSpPr>
        <p:spPr>
          <a:xfrm>
            <a:off x="182880" y="3465576"/>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28600" y="3493008"/>
            <a:ext cx="1737360" cy="310896"/>
          </a:xfrm>
          <a:prstGeom prst="rect">
            <a:avLst/>
          </a:prstGeom>
          <a:noFill/>
        </p:spPr>
        <p:txBody>
          <a:bodyPr wrap="square">
            <a:spAutoFit/>
          </a:bodyPr>
          <a:lstStyle/>
          <a:p>
            <a:pPr algn="l"/>
            <a:r>
              <a:rPr sz="1000" b="0" i="0">
                <a:solidFill>
                  <a:srgbClr val="FFFFFF"/>
                </a:solidFill>
              </a:rPr>
              <a:t>BRAKE B (D8 Arduino)</a:t>
            </a:r>
          </a:p>
        </p:txBody>
      </p:sp>
      <p:sp>
        <p:nvSpPr>
          <p:cNvPr id="69" name="Rectangle 68"/>
          <p:cNvSpPr/>
          <p:nvPr/>
        </p:nvSpPr>
        <p:spPr>
          <a:xfrm>
            <a:off x="2011680" y="3465576"/>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057400" y="3493008"/>
            <a:ext cx="1737360" cy="310896"/>
          </a:xfrm>
          <a:prstGeom prst="rect">
            <a:avLst/>
          </a:prstGeom>
          <a:noFill/>
        </p:spPr>
        <p:txBody>
          <a:bodyPr wrap="square">
            <a:spAutoFit/>
          </a:bodyPr>
          <a:lstStyle/>
          <a:p>
            <a:pPr algn="l"/>
            <a:r>
              <a:rPr sz="1000" b="0" i="0">
                <a:solidFill>
                  <a:srgbClr val="FFFFFF"/>
                </a:solidFill>
              </a:rPr>
              <a:t>MOTOR_RIGHT_BRAKE</a:t>
            </a:r>
          </a:p>
        </p:txBody>
      </p:sp>
      <p:sp>
        <p:nvSpPr>
          <p:cNvPr id="71" name="Rectangle 70"/>
          <p:cNvSpPr/>
          <p:nvPr/>
        </p:nvSpPr>
        <p:spPr>
          <a:xfrm>
            <a:off x="3840480" y="3465576"/>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886200" y="3493008"/>
            <a:ext cx="1737360" cy="310896"/>
          </a:xfrm>
          <a:prstGeom prst="rect">
            <a:avLst/>
          </a:prstGeom>
          <a:noFill/>
        </p:spPr>
        <p:txBody>
          <a:bodyPr wrap="square">
            <a:spAutoFit/>
          </a:bodyPr>
          <a:lstStyle/>
          <a:p>
            <a:pPr algn="l"/>
            <a:r>
              <a:rPr sz="1000" b="0" i="0">
                <a:solidFill>
                  <a:srgbClr val="FFFFFF"/>
                </a:solidFill>
              </a:rPr>
              <a:t>MOTOR_RIGHT_BRAKE</a:t>
            </a:r>
          </a:p>
        </p:txBody>
      </p:sp>
      <p:sp>
        <p:nvSpPr>
          <p:cNvPr id="73" name="Rectangle 72"/>
          <p:cNvSpPr/>
          <p:nvPr/>
        </p:nvSpPr>
        <p:spPr>
          <a:xfrm>
            <a:off x="5669280" y="3465576"/>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715000" y="3493008"/>
            <a:ext cx="731520" cy="310896"/>
          </a:xfrm>
          <a:prstGeom prst="rect">
            <a:avLst/>
          </a:prstGeom>
          <a:noFill/>
        </p:spPr>
        <p:txBody>
          <a:bodyPr wrap="square">
            <a:spAutoFit/>
          </a:bodyPr>
          <a:lstStyle/>
          <a:p>
            <a:pPr algn="l"/>
            <a:r>
              <a:rPr sz="1000" b="0" i="0">
                <a:solidFill>
                  <a:srgbClr val="FFFFFF"/>
                </a:solidFill>
              </a:rPr>
              <a:t>PB2</a:t>
            </a:r>
          </a:p>
        </p:txBody>
      </p:sp>
      <p:sp>
        <p:nvSpPr>
          <p:cNvPr id="75" name="Rectangle 74"/>
          <p:cNvSpPr/>
          <p:nvPr/>
        </p:nvSpPr>
        <p:spPr>
          <a:xfrm>
            <a:off x="6492240" y="3465576"/>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537960" y="3493008"/>
            <a:ext cx="1737360" cy="310896"/>
          </a:xfrm>
          <a:prstGeom prst="rect">
            <a:avLst/>
          </a:prstGeom>
          <a:noFill/>
        </p:spPr>
        <p:txBody>
          <a:bodyPr wrap="square">
            <a:spAutoFit/>
          </a:bodyPr>
          <a:lstStyle/>
          <a:p>
            <a:pPr algn="l"/>
            <a:r>
              <a:rPr sz="1000" b="0" i="0">
                <a:solidFill>
                  <a:srgbClr val="FFFFFF"/>
                </a:solidFill>
              </a:rPr>
              <a:t>Arduino D7</a:t>
            </a:r>
          </a:p>
        </p:txBody>
      </p:sp>
      <p:sp>
        <p:nvSpPr>
          <p:cNvPr id="77" name="Rectangle 76"/>
          <p:cNvSpPr/>
          <p:nvPr/>
        </p:nvSpPr>
        <p:spPr>
          <a:xfrm>
            <a:off x="182880" y="3776472"/>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228600" y="3803904"/>
            <a:ext cx="1737360" cy="310896"/>
          </a:xfrm>
          <a:prstGeom prst="rect">
            <a:avLst/>
          </a:prstGeom>
          <a:noFill/>
        </p:spPr>
        <p:txBody>
          <a:bodyPr wrap="square">
            <a:spAutoFit/>
          </a:bodyPr>
          <a:lstStyle/>
          <a:p>
            <a:pPr algn="l"/>
            <a:r>
              <a:rPr sz="1000" b="0" i="0">
                <a:solidFill>
                  <a:srgbClr val="FFFFFF"/>
                </a:solidFill>
              </a:rPr>
              <a:t>CS A (A0 Arduino)</a:t>
            </a:r>
          </a:p>
        </p:txBody>
      </p:sp>
      <p:sp>
        <p:nvSpPr>
          <p:cNvPr id="79" name="Rectangle 78"/>
          <p:cNvSpPr/>
          <p:nvPr/>
        </p:nvSpPr>
        <p:spPr>
          <a:xfrm>
            <a:off x="2011680" y="3776472"/>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057400" y="3803904"/>
            <a:ext cx="1737360" cy="310896"/>
          </a:xfrm>
          <a:prstGeom prst="rect">
            <a:avLst/>
          </a:prstGeom>
          <a:noFill/>
        </p:spPr>
        <p:txBody>
          <a:bodyPr wrap="square">
            <a:spAutoFit/>
          </a:bodyPr>
          <a:lstStyle/>
          <a:p>
            <a:pPr algn="l"/>
            <a:r>
              <a:rPr sz="1000" b="0" i="0">
                <a:solidFill>
                  <a:srgbClr val="FFFFFF"/>
                </a:solidFill>
              </a:rPr>
              <a:t>MOTOR_LEFT_CURRENT</a:t>
            </a:r>
          </a:p>
        </p:txBody>
      </p:sp>
      <p:sp>
        <p:nvSpPr>
          <p:cNvPr id="81" name="Rectangle 80"/>
          <p:cNvSpPr/>
          <p:nvPr/>
        </p:nvSpPr>
        <p:spPr>
          <a:xfrm>
            <a:off x="3840480" y="3776472"/>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886200" y="3803904"/>
            <a:ext cx="1737360" cy="310896"/>
          </a:xfrm>
          <a:prstGeom prst="rect">
            <a:avLst/>
          </a:prstGeom>
          <a:noFill/>
        </p:spPr>
        <p:txBody>
          <a:bodyPr wrap="square">
            <a:spAutoFit/>
          </a:bodyPr>
          <a:lstStyle/>
          <a:p>
            <a:pPr algn="l"/>
            <a:r>
              <a:rPr sz="1000" b="0" i="0">
                <a:solidFill>
                  <a:srgbClr val="FFFFFF"/>
                </a:solidFill>
              </a:rPr>
              <a:t>MOTOR_LEFT_CURRENT</a:t>
            </a:r>
          </a:p>
        </p:txBody>
      </p:sp>
      <p:sp>
        <p:nvSpPr>
          <p:cNvPr id="83" name="Rectangle 82"/>
          <p:cNvSpPr/>
          <p:nvPr/>
        </p:nvSpPr>
        <p:spPr>
          <a:xfrm>
            <a:off x="5669280" y="3776472"/>
            <a:ext cx="8229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5715000" y="3803904"/>
            <a:ext cx="731520" cy="310896"/>
          </a:xfrm>
          <a:prstGeom prst="rect">
            <a:avLst/>
          </a:prstGeom>
          <a:noFill/>
        </p:spPr>
        <p:txBody>
          <a:bodyPr wrap="square">
            <a:spAutoFit/>
          </a:bodyPr>
          <a:lstStyle/>
          <a:p>
            <a:pPr algn="l"/>
            <a:r>
              <a:rPr sz="1000" b="0" i="0">
                <a:solidFill>
                  <a:srgbClr val="FFFFFF"/>
                </a:solidFill>
              </a:rPr>
              <a:t>PA5</a:t>
            </a:r>
          </a:p>
        </p:txBody>
      </p:sp>
      <p:sp>
        <p:nvSpPr>
          <p:cNvPr id="85" name="Rectangle 84"/>
          <p:cNvSpPr/>
          <p:nvPr/>
        </p:nvSpPr>
        <p:spPr>
          <a:xfrm>
            <a:off x="6492240" y="3776472"/>
            <a:ext cx="182880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537960" y="3803904"/>
            <a:ext cx="1737360" cy="310896"/>
          </a:xfrm>
          <a:prstGeom prst="rect">
            <a:avLst/>
          </a:prstGeom>
          <a:noFill/>
        </p:spPr>
        <p:txBody>
          <a:bodyPr wrap="square">
            <a:spAutoFit/>
          </a:bodyPr>
          <a:lstStyle/>
          <a:p>
            <a:pPr algn="l"/>
            <a:r>
              <a:rPr sz="1000" b="0" i="0">
                <a:solidFill>
                  <a:srgbClr val="FFFFFF"/>
                </a:solidFill>
              </a:rPr>
              <a:t>Arduino A2</a:t>
            </a:r>
          </a:p>
        </p:txBody>
      </p:sp>
      <p:sp>
        <p:nvSpPr>
          <p:cNvPr id="87" name="Rectangle 86"/>
          <p:cNvSpPr/>
          <p:nvPr/>
        </p:nvSpPr>
        <p:spPr>
          <a:xfrm>
            <a:off x="182880" y="4087368"/>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228600" y="4114800"/>
            <a:ext cx="1737360" cy="310896"/>
          </a:xfrm>
          <a:prstGeom prst="rect">
            <a:avLst/>
          </a:prstGeom>
          <a:noFill/>
        </p:spPr>
        <p:txBody>
          <a:bodyPr wrap="square">
            <a:spAutoFit/>
          </a:bodyPr>
          <a:lstStyle/>
          <a:p>
            <a:pPr algn="l"/>
            <a:r>
              <a:rPr sz="1000" b="0" i="0">
                <a:solidFill>
                  <a:srgbClr val="FFFFFF"/>
                </a:solidFill>
              </a:rPr>
              <a:t>CS B (A1 Arduino)</a:t>
            </a:r>
          </a:p>
        </p:txBody>
      </p:sp>
      <p:sp>
        <p:nvSpPr>
          <p:cNvPr id="89" name="Rectangle 88"/>
          <p:cNvSpPr/>
          <p:nvPr/>
        </p:nvSpPr>
        <p:spPr>
          <a:xfrm>
            <a:off x="2011680" y="4087368"/>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2057400" y="4114800"/>
            <a:ext cx="1737360" cy="310896"/>
          </a:xfrm>
          <a:prstGeom prst="rect">
            <a:avLst/>
          </a:prstGeom>
          <a:noFill/>
        </p:spPr>
        <p:txBody>
          <a:bodyPr wrap="square">
            <a:spAutoFit/>
          </a:bodyPr>
          <a:lstStyle/>
          <a:p>
            <a:pPr algn="l"/>
            <a:r>
              <a:rPr sz="1000" b="0" i="0">
                <a:solidFill>
                  <a:srgbClr val="FFFFFF"/>
                </a:solidFill>
              </a:rPr>
              <a:t>MOTOR_RIGHT_CURRENT</a:t>
            </a:r>
          </a:p>
        </p:txBody>
      </p:sp>
      <p:sp>
        <p:nvSpPr>
          <p:cNvPr id="91" name="Rectangle 90"/>
          <p:cNvSpPr/>
          <p:nvPr/>
        </p:nvSpPr>
        <p:spPr>
          <a:xfrm>
            <a:off x="3840480" y="4087368"/>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3886200" y="4114800"/>
            <a:ext cx="1737360" cy="310896"/>
          </a:xfrm>
          <a:prstGeom prst="rect">
            <a:avLst/>
          </a:prstGeom>
          <a:noFill/>
        </p:spPr>
        <p:txBody>
          <a:bodyPr wrap="square">
            <a:spAutoFit/>
          </a:bodyPr>
          <a:lstStyle/>
          <a:p>
            <a:pPr algn="l"/>
            <a:r>
              <a:rPr sz="1000" b="0" i="0">
                <a:solidFill>
                  <a:srgbClr val="FFFFFF"/>
                </a:solidFill>
              </a:rPr>
              <a:t>MOTOR_RIGHT_CURRENT</a:t>
            </a:r>
          </a:p>
        </p:txBody>
      </p:sp>
      <p:sp>
        <p:nvSpPr>
          <p:cNvPr id="93" name="Rectangle 92"/>
          <p:cNvSpPr/>
          <p:nvPr/>
        </p:nvSpPr>
        <p:spPr>
          <a:xfrm>
            <a:off x="5669280" y="4087368"/>
            <a:ext cx="8229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715000" y="4114800"/>
            <a:ext cx="731520" cy="310896"/>
          </a:xfrm>
          <a:prstGeom prst="rect">
            <a:avLst/>
          </a:prstGeom>
          <a:noFill/>
        </p:spPr>
        <p:txBody>
          <a:bodyPr wrap="square">
            <a:spAutoFit/>
          </a:bodyPr>
          <a:lstStyle/>
          <a:p>
            <a:pPr algn="l"/>
            <a:r>
              <a:rPr sz="1000" b="0" i="0">
                <a:solidFill>
                  <a:srgbClr val="FFFFFF"/>
                </a:solidFill>
              </a:rPr>
              <a:t>PC3</a:t>
            </a:r>
          </a:p>
        </p:txBody>
      </p:sp>
      <p:sp>
        <p:nvSpPr>
          <p:cNvPr id="95" name="Rectangle 94"/>
          <p:cNvSpPr/>
          <p:nvPr/>
        </p:nvSpPr>
        <p:spPr>
          <a:xfrm>
            <a:off x="6492240" y="4087368"/>
            <a:ext cx="182880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6537960" y="4114800"/>
            <a:ext cx="1737360" cy="310896"/>
          </a:xfrm>
          <a:prstGeom prst="rect">
            <a:avLst/>
          </a:prstGeom>
          <a:noFill/>
        </p:spPr>
        <p:txBody>
          <a:bodyPr wrap="square">
            <a:spAutoFit/>
          </a:bodyPr>
          <a:lstStyle/>
          <a:p>
            <a:pPr algn="l"/>
            <a:r>
              <a:rPr sz="1000" b="0" i="0">
                <a:solidFill>
                  <a:srgbClr val="FFFFFF"/>
                </a:solidFill>
              </a:rPr>
              <a:t>Arduino A0</a:t>
            </a:r>
          </a:p>
        </p:txBody>
      </p:sp>
      <p:sp>
        <p:nvSpPr>
          <p:cNvPr id="97" name="Rectangle 96"/>
          <p:cNvSpPr/>
          <p:nvPr/>
        </p:nvSpPr>
        <p:spPr>
          <a:xfrm>
            <a:off x="8438606" y="1097280"/>
            <a:ext cx="457200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8511758" y="1115568"/>
            <a:ext cx="4480560" cy="347472"/>
          </a:xfrm>
          <a:prstGeom prst="rect">
            <a:avLst/>
          </a:prstGeom>
          <a:noFill/>
        </p:spPr>
        <p:txBody>
          <a:bodyPr wrap="square">
            <a:spAutoFit/>
          </a:bodyPr>
          <a:lstStyle/>
          <a:p>
            <a:pPr algn="l"/>
            <a:r>
              <a:rPr sz="1400" b="1" i="0">
                <a:solidFill>
                  <a:srgbClr val="FFD700"/>
                </a:solidFill>
              </a:rPr>
              <a:t>Alimentation Motor Shield</a:t>
            </a:r>
          </a:p>
        </p:txBody>
      </p:sp>
      <p:sp>
        <p:nvSpPr>
          <p:cNvPr id="99" name="Rectangle 98"/>
          <p:cNvSpPr/>
          <p:nvPr/>
        </p:nvSpPr>
        <p:spPr>
          <a:xfrm>
            <a:off x="8438606" y="1463040"/>
            <a:ext cx="4572000" cy="402336"/>
          </a:xfrm>
          <a:prstGeom prst="rect">
            <a:avLst/>
          </a:prstGeom>
          <a:solidFill>
            <a:srgbClr val="16213E"/>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8575766" y="1517904"/>
            <a:ext cx="4297680" cy="347472"/>
          </a:xfrm>
          <a:prstGeom prst="rect">
            <a:avLst/>
          </a:prstGeom>
          <a:noFill/>
        </p:spPr>
        <p:txBody>
          <a:bodyPr wrap="square">
            <a:spAutoFit/>
          </a:bodyPr>
          <a:lstStyle/>
          <a:p>
            <a:pPr algn="l"/>
            <a:r>
              <a:rPr sz="1100" b="0" i="0">
                <a:solidFill>
                  <a:srgbClr val="FF4444"/>
                </a:solidFill>
              </a:rPr>
              <a:t>Vs  (bornes +/−)  →  Batterie puissance 12 V</a:t>
            </a:r>
          </a:p>
        </p:txBody>
      </p:sp>
      <p:sp>
        <p:nvSpPr>
          <p:cNvPr id="101" name="Rectangle 100"/>
          <p:cNvSpPr/>
          <p:nvPr/>
        </p:nvSpPr>
        <p:spPr>
          <a:xfrm>
            <a:off x="8438606" y="1938528"/>
            <a:ext cx="4572000" cy="402336"/>
          </a:xfrm>
          <a:prstGeom prst="rect">
            <a:avLst/>
          </a:prstGeom>
          <a:solidFill>
            <a:srgbClr val="16213E"/>
          </a:solidFill>
          <a:ln w="1905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8575766" y="1993392"/>
            <a:ext cx="4297680" cy="347472"/>
          </a:xfrm>
          <a:prstGeom prst="rect">
            <a:avLst/>
          </a:prstGeom>
          <a:noFill/>
        </p:spPr>
        <p:txBody>
          <a:bodyPr wrap="square">
            <a:spAutoFit/>
          </a:bodyPr>
          <a:lstStyle/>
          <a:p>
            <a:pPr algn="l"/>
            <a:r>
              <a:rPr sz="1100" b="0" i="0">
                <a:solidFill>
                  <a:srgbClr val="FF8800"/>
                </a:solidFill>
              </a:rPr>
              <a:t>Vss (pin 5 V)  →  Batterie logique ou reg. 5 V</a:t>
            </a:r>
          </a:p>
        </p:txBody>
      </p:sp>
      <p:sp>
        <p:nvSpPr>
          <p:cNvPr id="103" name="Rectangle 102"/>
          <p:cNvSpPr/>
          <p:nvPr/>
        </p:nvSpPr>
        <p:spPr>
          <a:xfrm>
            <a:off x="8438606" y="2414016"/>
            <a:ext cx="4572000" cy="402336"/>
          </a:xfrm>
          <a:prstGeom prst="rect">
            <a:avLst/>
          </a:prstGeom>
          <a:solidFill>
            <a:srgbClr val="16213E"/>
          </a:solidFill>
          <a:ln w="1905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8575766" y="2468880"/>
            <a:ext cx="4297680" cy="347472"/>
          </a:xfrm>
          <a:prstGeom prst="rect">
            <a:avLst/>
          </a:prstGeom>
          <a:noFill/>
        </p:spPr>
        <p:txBody>
          <a:bodyPr wrap="square">
            <a:spAutoFit/>
          </a:bodyPr>
          <a:lstStyle/>
          <a:p>
            <a:pPr algn="l"/>
            <a:r>
              <a:rPr sz="1100" b="0" i="0">
                <a:solidFill>
                  <a:srgbClr val="AAAAAA"/>
                </a:solidFill>
              </a:rPr>
              <a:t>GND  →  Masse commune avec MB1292B</a:t>
            </a:r>
          </a:p>
        </p:txBody>
      </p:sp>
      <p:sp>
        <p:nvSpPr>
          <p:cNvPr id="105" name="TextBox 104"/>
          <p:cNvSpPr txBox="1"/>
          <p:nvPr/>
        </p:nvSpPr>
        <p:spPr>
          <a:xfrm>
            <a:off x="8438606" y="2971800"/>
            <a:ext cx="4572000" cy="457200"/>
          </a:xfrm>
          <a:prstGeom prst="rect">
            <a:avLst/>
          </a:prstGeom>
          <a:noFill/>
        </p:spPr>
        <p:txBody>
          <a:bodyPr wrap="square">
            <a:spAutoFit/>
          </a:bodyPr>
          <a:lstStyle/>
          <a:p>
            <a:pPr algn="l"/>
            <a:r>
              <a:rPr sz="1100" b="1" i="0">
                <a:solidFill>
                  <a:srgbClr val="FF4444"/>
                </a:solidFill>
              </a:rPr>
              <a:t>⚠  Masse commune obligatoire entre les deux rails d'alimentation</a:t>
            </a:r>
          </a:p>
        </p:txBody>
      </p:sp>
      <p:sp>
        <p:nvSpPr>
          <p:cNvPr id="106" name="Rectangle 105"/>
          <p:cNvSpPr/>
          <p:nvPr/>
        </p:nvSpPr>
        <p:spPr>
          <a:xfrm>
            <a:off x="8438606" y="3429000"/>
            <a:ext cx="457200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511758" y="3447288"/>
            <a:ext cx="4480560" cy="347472"/>
          </a:xfrm>
          <a:prstGeom prst="rect">
            <a:avLst/>
          </a:prstGeom>
          <a:noFill/>
        </p:spPr>
        <p:txBody>
          <a:bodyPr wrap="square">
            <a:spAutoFit/>
          </a:bodyPr>
          <a:lstStyle/>
          <a:p>
            <a:pPr algn="l"/>
            <a:r>
              <a:rPr sz="1400" b="1" i="0">
                <a:solidFill>
                  <a:srgbClr val="FFD700"/>
                </a:solidFill>
              </a:rPr>
              <a:t>Sorties moteurs (bornes à vis)</a:t>
            </a:r>
          </a:p>
        </p:txBody>
      </p:sp>
      <p:sp>
        <p:nvSpPr>
          <p:cNvPr id="108" name="TextBox 107"/>
          <p:cNvSpPr txBox="1"/>
          <p:nvPr/>
        </p:nvSpPr>
        <p:spPr>
          <a:xfrm>
            <a:off x="8530046" y="3794760"/>
            <a:ext cx="4389120" cy="384048"/>
          </a:xfrm>
          <a:prstGeom prst="rect">
            <a:avLst/>
          </a:prstGeom>
          <a:noFill/>
        </p:spPr>
        <p:txBody>
          <a:bodyPr wrap="square">
            <a:spAutoFit/>
          </a:bodyPr>
          <a:lstStyle/>
          <a:p>
            <a:pPr algn="l"/>
            <a:r>
              <a:rPr sz="1100" b="0" i="0">
                <a:solidFill>
                  <a:srgbClr val="FFFFFF"/>
                </a:solidFill>
              </a:rPr>
              <a:t>• MOTOR OUT A+ / A−  →  Moteur gauche (Borne + et −)</a:t>
            </a:r>
          </a:p>
        </p:txBody>
      </p:sp>
      <p:sp>
        <p:nvSpPr>
          <p:cNvPr id="109" name="TextBox 108"/>
          <p:cNvSpPr txBox="1"/>
          <p:nvPr/>
        </p:nvSpPr>
        <p:spPr>
          <a:xfrm>
            <a:off x="8530046" y="4178808"/>
            <a:ext cx="4389120" cy="384048"/>
          </a:xfrm>
          <a:prstGeom prst="rect">
            <a:avLst/>
          </a:prstGeom>
          <a:noFill/>
        </p:spPr>
        <p:txBody>
          <a:bodyPr wrap="square">
            <a:spAutoFit/>
          </a:bodyPr>
          <a:lstStyle/>
          <a:p>
            <a:pPr algn="l"/>
            <a:r>
              <a:rPr sz="1100" b="0" i="0">
                <a:solidFill>
                  <a:srgbClr val="FFFFFF"/>
                </a:solidFill>
              </a:rPr>
              <a:t>• MOTOR OUT B+ / B−  →  Moteur droit  (Borne + et −)</a:t>
            </a:r>
          </a:p>
        </p:txBody>
      </p:sp>
      <p:sp>
        <p:nvSpPr>
          <p:cNvPr id="110" name="TextBox 109"/>
          <p:cNvSpPr txBox="1"/>
          <p:nvPr/>
        </p:nvSpPr>
        <p:spPr>
          <a:xfrm>
            <a:off x="8438606" y="4800600"/>
            <a:ext cx="4663440" cy="1188720"/>
          </a:xfrm>
          <a:prstGeom prst="rect">
            <a:avLst/>
          </a:prstGeom>
          <a:noFill/>
        </p:spPr>
        <p:txBody>
          <a:bodyPr wrap="square">
            <a:spAutoFit/>
          </a:bodyPr>
          <a:lstStyle/>
          <a:p>
            <a:pPr algn="l"/>
            <a:r>
              <a:rPr sz="1100" b="0" i="1">
                <a:solidFill>
                  <a:srgbClr val="FFD700"/>
                </a:solidFill>
              </a:rPr>
              <a:t>Note : Le shield est câblé manuellement — il n'est PAS branché en plug-in sur la MB1292B.
Les numéros de broches Arduino du shield (D3, D12…) ne correspondent pas aux connecteurs de la MB1292B.
Utiliser le tableau ci-contre pour raccorder fil à fil.</a:t>
            </a:r>
          </a:p>
        </p:txBody>
      </p:sp>
      <p:sp>
        <p:nvSpPr>
          <p:cNvPr id="111" name="Rectangle 110"/>
          <p:cNvSpPr/>
          <p:nvPr/>
        </p:nvSpPr>
        <p:spPr>
          <a:xfrm>
            <a:off x="182880" y="5074920"/>
            <a:ext cx="6949440" cy="960120"/>
          </a:xfrm>
          <a:prstGeom prst="rect">
            <a:avLst/>
          </a:prstGeom>
          <a:solidFill>
            <a:srgbClr val="0D2A00"/>
          </a:solidFill>
          <a:ln w="1270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320040" y="5120640"/>
            <a:ext cx="6675120" cy="868680"/>
          </a:xfrm>
          <a:prstGeom prst="rect">
            <a:avLst/>
          </a:prstGeom>
          <a:noFill/>
        </p:spPr>
        <p:txBody>
          <a:bodyPr wrap="square">
            <a:spAutoFit/>
          </a:bodyPr>
          <a:lstStyle/>
          <a:p>
            <a:pPr algn="l"/>
            <a:r>
              <a:rPr sz="1100" b="0" i="0">
                <a:solidFill>
                  <a:srgbClr val="00DD88"/>
                </a:solidFill>
              </a:rPr>
              <a:t>Niveaux logiques :
  DIR = 0 → sens A  |  DIR = 1 → sens B
  BRAKE = 1 → frein actif (court-circuit bobines)  |  BRAKE = 0 → roue libre
  PWM : duty cycle 0–100 % contrôle la vitesse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Encodeurs — Câblage QEI</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2× Motoréducteur 29:1 — Encodeur 64 CPR — Résolution effective 1856 ticks/tour</a:t>
            </a:r>
          </a:p>
        </p:txBody>
      </p:sp>
      <p:sp>
        <p:nvSpPr>
          <p:cNvPr id="5" name="Rectangle 4"/>
          <p:cNvSpPr/>
          <p:nvPr/>
        </p:nvSpPr>
        <p:spPr>
          <a:xfrm>
            <a:off x="182880" y="1280160"/>
            <a:ext cx="557784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032" y="1298448"/>
            <a:ext cx="5486400" cy="347472"/>
          </a:xfrm>
          <a:prstGeom prst="rect">
            <a:avLst/>
          </a:prstGeom>
          <a:noFill/>
        </p:spPr>
        <p:txBody>
          <a:bodyPr wrap="square">
            <a:spAutoFit/>
          </a:bodyPr>
          <a:lstStyle/>
          <a:p>
            <a:pPr algn="l"/>
            <a:r>
              <a:rPr sz="1400" b="1" i="0">
                <a:solidFill>
                  <a:srgbClr val="FFD700"/>
                </a:solidFill>
              </a:rPr>
              <a:t>Encodeur GAUCHE  →  TIM1 (QEI mode)</a:t>
            </a:r>
          </a:p>
        </p:txBody>
      </p:sp>
      <p:sp>
        <p:nvSpPr>
          <p:cNvPr id="7" name="Rectangle 6"/>
          <p:cNvSpPr/>
          <p:nvPr/>
        </p:nvSpPr>
        <p:spPr>
          <a:xfrm>
            <a:off x="182880" y="1664208"/>
            <a:ext cx="246888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700784"/>
            <a:ext cx="2377440" cy="310896"/>
          </a:xfrm>
          <a:prstGeom prst="rect">
            <a:avLst/>
          </a:prstGeom>
          <a:noFill/>
        </p:spPr>
        <p:txBody>
          <a:bodyPr wrap="square">
            <a:spAutoFit/>
          </a:bodyPr>
          <a:lstStyle/>
          <a:p>
            <a:pPr algn="ctr"/>
            <a:r>
              <a:rPr sz="1100" b="1" i="0">
                <a:solidFill>
                  <a:srgbClr val="FFD700"/>
                </a:solidFill>
              </a:rPr>
              <a:t>Signal encodeur</a:t>
            </a:r>
          </a:p>
        </p:txBody>
      </p:sp>
      <p:sp>
        <p:nvSpPr>
          <p:cNvPr id="9" name="Rectangle 8"/>
          <p:cNvSpPr/>
          <p:nvPr/>
        </p:nvSpPr>
        <p:spPr>
          <a:xfrm>
            <a:off x="2651760" y="1664208"/>
            <a:ext cx="100584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97480" y="1700784"/>
            <a:ext cx="914400" cy="310896"/>
          </a:xfrm>
          <a:prstGeom prst="rect">
            <a:avLst/>
          </a:prstGeom>
          <a:noFill/>
        </p:spPr>
        <p:txBody>
          <a:bodyPr wrap="square">
            <a:spAutoFit/>
          </a:bodyPr>
          <a:lstStyle/>
          <a:p>
            <a:pPr algn="ctr"/>
            <a:r>
              <a:rPr sz="1100" b="1" i="0">
                <a:solidFill>
                  <a:srgbClr val="FFD700"/>
                </a:solidFill>
              </a:rPr>
              <a:t>Pin MB1292B</a:t>
            </a:r>
          </a:p>
        </p:txBody>
      </p:sp>
      <p:sp>
        <p:nvSpPr>
          <p:cNvPr id="11" name="Rectangle 10"/>
          <p:cNvSpPr/>
          <p:nvPr/>
        </p:nvSpPr>
        <p:spPr>
          <a:xfrm>
            <a:off x="3657600" y="1664208"/>
            <a:ext cx="109728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03320" y="1700784"/>
            <a:ext cx="1005840" cy="310896"/>
          </a:xfrm>
          <a:prstGeom prst="rect">
            <a:avLst/>
          </a:prstGeom>
          <a:noFill/>
        </p:spPr>
        <p:txBody>
          <a:bodyPr wrap="square">
            <a:spAutoFit/>
          </a:bodyPr>
          <a:lstStyle/>
          <a:p>
            <a:pPr algn="ctr"/>
            <a:r>
              <a:rPr sz="1100" b="1" i="0">
                <a:solidFill>
                  <a:srgbClr val="FFD700"/>
                </a:solidFill>
              </a:rPr>
              <a:t>Connecteur</a:t>
            </a:r>
          </a:p>
        </p:txBody>
      </p:sp>
      <p:sp>
        <p:nvSpPr>
          <p:cNvPr id="13" name="Rectangle 12"/>
          <p:cNvSpPr/>
          <p:nvPr/>
        </p:nvSpPr>
        <p:spPr>
          <a:xfrm>
            <a:off x="4754880" y="1664208"/>
            <a:ext cx="109728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0600" y="1700784"/>
            <a:ext cx="1005840" cy="310896"/>
          </a:xfrm>
          <a:prstGeom prst="rect">
            <a:avLst/>
          </a:prstGeom>
          <a:noFill/>
        </p:spPr>
        <p:txBody>
          <a:bodyPr wrap="square">
            <a:spAutoFit/>
          </a:bodyPr>
          <a:lstStyle/>
          <a:p>
            <a:pPr algn="ctr"/>
            <a:r>
              <a:rPr sz="1100" b="1" i="0">
                <a:solidFill>
                  <a:srgbClr val="FFD700"/>
                </a:solidFill>
              </a:rPr>
              <a:t>Timer</a:t>
            </a:r>
          </a:p>
        </p:txBody>
      </p:sp>
      <p:sp>
        <p:nvSpPr>
          <p:cNvPr id="15" name="Rectangle 14"/>
          <p:cNvSpPr/>
          <p:nvPr/>
        </p:nvSpPr>
        <p:spPr>
          <a:xfrm>
            <a:off x="182880" y="1975104"/>
            <a:ext cx="24688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8600" y="2002536"/>
            <a:ext cx="2377440" cy="310896"/>
          </a:xfrm>
          <a:prstGeom prst="rect">
            <a:avLst/>
          </a:prstGeom>
          <a:noFill/>
        </p:spPr>
        <p:txBody>
          <a:bodyPr wrap="square">
            <a:spAutoFit/>
          </a:bodyPr>
          <a:lstStyle/>
          <a:p>
            <a:pPr algn="l"/>
            <a:r>
              <a:rPr sz="1100" b="0" i="0">
                <a:solidFill>
                  <a:srgbClr val="FFFFFF"/>
                </a:solidFill>
              </a:rPr>
              <a:t>ENC_LEFT_CHA (voie A)</a:t>
            </a:r>
          </a:p>
        </p:txBody>
      </p:sp>
      <p:sp>
        <p:nvSpPr>
          <p:cNvPr id="17" name="Rectangle 16"/>
          <p:cNvSpPr/>
          <p:nvPr/>
        </p:nvSpPr>
        <p:spPr>
          <a:xfrm>
            <a:off x="2651760" y="1975104"/>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97480" y="2002536"/>
            <a:ext cx="914400" cy="310896"/>
          </a:xfrm>
          <a:prstGeom prst="rect">
            <a:avLst/>
          </a:prstGeom>
          <a:noFill/>
        </p:spPr>
        <p:txBody>
          <a:bodyPr wrap="square">
            <a:spAutoFit/>
          </a:bodyPr>
          <a:lstStyle/>
          <a:p>
            <a:pPr algn="l"/>
            <a:r>
              <a:rPr sz="1100" b="0" i="0">
                <a:solidFill>
                  <a:srgbClr val="FFFFFF"/>
                </a:solidFill>
              </a:rPr>
              <a:t>PD14</a:t>
            </a:r>
          </a:p>
        </p:txBody>
      </p:sp>
      <p:sp>
        <p:nvSpPr>
          <p:cNvPr id="19" name="Rectangle 18"/>
          <p:cNvSpPr/>
          <p:nvPr/>
        </p:nvSpPr>
        <p:spPr>
          <a:xfrm>
            <a:off x="3657600" y="1975104"/>
            <a:ext cx="10972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03320" y="2002536"/>
            <a:ext cx="1005840" cy="310896"/>
          </a:xfrm>
          <a:prstGeom prst="rect">
            <a:avLst/>
          </a:prstGeom>
          <a:noFill/>
        </p:spPr>
        <p:txBody>
          <a:bodyPr wrap="square">
            <a:spAutoFit/>
          </a:bodyPr>
          <a:lstStyle/>
          <a:p>
            <a:pPr algn="l"/>
            <a:r>
              <a:rPr sz="1100" b="0" i="0">
                <a:solidFill>
                  <a:srgbClr val="FFFFFF"/>
                </a:solidFill>
              </a:rPr>
              <a:t>Arduino D3</a:t>
            </a:r>
          </a:p>
        </p:txBody>
      </p:sp>
      <p:sp>
        <p:nvSpPr>
          <p:cNvPr id="21" name="Rectangle 20"/>
          <p:cNvSpPr/>
          <p:nvPr/>
        </p:nvSpPr>
        <p:spPr>
          <a:xfrm>
            <a:off x="4754880" y="1975104"/>
            <a:ext cx="10972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00600" y="2002536"/>
            <a:ext cx="1005840" cy="310896"/>
          </a:xfrm>
          <a:prstGeom prst="rect">
            <a:avLst/>
          </a:prstGeom>
          <a:noFill/>
        </p:spPr>
        <p:txBody>
          <a:bodyPr wrap="square">
            <a:spAutoFit/>
          </a:bodyPr>
          <a:lstStyle/>
          <a:p>
            <a:pPr algn="l"/>
            <a:r>
              <a:rPr sz="1100" b="0" i="0">
                <a:solidFill>
                  <a:srgbClr val="FFFFFF"/>
                </a:solidFill>
              </a:rPr>
              <a:t>TIM1_CH1</a:t>
            </a:r>
          </a:p>
        </p:txBody>
      </p:sp>
      <p:sp>
        <p:nvSpPr>
          <p:cNvPr id="23" name="Rectangle 22"/>
          <p:cNvSpPr/>
          <p:nvPr/>
        </p:nvSpPr>
        <p:spPr>
          <a:xfrm>
            <a:off x="182880" y="2286000"/>
            <a:ext cx="24688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8600" y="2313432"/>
            <a:ext cx="2377440" cy="310896"/>
          </a:xfrm>
          <a:prstGeom prst="rect">
            <a:avLst/>
          </a:prstGeom>
          <a:noFill/>
        </p:spPr>
        <p:txBody>
          <a:bodyPr wrap="square">
            <a:spAutoFit/>
          </a:bodyPr>
          <a:lstStyle/>
          <a:p>
            <a:pPr algn="l"/>
            <a:r>
              <a:rPr sz="1100" b="0" i="0">
                <a:solidFill>
                  <a:srgbClr val="FFFFFF"/>
                </a:solidFill>
              </a:rPr>
              <a:t>ENC_LEFT_CHB (voie B)</a:t>
            </a:r>
          </a:p>
        </p:txBody>
      </p:sp>
      <p:sp>
        <p:nvSpPr>
          <p:cNvPr id="25" name="Rectangle 24"/>
          <p:cNvSpPr/>
          <p:nvPr/>
        </p:nvSpPr>
        <p:spPr>
          <a:xfrm>
            <a:off x="2651760" y="2286000"/>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97480" y="2313432"/>
            <a:ext cx="914400" cy="310896"/>
          </a:xfrm>
          <a:prstGeom prst="rect">
            <a:avLst/>
          </a:prstGeom>
          <a:noFill/>
        </p:spPr>
        <p:txBody>
          <a:bodyPr wrap="square">
            <a:spAutoFit/>
          </a:bodyPr>
          <a:lstStyle/>
          <a:p>
            <a:pPr algn="l"/>
            <a:r>
              <a:rPr sz="1100" b="0" i="0">
                <a:solidFill>
                  <a:srgbClr val="FFFFFF"/>
                </a:solidFill>
              </a:rPr>
              <a:t>PD15</a:t>
            </a:r>
          </a:p>
        </p:txBody>
      </p:sp>
      <p:sp>
        <p:nvSpPr>
          <p:cNvPr id="27" name="Rectangle 26"/>
          <p:cNvSpPr/>
          <p:nvPr/>
        </p:nvSpPr>
        <p:spPr>
          <a:xfrm>
            <a:off x="3657600" y="2286000"/>
            <a:ext cx="10972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703320" y="2313432"/>
            <a:ext cx="1005840" cy="310896"/>
          </a:xfrm>
          <a:prstGeom prst="rect">
            <a:avLst/>
          </a:prstGeom>
          <a:noFill/>
        </p:spPr>
        <p:txBody>
          <a:bodyPr wrap="square">
            <a:spAutoFit/>
          </a:bodyPr>
          <a:lstStyle/>
          <a:p>
            <a:pPr algn="l"/>
            <a:r>
              <a:rPr sz="1100" b="0" i="0">
                <a:solidFill>
                  <a:srgbClr val="FFFFFF"/>
                </a:solidFill>
              </a:rPr>
              <a:t>Arduino D9</a:t>
            </a:r>
          </a:p>
        </p:txBody>
      </p:sp>
      <p:sp>
        <p:nvSpPr>
          <p:cNvPr id="29" name="Rectangle 28"/>
          <p:cNvSpPr/>
          <p:nvPr/>
        </p:nvSpPr>
        <p:spPr>
          <a:xfrm>
            <a:off x="4754880" y="2286000"/>
            <a:ext cx="10972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00600" y="2313432"/>
            <a:ext cx="1005840" cy="310896"/>
          </a:xfrm>
          <a:prstGeom prst="rect">
            <a:avLst/>
          </a:prstGeom>
          <a:noFill/>
        </p:spPr>
        <p:txBody>
          <a:bodyPr wrap="square">
            <a:spAutoFit/>
          </a:bodyPr>
          <a:lstStyle/>
          <a:p>
            <a:pPr algn="l"/>
            <a:r>
              <a:rPr sz="1100" b="0" i="0">
                <a:solidFill>
                  <a:srgbClr val="FFFFFF"/>
                </a:solidFill>
              </a:rPr>
              <a:t>TIM1_CH2</a:t>
            </a:r>
          </a:p>
        </p:txBody>
      </p:sp>
      <p:sp>
        <p:nvSpPr>
          <p:cNvPr id="31" name="Rectangle 30"/>
          <p:cNvSpPr/>
          <p:nvPr/>
        </p:nvSpPr>
        <p:spPr>
          <a:xfrm>
            <a:off x="182880" y="2596896"/>
            <a:ext cx="24688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28600" y="2624328"/>
            <a:ext cx="2377440" cy="310896"/>
          </a:xfrm>
          <a:prstGeom prst="rect">
            <a:avLst/>
          </a:prstGeom>
          <a:noFill/>
        </p:spPr>
        <p:txBody>
          <a:bodyPr wrap="square">
            <a:spAutoFit/>
          </a:bodyPr>
          <a:lstStyle/>
          <a:p>
            <a:pPr algn="l"/>
            <a:r>
              <a:rPr sz="1100" b="0" i="0">
                <a:solidFill>
                  <a:srgbClr val="FFFFFF"/>
                </a:solidFill>
              </a:rPr>
              <a:t>VCC  (3.3 V)</a:t>
            </a:r>
          </a:p>
        </p:txBody>
      </p:sp>
      <p:sp>
        <p:nvSpPr>
          <p:cNvPr id="33" name="Rectangle 32"/>
          <p:cNvSpPr/>
          <p:nvPr/>
        </p:nvSpPr>
        <p:spPr>
          <a:xfrm>
            <a:off x="2651760" y="2596896"/>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697480" y="2624328"/>
            <a:ext cx="914400" cy="310896"/>
          </a:xfrm>
          <a:prstGeom prst="rect">
            <a:avLst/>
          </a:prstGeom>
          <a:noFill/>
        </p:spPr>
        <p:txBody>
          <a:bodyPr wrap="square">
            <a:spAutoFit/>
          </a:bodyPr>
          <a:lstStyle/>
          <a:p>
            <a:pPr algn="l"/>
            <a:r>
              <a:rPr sz="1100" b="0" i="0">
                <a:solidFill>
                  <a:srgbClr val="FFFFFF"/>
                </a:solidFill>
              </a:rPr>
              <a:t>3.3 V</a:t>
            </a:r>
          </a:p>
        </p:txBody>
      </p:sp>
      <p:sp>
        <p:nvSpPr>
          <p:cNvPr id="35" name="Rectangle 34"/>
          <p:cNvSpPr/>
          <p:nvPr/>
        </p:nvSpPr>
        <p:spPr>
          <a:xfrm>
            <a:off x="3657600" y="2596896"/>
            <a:ext cx="10972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703320" y="2624328"/>
            <a:ext cx="1005840" cy="310896"/>
          </a:xfrm>
          <a:prstGeom prst="rect">
            <a:avLst/>
          </a:prstGeom>
          <a:noFill/>
        </p:spPr>
        <p:txBody>
          <a:bodyPr wrap="square">
            <a:spAutoFit/>
          </a:bodyPr>
          <a:lstStyle/>
          <a:p>
            <a:pPr algn="l"/>
            <a:r>
              <a:rPr sz="1100" b="0" i="0">
                <a:solidFill>
                  <a:srgbClr val="FFFFFF"/>
                </a:solidFill>
              </a:rPr>
              <a:t>Header 3V3</a:t>
            </a:r>
          </a:p>
        </p:txBody>
      </p:sp>
      <p:sp>
        <p:nvSpPr>
          <p:cNvPr id="37" name="Rectangle 36"/>
          <p:cNvSpPr/>
          <p:nvPr/>
        </p:nvSpPr>
        <p:spPr>
          <a:xfrm>
            <a:off x="4754880" y="2596896"/>
            <a:ext cx="10972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00600" y="2624328"/>
            <a:ext cx="1005840" cy="310896"/>
          </a:xfrm>
          <a:prstGeom prst="rect">
            <a:avLst/>
          </a:prstGeom>
          <a:noFill/>
        </p:spPr>
        <p:txBody>
          <a:bodyPr wrap="square">
            <a:spAutoFit/>
          </a:bodyPr>
          <a:lstStyle/>
          <a:p>
            <a:pPr algn="l"/>
            <a:r>
              <a:rPr sz="1100" b="0" i="0">
                <a:solidFill>
                  <a:srgbClr val="FFFFFF"/>
                </a:solidFill>
              </a:rPr>
              <a:t>—</a:t>
            </a:r>
          </a:p>
        </p:txBody>
      </p:sp>
      <p:sp>
        <p:nvSpPr>
          <p:cNvPr id="39" name="Rectangle 38"/>
          <p:cNvSpPr/>
          <p:nvPr/>
        </p:nvSpPr>
        <p:spPr>
          <a:xfrm>
            <a:off x="182880" y="2907792"/>
            <a:ext cx="24688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28600" y="2935224"/>
            <a:ext cx="2377440" cy="310896"/>
          </a:xfrm>
          <a:prstGeom prst="rect">
            <a:avLst/>
          </a:prstGeom>
          <a:noFill/>
        </p:spPr>
        <p:txBody>
          <a:bodyPr wrap="square">
            <a:spAutoFit/>
          </a:bodyPr>
          <a:lstStyle/>
          <a:p>
            <a:pPr algn="l"/>
            <a:r>
              <a:rPr sz="1100" b="0" i="0">
                <a:solidFill>
                  <a:srgbClr val="FFFFFF"/>
                </a:solidFill>
              </a:rPr>
              <a:t>GND</a:t>
            </a:r>
          </a:p>
        </p:txBody>
      </p:sp>
      <p:sp>
        <p:nvSpPr>
          <p:cNvPr id="41" name="Rectangle 40"/>
          <p:cNvSpPr/>
          <p:nvPr/>
        </p:nvSpPr>
        <p:spPr>
          <a:xfrm>
            <a:off x="2651760" y="2907792"/>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697480" y="2935224"/>
            <a:ext cx="914400" cy="310896"/>
          </a:xfrm>
          <a:prstGeom prst="rect">
            <a:avLst/>
          </a:prstGeom>
          <a:noFill/>
        </p:spPr>
        <p:txBody>
          <a:bodyPr wrap="square">
            <a:spAutoFit/>
          </a:bodyPr>
          <a:lstStyle/>
          <a:p>
            <a:pPr algn="l"/>
            <a:r>
              <a:rPr sz="1100" b="0" i="0">
                <a:solidFill>
                  <a:srgbClr val="FFFFFF"/>
                </a:solidFill>
              </a:rPr>
              <a:t>GND</a:t>
            </a:r>
          </a:p>
        </p:txBody>
      </p:sp>
      <p:sp>
        <p:nvSpPr>
          <p:cNvPr id="43" name="Rectangle 42"/>
          <p:cNvSpPr/>
          <p:nvPr/>
        </p:nvSpPr>
        <p:spPr>
          <a:xfrm>
            <a:off x="3657600" y="2907792"/>
            <a:ext cx="10972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703320" y="2935224"/>
            <a:ext cx="1005840" cy="310896"/>
          </a:xfrm>
          <a:prstGeom prst="rect">
            <a:avLst/>
          </a:prstGeom>
          <a:noFill/>
        </p:spPr>
        <p:txBody>
          <a:bodyPr wrap="square">
            <a:spAutoFit/>
          </a:bodyPr>
          <a:lstStyle/>
          <a:p>
            <a:pPr algn="l"/>
            <a:r>
              <a:rPr sz="1100" b="0" i="0">
                <a:solidFill>
                  <a:srgbClr val="FFFFFF"/>
                </a:solidFill>
              </a:rPr>
              <a:t>Header GND</a:t>
            </a:r>
          </a:p>
        </p:txBody>
      </p:sp>
      <p:sp>
        <p:nvSpPr>
          <p:cNvPr id="45" name="Rectangle 44"/>
          <p:cNvSpPr/>
          <p:nvPr/>
        </p:nvSpPr>
        <p:spPr>
          <a:xfrm>
            <a:off x="4754880" y="2907792"/>
            <a:ext cx="10972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00600" y="2935224"/>
            <a:ext cx="1005840" cy="310896"/>
          </a:xfrm>
          <a:prstGeom prst="rect">
            <a:avLst/>
          </a:prstGeom>
          <a:noFill/>
        </p:spPr>
        <p:txBody>
          <a:bodyPr wrap="square">
            <a:spAutoFit/>
          </a:bodyPr>
          <a:lstStyle/>
          <a:p>
            <a:pPr algn="l"/>
            <a:r>
              <a:rPr sz="1100" b="0" i="0">
                <a:solidFill>
                  <a:srgbClr val="FFFFFF"/>
                </a:solidFill>
              </a:rPr>
              <a:t>—</a:t>
            </a:r>
          </a:p>
        </p:txBody>
      </p:sp>
      <p:sp>
        <p:nvSpPr>
          <p:cNvPr id="47" name="Rectangle 46"/>
          <p:cNvSpPr/>
          <p:nvPr/>
        </p:nvSpPr>
        <p:spPr>
          <a:xfrm>
            <a:off x="6126480" y="1280160"/>
            <a:ext cx="576072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199632" y="1298448"/>
            <a:ext cx="5669280" cy="347472"/>
          </a:xfrm>
          <a:prstGeom prst="rect">
            <a:avLst/>
          </a:prstGeom>
          <a:noFill/>
        </p:spPr>
        <p:txBody>
          <a:bodyPr wrap="square">
            <a:spAutoFit/>
          </a:bodyPr>
          <a:lstStyle/>
          <a:p>
            <a:pPr algn="l"/>
            <a:r>
              <a:rPr sz="1400" b="1" i="0">
                <a:solidFill>
                  <a:srgbClr val="FFD700"/>
                </a:solidFill>
              </a:rPr>
              <a:t>Encodeur DROIT  →  TIM2 (QEI mode)</a:t>
            </a:r>
          </a:p>
        </p:txBody>
      </p:sp>
      <p:sp>
        <p:nvSpPr>
          <p:cNvPr id="49" name="Rectangle 48"/>
          <p:cNvSpPr/>
          <p:nvPr/>
        </p:nvSpPr>
        <p:spPr>
          <a:xfrm>
            <a:off x="6126480" y="1664208"/>
            <a:ext cx="246888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172200" y="1700784"/>
            <a:ext cx="2377440" cy="310896"/>
          </a:xfrm>
          <a:prstGeom prst="rect">
            <a:avLst/>
          </a:prstGeom>
          <a:noFill/>
        </p:spPr>
        <p:txBody>
          <a:bodyPr wrap="square">
            <a:spAutoFit/>
          </a:bodyPr>
          <a:lstStyle/>
          <a:p>
            <a:pPr algn="ctr"/>
            <a:r>
              <a:rPr sz="1100" b="1" i="0">
                <a:solidFill>
                  <a:srgbClr val="FFD700"/>
                </a:solidFill>
              </a:rPr>
              <a:t>Signal encodeur</a:t>
            </a:r>
          </a:p>
        </p:txBody>
      </p:sp>
      <p:sp>
        <p:nvSpPr>
          <p:cNvPr id="51" name="Rectangle 50"/>
          <p:cNvSpPr/>
          <p:nvPr/>
        </p:nvSpPr>
        <p:spPr>
          <a:xfrm>
            <a:off x="8595360" y="1664208"/>
            <a:ext cx="100584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641080" y="1700784"/>
            <a:ext cx="914400" cy="310896"/>
          </a:xfrm>
          <a:prstGeom prst="rect">
            <a:avLst/>
          </a:prstGeom>
          <a:noFill/>
        </p:spPr>
        <p:txBody>
          <a:bodyPr wrap="square">
            <a:spAutoFit/>
          </a:bodyPr>
          <a:lstStyle/>
          <a:p>
            <a:pPr algn="ctr"/>
            <a:r>
              <a:rPr sz="1100" b="1" i="0">
                <a:solidFill>
                  <a:srgbClr val="FFD700"/>
                </a:solidFill>
              </a:rPr>
              <a:t>Pin MB1292B</a:t>
            </a:r>
          </a:p>
        </p:txBody>
      </p:sp>
      <p:sp>
        <p:nvSpPr>
          <p:cNvPr id="53" name="Rectangle 52"/>
          <p:cNvSpPr/>
          <p:nvPr/>
        </p:nvSpPr>
        <p:spPr>
          <a:xfrm>
            <a:off x="9601200" y="1664208"/>
            <a:ext cx="128016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646920" y="1700784"/>
            <a:ext cx="1188720" cy="310896"/>
          </a:xfrm>
          <a:prstGeom prst="rect">
            <a:avLst/>
          </a:prstGeom>
          <a:noFill/>
        </p:spPr>
        <p:txBody>
          <a:bodyPr wrap="square">
            <a:spAutoFit/>
          </a:bodyPr>
          <a:lstStyle/>
          <a:p>
            <a:pPr algn="ctr"/>
            <a:r>
              <a:rPr sz="1100" b="1" i="0">
                <a:solidFill>
                  <a:srgbClr val="FFD700"/>
                </a:solidFill>
              </a:rPr>
              <a:t>Connecteur</a:t>
            </a:r>
          </a:p>
        </p:txBody>
      </p:sp>
      <p:sp>
        <p:nvSpPr>
          <p:cNvPr id="55" name="Rectangle 54"/>
          <p:cNvSpPr/>
          <p:nvPr/>
        </p:nvSpPr>
        <p:spPr>
          <a:xfrm>
            <a:off x="10881360" y="1664208"/>
            <a:ext cx="1097280" cy="310896"/>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927080" y="1700784"/>
            <a:ext cx="1005840" cy="310896"/>
          </a:xfrm>
          <a:prstGeom prst="rect">
            <a:avLst/>
          </a:prstGeom>
          <a:noFill/>
        </p:spPr>
        <p:txBody>
          <a:bodyPr wrap="square">
            <a:spAutoFit/>
          </a:bodyPr>
          <a:lstStyle/>
          <a:p>
            <a:pPr algn="ctr"/>
            <a:r>
              <a:rPr sz="1100" b="1" i="0">
                <a:solidFill>
                  <a:srgbClr val="FFD700"/>
                </a:solidFill>
              </a:rPr>
              <a:t>Timer</a:t>
            </a:r>
          </a:p>
        </p:txBody>
      </p:sp>
      <p:sp>
        <p:nvSpPr>
          <p:cNvPr id="57" name="Rectangle 56"/>
          <p:cNvSpPr/>
          <p:nvPr/>
        </p:nvSpPr>
        <p:spPr>
          <a:xfrm>
            <a:off x="6126480" y="1975104"/>
            <a:ext cx="24688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172200" y="2002536"/>
            <a:ext cx="2377440" cy="310896"/>
          </a:xfrm>
          <a:prstGeom prst="rect">
            <a:avLst/>
          </a:prstGeom>
          <a:noFill/>
        </p:spPr>
        <p:txBody>
          <a:bodyPr wrap="square">
            <a:spAutoFit/>
          </a:bodyPr>
          <a:lstStyle/>
          <a:p>
            <a:pPr algn="l"/>
            <a:r>
              <a:rPr sz="1100" b="0" i="0">
                <a:solidFill>
                  <a:srgbClr val="FFFFFF"/>
                </a:solidFill>
              </a:rPr>
              <a:t>ENC_RIGHT_CHA (voie A)</a:t>
            </a:r>
          </a:p>
        </p:txBody>
      </p:sp>
      <p:sp>
        <p:nvSpPr>
          <p:cNvPr id="59" name="Rectangle 58"/>
          <p:cNvSpPr/>
          <p:nvPr/>
        </p:nvSpPr>
        <p:spPr>
          <a:xfrm>
            <a:off x="8595360" y="1975104"/>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641080" y="2002536"/>
            <a:ext cx="914400" cy="310896"/>
          </a:xfrm>
          <a:prstGeom prst="rect">
            <a:avLst/>
          </a:prstGeom>
          <a:noFill/>
        </p:spPr>
        <p:txBody>
          <a:bodyPr wrap="square">
            <a:spAutoFit/>
          </a:bodyPr>
          <a:lstStyle/>
          <a:p>
            <a:pPr algn="l"/>
            <a:r>
              <a:rPr sz="1100" b="0" i="0">
                <a:solidFill>
                  <a:srgbClr val="FFFFFF"/>
                </a:solidFill>
              </a:rPr>
              <a:t>PA15</a:t>
            </a:r>
          </a:p>
        </p:txBody>
      </p:sp>
      <p:sp>
        <p:nvSpPr>
          <p:cNvPr id="61" name="Rectangle 60"/>
          <p:cNvSpPr/>
          <p:nvPr/>
        </p:nvSpPr>
        <p:spPr>
          <a:xfrm>
            <a:off x="9601200" y="1975104"/>
            <a:ext cx="12801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646920" y="2002536"/>
            <a:ext cx="1188720" cy="310896"/>
          </a:xfrm>
          <a:prstGeom prst="rect">
            <a:avLst/>
          </a:prstGeom>
          <a:noFill/>
        </p:spPr>
        <p:txBody>
          <a:bodyPr wrap="square">
            <a:spAutoFit/>
          </a:bodyPr>
          <a:lstStyle/>
          <a:p>
            <a:pPr algn="l"/>
            <a:r>
              <a:rPr sz="1100" b="0" i="0">
                <a:solidFill>
                  <a:srgbClr val="FFFFFF"/>
                </a:solidFill>
              </a:rPr>
              <a:t>STMod+ pin 14</a:t>
            </a:r>
          </a:p>
        </p:txBody>
      </p:sp>
      <p:sp>
        <p:nvSpPr>
          <p:cNvPr id="63" name="Rectangle 62"/>
          <p:cNvSpPr/>
          <p:nvPr/>
        </p:nvSpPr>
        <p:spPr>
          <a:xfrm>
            <a:off x="10881360" y="1975104"/>
            <a:ext cx="10972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927080" y="2002536"/>
            <a:ext cx="1005840" cy="310896"/>
          </a:xfrm>
          <a:prstGeom prst="rect">
            <a:avLst/>
          </a:prstGeom>
          <a:noFill/>
        </p:spPr>
        <p:txBody>
          <a:bodyPr wrap="square">
            <a:spAutoFit/>
          </a:bodyPr>
          <a:lstStyle/>
          <a:p>
            <a:pPr algn="l"/>
            <a:r>
              <a:rPr sz="1100" b="0" i="0">
                <a:solidFill>
                  <a:srgbClr val="FFFFFF"/>
                </a:solidFill>
              </a:rPr>
              <a:t>TIM2_CH1</a:t>
            </a:r>
          </a:p>
        </p:txBody>
      </p:sp>
      <p:sp>
        <p:nvSpPr>
          <p:cNvPr id="65" name="Rectangle 64"/>
          <p:cNvSpPr/>
          <p:nvPr/>
        </p:nvSpPr>
        <p:spPr>
          <a:xfrm>
            <a:off x="6126480" y="2286000"/>
            <a:ext cx="24688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172200" y="2313432"/>
            <a:ext cx="2377440" cy="310896"/>
          </a:xfrm>
          <a:prstGeom prst="rect">
            <a:avLst/>
          </a:prstGeom>
          <a:noFill/>
        </p:spPr>
        <p:txBody>
          <a:bodyPr wrap="square">
            <a:spAutoFit/>
          </a:bodyPr>
          <a:lstStyle/>
          <a:p>
            <a:pPr algn="l"/>
            <a:r>
              <a:rPr sz="1100" b="0" i="0">
                <a:solidFill>
                  <a:srgbClr val="FFFFFF"/>
                </a:solidFill>
              </a:rPr>
              <a:t>ENC_RIGHT_CHB (voie B)</a:t>
            </a:r>
          </a:p>
        </p:txBody>
      </p:sp>
      <p:sp>
        <p:nvSpPr>
          <p:cNvPr id="67" name="Rectangle 66"/>
          <p:cNvSpPr/>
          <p:nvPr/>
        </p:nvSpPr>
        <p:spPr>
          <a:xfrm>
            <a:off x="8595360" y="2286000"/>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641080" y="2313432"/>
            <a:ext cx="914400" cy="310896"/>
          </a:xfrm>
          <a:prstGeom prst="rect">
            <a:avLst/>
          </a:prstGeom>
          <a:noFill/>
        </p:spPr>
        <p:txBody>
          <a:bodyPr wrap="square">
            <a:spAutoFit/>
          </a:bodyPr>
          <a:lstStyle/>
          <a:p>
            <a:pPr algn="l"/>
            <a:r>
              <a:rPr sz="1100" b="0" i="0">
                <a:solidFill>
                  <a:srgbClr val="FFFFFF"/>
                </a:solidFill>
              </a:rPr>
              <a:t>PB3</a:t>
            </a:r>
          </a:p>
        </p:txBody>
      </p:sp>
      <p:sp>
        <p:nvSpPr>
          <p:cNvPr id="69" name="Rectangle 68"/>
          <p:cNvSpPr/>
          <p:nvPr/>
        </p:nvSpPr>
        <p:spPr>
          <a:xfrm>
            <a:off x="9601200" y="2286000"/>
            <a:ext cx="12801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646920" y="2313432"/>
            <a:ext cx="1188720" cy="310896"/>
          </a:xfrm>
          <a:prstGeom prst="rect">
            <a:avLst/>
          </a:prstGeom>
          <a:noFill/>
        </p:spPr>
        <p:txBody>
          <a:bodyPr wrap="square">
            <a:spAutoFit/>
          </a:bodyPr>
          <a:lstStyle/>
          <a:p>
            <a:pPr algn="l"/>
            <a:r>
              <a:rPr sz="1100" b="0" i="0">
                <a:solidFill>
                  <a:srgbClr val="FFFFFF"/>
                </a:solidFill>
              </a:rPr>
              <a:t>Direct ⚠ SWO</a:t>
            </a:r>
          </a:p>
        </p:txBody>
      </p:sp>
      <p:sp>
        <p:nvSpPr>
          <p:cNvPr id="71" name="Rectangle 70"/>
          <p:cNvSpPr/>
          <p:nvPr/>
        </p:nvSpPr>
        <p:spPr>
          <a:xfrm>
            <a:off x="10881360" y="2286000"/>
            <a:ext cx="10972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927080" y="2313432"/>
            <a:ext cx="1005840" cy="310896"/>
          </a:xfrm>
          <a:prstGeom prst="rect">
            <a:avLst/>
          </a:prstGeom>
          <a:noFill/>
        </p:spPr>
        <p:txBody>
          <a:bodyPr wrap="square">
            <a:spAutoFit/>
          </a:bodyPr>
          <a:lstStyle/>
          <a:p>
            <a:pPr algn="l"/>
            <a:r>
              <a:rPr sz="1100" b="0" i="0">
                <a:solidFill>
                  <a:srgbClr val="FFFFFF"/>
                </a:solidFill>
              </a:rPr>
              <a:t>TIM2_CH2</a:t>
            </a:r>
          </a:p>
        </p:txBody>
      </p:sp>
      <p:sp>
        <p:nvSpPr>
          <p:cNvPr id="73" name="Rectangle 72"/>
          <p:cNvSpPr/>
          <p:nvPr/>
        </p:nvSpPr>
        <p:spPr>
          <a:xfrm>
            <a:off x="6126480" y="2596896"/>
            <a:ext cx="24688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172200" y="2624328"/>
            <a:ext cx="2377440" cy="310896"/>
          </a:xfrm>
          <a:prstGeom prst="rect">
            <a:avLst/>
          </a:prstGeom>
          <a:noFill/>
        </p:spPr>
        <p:txBody>
          <a:bodyPr wrap="square">
            <a:spAutoFit/>
          </a:bodyPr>
          <a:lstStyle/>
          <a:p>
            <a:pPr algn="l"/>
            <a:r>
              <a:rPr sz="1100" b="0" i="0">
                <a:solidFill>
                  <a:srgbClr val="FFFFFF"/>
                </a:solidFill>
              </a:rPr>
              <a:t>VCC  (3.3 V)</a:t>
            </a:r>
          </a:p>
        </p:txBody>
      </p:sp>
      <p:sp>
        <p:nvSpPr>
          <p:cNvPr id="75" name="Rectangle 74"/>
          <p:cNvSpPr/>
          <p:nvPr/>
        </p:nvSpPr>
        <p:spPr>
          <a:xfrm>
            <a:off x="8595360" y="2596896"/>
            <a:ext cx="100584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641080" y="2624328"/>
            <a:ext cx="914400" cy="310896"/>
          </a:xfrm>
          <a:prstGeom prst="rect">
            <a:avLst/>
          </a:prstGeom>
          <a:noFill/>
        </p:spPr>
        <p:txBody>
          <a:bodyPr wrap="square">
            <a:spAutoFit/>
          </a:bodyPr>
          <a:lstStyle/>
          <a:p>
            <a:pPr algn="l"/>
            <a:r>
              <a:rPr sz="1100" b="0" i="0">
                <a:solidFill>
                  <a:srgbClr val="FFFFFF"/>
                </a:solidFill>
              </a:rPr>
              <a:t>3.3 V</a:t>
            </a:r>
          </a:p>
        </p:txBody>
      </p:sp>
      <p:sp>
        <p:nvSpPr>
          <p:cNvPr id="77" name="Rectangle 76"/>
          <p:cNvSpPr/>
          <p:nvPr/>
        </p:nvSpPr>
        <p:spPr>
          <a:xfrm>
            <a:off x="9601200" y="2596896"/>
            <a:ext cx="128016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646920" y="2624328"/>
            <a:ext cx="1188720" cy="310896"/>
          </a:xfrm>
          <a:prstGeom prst="rect">
            <a:avLst/>
          </a:prstGeom>
          <a:noFill/>
        </p:spPr>
        <p:txBody>
          <a:bodyPr wrap="square">
            <a:spAutoFit/>
          </a:bodyPr>
          <a:lstStyle/>
          <a:p>
            <a:pPr algn="l"/>
            <a:r>
              <a:rPr sz="1100" b="0" i="0">
                <a:solidFill>
                  <a:srgbClr val="FFFFFF"/>
                </a:solidFill>
              </a:rPr>
              <a:t>Header 3V3</a:t>
            </a:r>
          </a:p>
        </p:txBody>
      </p:sp>
      <p:sp>
        <p:nvSpPr>
          <p:cNvPr id="79" name="Rectangle 78"/>
          <p:cNvSpPr/>
          <p:nvPr/>
        </p:nvSpPr>
        <p:spPr>
          <a:xfrm>
            <a:off x="10881360" y="2596896"/>
            <a:ext cx="1097280" cy="310896"/>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0927080" y="2624328"/>
            <a:ext cx="1005840" cy="310896"/>
          </a:xfrm>
          <a:prstGeom prst="rect">
            <a:avLst/>
          </a:prstGeom>
          <a:noFill/>
        </p:spPr>
        <p:txBody>
          <a:bodyPr wrap="square">
            <a:spAutoFit/>
          </a:bodyPr>
          <a:lstStyle/>
          <a:p>
            <a:pPr algn="l"/>
            <a:r>
              <a:rPr sz="1100" b="0" i="0">
                <a:solidFill>
                  <a:srgbClr val="FFFFFF"/>
                </a:solidFill>
              </a:rPr>
              <a:t>—</a:t>
            </a:r>
          </a:p>
        </p:txBody>
      </p:sp>
      <p:sp>
        <p:nvSpPr>
          <p:cNvPr id="81" name="Rectangle 80"/>
          <p:cNvSpPr/>
          <p:nvPr/>
        </p:nvSpPr>
        <p:spPr>
          <a:xfrm>
            <a:off x="6126480" y="2907792"/>
            <a:ext cx="24688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172200" y="2935224"/>
            <a:ext cx="2377440" cy="310896"/>
          </a:xfrm>
          <a:prstGeom prst="rect">
            <a:avLst/>
          </a:prstGeom>
          <a:noFill/>
        </p:spPr>
        <p:txBody>
          <a:bodyPr wrap="square">
            <a:spAutoFit/>
          </a:bodyPr>
          <a:lstStyle/>
          <a:p>
            <a:pPr algn="l"/>
            <a:r>
              <a:rPr sz="1100" b="0" i="0">
                <a:solidFill>
                  <a:srgbClr val="FFFFFF"/>
                </a:solidFill>
              </a:rPr>
              <a:t>GND</a:t>
            </a:r>
          </a:p>
        </p:txBody>
      </p:sp>
      <p:sp>
        <p:nvSpPr>
          <p:cNvPr id="83" name="Rectangle 82"/>
          <p:cNvSpPr/>
          <p:nvPr/>
        </p:nvSpPr>
        <p:spPr>
          <a:xfrm>
            <a:off x="8595360" y="2907792"/>
            <a:ext cx="100584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641080" y="2935224"/>
            <a:ext cx="914400" cy="310896"/>
          </a:xfrm>
          <a:prstGeom prst="rect">
            <a:avLst/>
          </a:prstGeom>
          <a:noFill/>
        </p:spPr>
        <p:txBody>
          <a:bodyPr wrap="square">
            <a:spAutoFit/>
          </a:bodyPr>
          <a:lstStyle/>
          <a:p>
            <a:pPr algn="l"/>
            <a:r>
              <a:rPr sz="1100" b="0" i="0">
                <a:solidFill>
                  <a:srgbClr val="FFFFFF"/>
                </a:solidFill>
              </a:rPr>
              <a:t>GND</a:t>
            </a:r>
          </a:p>
        </p:txBody>
      </p:sp>
      <p:sp>
        <p:nvSpPr>
          <p:cNvPr id="85" name="Rectangle 84"/>
          <p:cNvSpPr/>
          <p:nvPr/>
        </p:nvSpPr>
        <p:spPr>
          <a:xfrm>
            <a:off x="9601200" y="2907792"/>
            <a:ext cx="128016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9646920" y="2935224"/>
            <a:ext cx="1188720" cy="310896"/>
          </a:xfrm>
          <a:prstGeom prst="rect">
            <a:avLst/>
          </a:prstGeom>
          <a:noFill/>
        </p:spPr>
        <p:txBody>
          <a:bodyPr wrap="square">
            <a:spAutoFit/>
          </a:bodyPr>
          <a:lstStyle/>
          <a:p>
            <a:pPr algn="l"/>
            <a:r>
              <a:rPr sz="1100" b="0" i="0">
                <a:solidFill>
                  <a:srgbClr val="FFFFFF"/>
                </a:solidFill>
              </a:rPr>
              <a:t>Header GND</a:t>
            </a:r>
          </a:p>
        </p:txBody>
      </p:sp>
      <p:sp>
        <p:nvSpPr>
          <p:cNvPr id="87" name="Rectangle 86"/>
          <p:cNvSpPr/>
          <p:nvPr/>
        </p:nvSpPr>
        <p:spPr>
          <a:xfrm>
            <a:off x="10881360" y="2907792"/>
            <a:ext cx="1097280" cy="310896"/>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10927080" y="2935224"/>
            <a:ext cx="1005840" cy="310896"/>
          </a:xfrm>
          <a:prstGeom prst="rect">
            <a:avLst/>
          </a:prstGeom>
          <a:noFill/>
        </p:spPr>
        <p:txBody>
          <a:bodyPr wrap="square">
            <a:spAutoFit/>
          </a:bodyPr>
          <a:lstStyle/>
          <a:p>
            <a:pPr algn="l"/>
            <a:r>
              <a:rPr sz="1100" b="0" i="0">
                <a:solidFill>
                  <a:srgbClr val="FFFFFF"/>
                </a:solidFill>
              </a:rPr>
              <a:t>—</a:t>
            </a:r>
          </a:p>
        </p:txBody>
      </p:sp>
      <p:sp>
        <p:nvSpPr>
          <p:cNvPr id="89" name="Rectangle 88"/>
          <p:cNvSpPr/>
          <p:nvPr/>
        </p:nvSpPr>
        <p:spPr>
          <a:xfrm>
            <a:off x="182880" y="3383280"/>
            <a:ext cx="11795760" cy="658368"/>
          </a:xfrm>
          <a:prstGeom prst="rect">
            <a:avLst/>
          </a:prstGeom>
          <a:solidFill>
            <a:srgbClr val="5C1C00"/>
          </a:solidFill>
          <a:ln w="1905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365760" y="3410712"/>
            <a:ext cx="11430000" cy="594360"/>
          </a:xfrm>
          <a:prstGeom prst="rect">
            <a:avLst/>
          </a:prstGeom>
          <a:noFill/>
        </p:spPr>
        <p:txBody>
          <a:bodyPr wrap="square">
            <a:spAutoFit/>
          </a:bodyPr>
          <a:lstStyle/>
          <a:p>
            <a:pPr algn="l"/>
            <a:r>
              <a:rPr sz="1100" b="1" i="0">
                <a:solidFill>
                  <a:srgbClr val="FF4444"/>
                </a:solidFill>
              </a:rPr>
              <a:t>⚠  PB3 est le pin SWO de JTAG. Dans le fichier .ioc CubeMX, modifier le signal de PB3 : SYS_JTDO-SWO  →  TIM2_CH2.
   Conséquence : le débogage par trace SWO (ITM) est désactivé. Utiliser USART1 (VCP) pour les traces de debug.</a:t>
            </a:r>
          </a:p>
        </p:txBody>
      </p:sp>
      <p:sp>
        <p:nvSpPr>
          <p:cNvPr id="91" name="Rectangle 90"/>
          <p:cNvSpPr/>
          <p:nvPr/>
        </p:nvSpPr>
        <p:spPr>
          <a:xfrm>
            <a:off x="182880" y="4114800"/>
            <a:ext cx="1179576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56032" y="4133088"/>
            <a:ext cx="11704320" cy="347472"/>
          </a:xfrm>
          <a:prstGeom prst="rect">
            <a:avLst/>
          </a:prstGeom>
          <a:noFill/>
        </p:spPr>
        <p:txBody>
          <a:bodyPr wrap="square">
            <a:spAutoFit/>
          </a:bodyPr>
          <a:lstStyle/>
          <a:p>
            <a:pPr algn="l"/>
            <a:r>
              <a:rPr sz="1400" b="1" i="0">
                <a:solidFill>
                  <a:srgbClr val="FFD700"/>
                </a:solidFill>
              </a:rPr>
              <a:t>Principe du mode QEI (Quadrature Encoder Interface)</a:t>
            </a:r>
          </a:p>
        </p:txBody>
      </p:sp>
      <p:sp>
        <p:nvSpPr>
          <p:cNvPr id="93" name="TextBox 92"/>
          <p:cNvSpPr txBox="1"/>
          <p:nvPr/>
        </p:nvSpPr>
        <p:spPr>
          <a:xfrm>
            <a:off x="274320" y="4480560"/>
            <a:ext cx="11612880" cy="1463040"/>
          </a:xfrm>
          <a:prstGeom prst="rect">
            <a:avLst/>
          </a:prstGeom>
          <a:noFill/>
        </p:spPr>
        <p:txBody>
          <a:bodyPr wrap="square">
            <a:spAutoFit/>
          </a:bodyPr>
          <a:lstStyle/>
          <a:p>
            <a:pPr algn="l"/>
            <a:r>
              <a:rPr sz="1200" b="0" i="0">
                <a:solidFill>
                  <a:srgbClr val="FFFFFF"/>
                </a:solidFill>
              </a:rPr>
              <a:t>TIM1 et TIM2 sont configurés en mode Encoder (SMS = 011). Les fronts de CHA et CHB sont détectés par le timer hardware — le registre TIMx_CNT reflète la position absolue sans interruption CPU.
Le sens de comptage dépend de la phase relative entre CHA et CHB. Inverser les deux fils d'un encodeur si le sens est incorrect dans le firmware.
TIM1 et TIM2 sont EXCLUSIVEMENT dédiés aux encodeurs — ne pas y affecter de PWM moteur.</a:t>
            </a:r>
          </a:p>
        </p:txBody>
      </p:sp>
      <p:sp>
        <p:nvSpPr>
          <p:cNvPr id="94" name="Rectangle 93"/>
          <p:cNvSpPr/>
          <p:nvPr/>
        </p:nvSpPr>
        <p:spPr>
          <a:xfrm>
            <a:off x="182880" y="5989320"/>
            <a:ext cx="11795760" cy="502920"/>
          </a:xfrm>
          <a:prstGeom prst="rect">
            <a:avLst/>
          </a:prstGeom>
          <a:solidFill>
            <a:srgbClr val="16213E"/>
          </a:solidFill>
          <a:ln w="1270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320040" y="6007608"/>
            <a:ext cx="11430000" cy="457200"/>
          </a:xfrm>
          <a:prstGeom prst="rect">
            <a:avLst/>
          </a:prstGeom>
          <a:noFill/>
        </p:spPr>
        <p:txBody>
          <a:bodyPr wrap="square">
            <a:spAutoFit/>
          </a:bodyPr>
          <a:lstStyle/>
          <a:p>
            <a:pPr algn="l"/>
            <a:r>
              <a:rPr sz="1100" b="0" i="0">
                <a:solidFill>
                  <a:srgbClr val="00DD88"/>
                </a:solidFill>
              </a:rPr>
              <a:t>Brochage typique encodeur 6 fils : M+  M−  VCC  GND  CHA  CHB   |   M+/M− → Motor Shield (bornes A ou B)   |   VCC → 3.3 V MB1292B   |   GND → GND commun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Récapitulatif — Connecteur Arduino Header</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Broches utilisées sur la MB1292B pour l'interface avec le Motor Shield et les encodeurs</a:t>
            </a:r>
          </a:p>
        </p:txBody>
      </p:sp>
      <p:sp>
        <p:nvSpPr>
          <p:cNvPr id="5" name="Rectangle 4"/>
          <p:cNvSpPr/>
          <p:nvPr/>
        </p:nvSpPr>
        <p:spPr>
          <a:xfrm>
            <a:off x="182880" y="1234440"/>
            <a:ext cx="804672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56032" y="1252728"/>
            <a:ext cx="7955280" cy="347472"/>
          </a:xfrm>
          <a:prstGeom prst="rect">
            <a:avLst/>
          </a:prstGeom>
          <a:noFill/>
        </p:spPr>
        <p:txBody>
          <a:bodyPr wrap="square">
            <a:spAutoFit/>
          </a:bodyPr>
          <a:lstStyle/>
          <a:p>
            <a:pPr algn="l"/>
            <a:r>
              <a:rPr sz="1400" b="1" i="0">
                <a:solidFill>
                  <a:srgbClr val="FFD700"/>
                </a:solidFill>
              </a:rPr>
              <a:t>Header Arduino de la MB1292B (Digital + Analog)</a:t>
            </a:r>
          </a:p>
        </p:txBody>
      </p:sp>
      <p:sp>
        <p:nvSpPr>
          <p:cNvPr id="7" name="Rectangle 6"/>
          <p:cNvSpPr/>
          <p:nvPr/>
        </p:nvSpPr>
        <p:spPr>
          <a:xfrm>
            <a:off x="182880" y="1600200"/>
            <a:ext cx="1097280" cy="320040"/>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636776"/>
            <a:ext cx="1005840" cy="320040"/>
          </a:xfrm>
          <a:prstGeom prst="rect">
            <a:avLst/>
          </a:prstGeom>
          <a:noFill/>
        </p:spPr>
        <p:txBody>
          <a:bodyPr wrap="square">
            <a:spAutoFit/>
          </a:bodyPr>
          <a:lstStyle/>
          <a:p>
            <a:pPr algn="ctr"/>
            <a:r>
              <a:rPr sz="1000" b="1" i="0">
                <a:solidFill>
                  <a:srgbClr val="FFD700"/>
                </a:solidFill>
              </a:rPr>
              <a:t>Pin Arduino</a:t>
            </a:r>
          </a:p>
        </p:txBody>
      </p:sp>
      <p:sp>
        <p:nvSpPr>
          <p:cNvPr id="9" name="Rectangle 8"/>
          <p:cNvSpPr/>
          <p:nvPr/>
        </p:nvSpPr>
        <p:spPr>
          <a:xfrm>
            <a:off x="1280160" y="1600200"/>
            <a:ext cx="914400" cy="320040"/>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5880" y="1636776"/>
            <a:ext cx="822960" cy="320040"/>
          </a:xfrm>
          <a:prstGeom prst="rect">
            <a:avLst/>
          </a:prstGeom>
          <a:noFill/>
        </p:spPr>
        <p:txBody>
          <a:bodyPr wrap="square">
            <a:spAutoFit/>
          </a:bodyPr>
          <a:lstStyle/>
          <a:p>
            <a:pPr algn="ctr"/>
            <a:r>
              <a:rPr sz="1000" b="1" i="0">
                <a:solidFill>
                  <a:srgbClr val="FFD700"/>
                </a:solidFill>
              </a:rPr>
              <a:t>Pin STM32</a:t>
            </a:r>
          </a:p>
        </p:txBody>
      </p:sp>
      <p:sp>
        <p:nvSpPr>
          <p:cNvPr id="11" name="Rectangle 10"/>
          <p:cNvSpPr/>
          <p:nvPr/>
        </p:nvSpPr>
        <p:spPr>
          <a:xfrm>
            <a:off x="2194560" y="1600200"/>
            <a:ext cx="2377440" cy="320040"/>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40280" y="1636776"/>
            <a:ext cx="2286000" cy="320040"/>
          </a:xfrm>
          <a:prstGeom prst="rect">
            <a:avLst/>
          </a:prstGeom>
          <a:noFill/>
        </p:spPr>
        <p:txBody>
          <a:bodyPr wrap="square">
            <a:spAutoFit/>
          </a:bodyPr>
          <a:lstStyle/>
          <a:p>
            <a:pPr algn="ctr"/>
            <a:r>
              <a:rPr sz="1000" b="1" i="0">
                <a:solidFill>
                  <a:srgbClr val="FFD700"/>
                </a:solidFill>
              </a:rPr>
              <a:t>Signal Projet</a:t>
            </a:r>
          </a:p>
        </p:txBody>
      </p:sp>
      <p:sp>
        <p:nvSpPr>
          <p:cNvPr id="13" name="Rectangle 12"/>
          <p:cNvSpPr/>
          <p:nvPr/>
        </p:nvSpPr>
        <p:spPr>
          <a:xfrm>
            <a:off x="4572000" y="1600200"/>
            <a:ext cx="1920240" cy="320040"/>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636776"/>
            <a:ext cx="1828800" cy="320040"/>
          </a:xfrm>
          <a:prstGeom prst="rect">
            <a:avLst/>
          </a:prstGeom>
          <a:noFill/>
        </p:spPr>
        <p:txBody>
          <a:bodyPr wrap="square">
            <a:spAutoFit/>
          </a:bodyPr>
          <a:lstStyle/>
          <a:p>
            <a:pPr algn="ctr"/>
            <a:r>
              <a:rPr sz="1000" b="1" i="0">
                <a:solidFill>
                  <a:srgbClr val="FFD700"/>
                </a:solidFill>
              </a:rPr>
              <a:t>Fonction</a:t>
            </a:r>
          </a:p>
        </p:txBody>
      </p:sp>
      <p:sp>
        <p:nvSpPr>
          <p:cNvPr id="15" name="Rectangle 14"/>
          <p:cNvSpPr/>
          <p:nvPr/>
        </p:nvSpPr>
        <p:spPr>
          <a:xfrm>
            <a:off x="6492240" y="1600200"/>
            <a:ext cx="2011680" cy="320040"/>
          </a:xfrm>
          <a:prstGeom prst="rect">
            <a:avLst/>
          </a:prstGeom>
          <a:solidFill>
            <a:srgbClr val="0F3C7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60" y="1636776"/>
            <a:ext cx="1920240" cy="320040"/>
          </a:xfrm>
          <a:prstGeom prst="rect">
            <a:avLst/>
          </a:prstGeom>
          <a:noFill/>
        </p:spPr>
        <p:txBody>
          <a:bodyPr wrap="square">
            <a:spAutoFit/>
          </a:bodyPr>
          <a:lstStyle/>
          <a:p>
            <a:pPr algn="ctr"/>
            <a:r>
              <a:rPr sz="1000" b="1" i="0">
                <a:solidFill>
                  <a:srgbClr val="FFD700"/>
                </a:solidFill>
              </a:rPr>
              <a:t>Destination</a:t>
            </a:r>
          </a:p>
        </p:txBody>
      </p:sp>
      <p:sp>
        <p:nvSpPr>
          <p:cNvPr id="17" name="Rectangle 16"/>
          <p:cNvSpPr/>
          <p:nvPr/>
        </p:nvSpPr>
        <p:spPr>
          <a:xfrm>
            <a:off x="182880" y="1920240"/>
            <a:ext cx="10972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1947672"/>
            <a:ext cx="1005840" cy="320040"/>
          </a:xfrm>
          <a:prstGeom prst="rect">
            <a:avLst/>
          </a:prstGeom>
          <a:noFill/>
        </p:spPr>
        <p:txBody>
          <a:bodyPr wrap="square">
            <a:spAutoFit/>
          </a:bodyPr>
          <a:lstStyle/>
          <a:p>
            <a:pPr algn="l"/>
            <a:r>
              <a:rPr sz="1000" b="0" i="0">
                <a:solidFill>
                  <a:srgbClr val="FFFFFF"/>
                </a:solidFill>
              </a:rPr>
              <a:t>A0</a:t>
            </a:r>
          </a:p>
        </p:txBody>
      </p:sp>
      <p:sp>
        <p:nvSpPr>
          <p:cNvPr id="19" name="Rectangle 18"/>
          <p:cNvSpPr/>
          <p:nvPr/>
        </p:nvSpPr>
        <p:spPr>
          <a:xfrm>
            <a:off x="1280160" y="1920240"/>
            <a:ext cx="91440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25880" y="1947672"/>
            <a:ext cx="822960" cy="320040"/>
          </a:xfrm>
          <a:prstGeom prst="rect">
            <a:avLst/>
          </a:prstGeom>
          <a:noFill/>
        </p:spPr>
        <p:txBody>
          <a:bodyPr wrap="square">
            <a:spAutoFit/>
          </a:bodyPr>
          <a:lstStyle/>
          <a:p>
            <a:pPr algn="l"/>
            <a:r>
              <a:rPr sz="1000" b="0" i="0">
                <a:solidFill>
                  <a:srgbClr val="FFFFFF"/>
                </a:solidFill>
              </a:rPr>
              <a:t>PC3</a:t>
            </a:r>
          </a:p>
        </p:txBody>
      </p:sp>
      <p:sp>
        <p:nvSpPr>
          <p:cNvPr id="21" name="Rectangle 20"/>
          <p:cNvSpPr/>
          <p:nvPr/>
        </p:nvSpPr>
        <p:spPr>
          <a:xfrm>
            <a:off x="2194560" y="1920240"/>
            <a:ext cx="23774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40280" y="1947672"/>
            <a:ext cx="2286000" cy="320040"/>
          </a:xfrm>
          <a:prstGeom prst="rect">
            <a:avLst/>
          </a:prstGeom>
          <a:noFill/>
        </p:spPr>
        <p:txBody>
          <a:bodyPr wrap="square">
            <a:spAutoFit/>
          </a:bodyPr>
          <a:lstStyle/>
          <a:p>
            <a:pPr algn="l"/>
            <a:r>
              <a:rPr sz="1000" b="0" i="0">
                <a:solidFill>
                  <a:srgbClr val="FFFFFF"/>
                </a:solidFill>
              </a:rPr>
              <a:t>MOTOR_RIGHT_CURRENT_SENSE</a:t>
            </a:r>
          </a:p>
        </p:txBody>
      </p:sp>
      <p:sp>
        <p:nvSpPr>
          <p:cNvPr id="23" name="Rectangle 22"/>
          <p:cNvSpPr/>
          <p:nvPr/>
        </p:nvSpPr>
        <p:spPr>
          <a:xfrm>
            <a:off x="4572000" y="1920240"/>
            <a:ext cx="19202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17720" y="1947672"/>
            <a:ext cx="1828800" cy="320040"/>
          </a:xfrm>
          <a:prstGeom prst="rect">
            <a:avLst/>
          </a:prstGeom>
          <a:noFill/>
        </p:spPr>
        <p:txBody>
          <a:bodyPr wrap="square">
            <a:spAutoFit/>
          </a:bodyPr>
          <a:lstStyle/>
          <a:p>
            <a:pPr algn="l"/>
            <a:r>
              <a:rPr sz="1000" b="0" i="0">
                <a:solidFill>
                  <a:srgbClr val="FFFFFF"/>
                </a:solidFill>
              </a:rPr>
              <a:t>ADC1_IN4  (entrée analog.)</a:t>
            </a:r>
          </a:p>
        </p:txBody>
      </p:sp>
      <p:sp>
        <p:nvSpPr>
          <p:cNvPr id="25" name="Rectangle 24"/>
          <p:cNvSpPr/>
          <p:nvPr/>
        </p:nvSpPr>
        <p:spPr>
          <a:xfrm>
            <a:off x="6492240" y="1920240"/>
            <a:ext cx="20116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37960" y="1947672"/>
            <a:ext cx="1920240" cy="320040"/>
          </a:xfrm>
          <a:prstGeom prst="rect">
            <a:avLst/>
          </a:prstGeom>
          <a:noFill/>
        </p:spPr>
        <p:txBody>
          <a:bodyPr wrap="square">
            <a:spAutoFit/>
          </a:bodyPr>
          <a:lstStyle/>
          <a:p>
            <a:pPr algn="l"/>
            <a:r>
              <a:rPr sz="1000" b="0" i="0">
                <a:solidFill>
                  <a:srgbClr val="FFFFFF"/>
                </a:solidFill>
              </a:rPr>
              <a:t>← Motor Shield CS B</a:t>
            </a:r>
          </a:p>
        </p:txBody>
      </p:sp>
      <p:sp>
        <p:nvSpPr>
          <p:cNvPr id="27" name="Rectangle 26"/>
          <p:cNvSpPr/>
          <p:nvPr/>
        </p:nvSpPr>
        <p:spPr>
          <a:xfrm>
            <a:off x="182880" y="2240280"/>
            <a:ext cx="10972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8600" y="2267712"/>
            <a:ext cx="1005840" cy="320040"/>
          </a:xfrm>
          <a:prstGeom prst="rect">
            <a:avLst/>
          </a:prstGeom>
          <a:noFill/>
        </p:spPr>
        <p:txBody>
          <a:bodyPr wrap="square">
            <a:spAutoFit/>
          </a:bodyPr>
          <a:lstStyle/>
          <a:p>
            <a:pPr algn="l"/>
            <a:r>
              <a:rPr sz="1000" b="0" i="0">
                <a:solidFill>
                  <a:srgbClr val="FFFFFF"/>
                </a:solidFill>
              </a:rPr>
              <a:t>A2</a:t>
            </a:r>
          </a:p>
        </p:txBody>
      </p:sp>
      <p:sp>
        <p:nvSpPr>
          <p:cNvPr id="29" name="Rectangle 28"/>
          <p:cNvSpPr/>
          <p:nvPr/>
        </p:nvSpPr>
        <p:spPr>
          <a:xfrm>
            <a:off x="1280160" y="2240280"/>
            <a:ext cx="91440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25880" y="2267712"/>
            <a:ext cx="822960" cy="320040"/>
          </a:xfrm>
          <a:prstGeom prst="rect">
            <a:avLst/>
          </a:prstGeom>
          <a:noFill/>
        </p:spPr>
        <p:txBody>
          <a:bodyPr wrap="square">
            <a:spAutoFit/>
          </a:bodyPr>
          <a:lstStyle/>
          <a:p>
            <a:pPr algn="l"/>
            <a:r>
              <a:rPr sz="1000" b="0" i="0">
                <a:solidFill>
                  <a:srgbClr val="FFFFFF"/>
                </a:solidFill>
              </a:rPr>
              <a:t>PA5</a:t>
            </a:r>
          </a:p>
        </p:txBody>
      </p:sp>
      <p:sp>
        <p:nvSpPr>
          <p:cNvPr id="31" name="Rectangle 30"/>
          <p:cNvSpPr/>
          <p:nvPr/>
        </p:nvSpPr>
        <p:spPr>
          <a:xfrm>
            <a:off x="2194560" y="2240280"/>
            <a:ext cx="23774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240280" y="2267712"/>
            <a:ext cx="2286000" cy="320040"/>
          </a:xfrm>
          <a:prstGeom prst="rect">
            <a:avLst/>
          </a:prstGeom>
          <a:noFill/>
        </p:spPr>
        <p:txBody>
          <a:bodyPr wrap="square">
            <a:spAutoFit/>
          </a:bodyPr>
          <a:lstStyle/>
          <a:p>
            <a:pPr algn="l"/>
            <a:r>
              <a:rPr sz="1000" b="0" i="0">
                <a:solidFill>
                  <a:srgbClr val="FFFFFF"/>
                </a:solidFill>
              </a:rPr>
              <a:t>MOTOR_LEFT_CURRENT_SENSE</a:t>
            </a:r>
          </a:p>
        </p:txBody>
      </p:sp>
      <p:sp>
        <p:nvSpPr>
          <p:cNvPr id="33" name="Rectangle 32"/>
          <p:cNvSpPr/>
          <p:nvPr/>
        </p:nvSpPr>
        <p:spPr>
          <a:xfrm>
            <a:off x="4572000" y="2240280"/>
            <a:ext cx="19202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2267712"/>
            <a:ext cx="1828800" cy="320040"/>
          </a:xfrm>
          <a:prstGeom prst="rect">
            <a:avLst/>
          </a:prstGeom>
          <a:noFill/>
        </p:spPr>
        <p:txBody>
          <a:bodyPr wrap="square">
            <a:spAutoFit/>
          </a:bodyPr>
          <a:lstStyle/>
          <a:p>
            <a:pPr algn="l"/>
            <a:r>
              <a:rPr sz="1000" b="0" i="0">
                <a:solidFill>
                  <a:srgbClr val="FFFFFF"/>
                </a:solidFill>
              </a:rPr>
              <a:t>ADC1_IN10 (entrée analog.)</a:t>
            </a:r>
          </a:p>
        </p:txBody>
      </p:sp>
      <p:sp>
        <p:nvSpPr>
          <p:cNvPr id="35" name="Rectangle 34"/>
          <p:cNvSpPr/>
          <p:nvPr/>
        </p:nvSpPr>
        <p:spPr>
          <a:xfrm>
            <a:off x="6492240" y="2240280"/>
            <a:ext cx="20116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37960" y="2267712"/>
            <a:ext cx="1920240" cy="320040"/>
          </a:xfrm>
          <a:prstGeom prst="rect">
            <a:avLst/>
          </a:prstGeom>
          <a:noFill/>
        </p:spPr>
        <p:txBody>
          <a:bodyPr wrap="square">
            <a:spAutoFit/>
          </a:bodyPr>
          <a:lstStyle/>
          <a:p>
            <a:pPr algn="l"/>
            <a:r>
              <a:rPr sz="1000" b="0" i="0">
                <a:solidFill>
                  <a:srgbClr val="FFFFFF"/>
                </a:solidFill>
              </a:rPr>
              <a:t>← Motor Shield CS A</a:t>
            </a:r>
          </a:p>
        </p:txBody>
      </p:sp>
      <p:sp>
        <p:nvSpPr>
          <p:cNvPr id="37" name="Rectangle 36"/>
          <p:cNvSpPr/>
          <p:nvPr/>
        </p:nvSpPr>
        <p:spPr>
          <a:xfrm>
            <a:off x="182880" y="2560320"/>
            <a:ext cx="10972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28600" y="2587752"/>
            <a:ext cx="1005840" cy="320040"/>
          </a:xfrm>
          <a:prstGeom prst="rect">
            <a:avLst/>
          </a:prstGeom>
          <a:noFill/>
        </p:spPr>
        <p:txBody>
          <a:bodyPr wrap="square">
            <a:spAutoFit/>
          </a:bodyPr>
          <a:lstStyle/>
          <a:p>
            <a:pPr algn="l"/>
            <a:r>
              <a:rPr sz="1000" b="0" i="0">
                <a:solidFill>
                  <a:srgbClr val="FFFFFF"/>
                </a:solidFill>
              </a:rPr>
              <a:t>A3</a:t>
            </a:r>
          </a:p>
        </p:txBody>
      </p:sp>
      <p:sp>
        <p:nvSpPr>
          <p:cNvPr id="39" name="Rectangle 38"/>
          <p:cNvSpPr/>
          <p:nvPr/>
        </p:nvSpPr>
        <p:spPr>
          <a:xfrm>
            <a:off x="1280160" y="2560320"/>
            <a:ext cx="91440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325880" y="2587752"/>
            <a:ext cx="822960" cy="320040"/>
          </a:xfrm>
          <a:prstGeom prst="rect">
            <a:avLst/>
          </a:prstGeom>
          <a:noFill/>
        </p:spPr>
        <p:txBody>
          <a:bodyPr wrap="square">
            <a:spAutoFit/>
          </a:bodyPr>
          <a:lstStyle/>
          <a:p>
            <a:pPr algn="l"/>
            <a:r>
              <a:rPr sz="1000" b="0" i="0">
                <a:solidFill>
                  <a:srgbClr val="FFFFFF"/>
                </a:solidFill>
              </a:rPr>
              <a:t>PC1</a:t>
            </a:r>
          </a:p>
        </p:txBody>
      </p:sp>
      <p:sp>
        <p:nvSpPr>
          <p:cNvPr id="41" name="Rectangle 40"/>
          <p:cNvSpPr/>
          <p:nvPr/>
        </p:nvSpPr>
        <p:spPr>
          <a:xfrm>
            <a:off x="2194560" y="2560320"/>
            <a:ext cx="23774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240280" y="2587752"/>
            <a:ext cx="2286000" cy="320040"/>
          </a:xfrm>
          <a:prstGeom prst="rect">
            <a:avLst/>
          </a:prstGeom>
          <a:noFill/>
        </p:spPr>
        <p:txBody>
          <a:bodyPr wrap="square">
            <a:spAutoFit/>
          </a:bodyPr>
          <a:lstStyle/>
          <a:p>
            <a:pPr algn="l"/>
            <a:r>
              <a:rPr sz="1000" b="0" i="0">
                <a:solidFill>
                  <a:srgbClr val="FFFFFF"/>
                </a:solidFill>
              </a:rPr>
              <a:t>MOTOR_LEFT_PWM</a:t>
            </a:r>
          </a:p>
        </p:txBody>
      </p:sp>
      <p:sp>
        <p:nvSpPr>
          <p:cNvPr id="43" name="Rectangle 42"/>
          <p:cNvSpPr/>
          <p:nvPr/>
        </p:nvSpPr>
        <p:spPr>
          <a:xfrm>
            <a:off x="4572000" y="2560320"/>
            <a:ext cx="19202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617720" y="2587752"/>
            <a:ext cx="1828800" cy="320040"/>
          </a:xfrm>
          <a:prstGeom prst="rect">
            <a:avLst/>
          </a:prstGeom>
          <a:noFill/>
        </p:spPr>
        <p:txBody>
          <a:bodyPr wrap="square">
            <a:spAutoFit/>
          </a:bodyPr>
          <a:lstStyle/>
          <a:p>
            <a:pPr algn="l"/>
            <a:r>
              <a:rPr sz="1000" b="0" i="0">
                <a:solidFill>
                  <a:srgbClr val="FFFFFF"/>
                </a:solidFill>
              </a:rPr>
              <a:t>LPTIM1_OUT 20 kHz (PWM)</a:t>
            </a:r>
          </a:p>
        </p:txBody>
      </p:sp>
      <p:sp>
        <p:nvSpPr>
          <p:cNvPr id="45" name="Rectangle 44"/>
          <p:cNvSpPr/>
          <p:nvPr/>
        </p:nvSpPr>
        <p:spPr>
          <a:xfrm>
            <a:off x="6492240" y="2560320"/>
            <a:ext cx="20116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37960" y="2587752"/>
            <a:ext cx="1920240" cy="320040"/>
          </a:xfrm>
          <a:prstGeom prst="rect">
            <a:avLst/>
          </a:prstGeom>
          <a:noFill/>
        </p:spPr>
        <p:txBody>
          <a:bodyPr wrap="square">
            <a:spAutoFit/>
          </a:bodyPr>
          <a:lstStyle/>
          <a:p>
            <a:pPr algn="l"/>
            <a:r>
              <a:rPr sz="1000" b="0" i="0">
                <a:solidFill>
                  <a:srgbClr val="FFFFFF"/>
                </a:solidFill>
              </a:rPr>
              <a:t>→ Motor Shield PWM A</a:t>
            </a:r>
          </a:p>
        </p:txBody>
      </p:sp>
      <p:sp>
        <p:nvSpPr>
          <p:cNvPr id="47" name="Rectangle 46"/>
          <p:cNvSpPr/>
          <p:nvPr/>
        </p:nvSpPr>
        <p:spPr>
          <a:xfrm>
            <a:off x="182880" y="2880360"/>
            <a:ext cx="10972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28600" y="2907792"/>
            <a:ext cx="1005840" cy="320040"/>
          </a:xfrm>
          <a:prstGeom prst="rect">
            <a:avLst/>
          </a:prstGeom>
          <a:noFill/>
        </p:spPr>
        <p:txBody>
          <a:bodyPr wrap="square">
            <a:spAutoFit/>
          </a:bodyPr>
          <a:lstStyle/>
          <a:p>
            <a:pPr algn="l"/>
            <a:r>
              <a:rPr sz="1000" b="0" i="0">
                <a:solidFill>
                  <a:srgbClr val="FFFFFF"/>
                </a:solidFill>
              </a:rPr>
              <a:t>D2</a:t>
            </a:r>
          </a:p>
        </p:txBody>
      </p:sp>
      <p:sp>
        <p:nvSpPr>
          <p:cNvPr id="49" name="Rectangle 48"/>
          <p:cNvSpPr/>
          <p:nvPr/>
        </p:nvSpPr>
        <p:spPr>
          <a:xfrm>
            <a:off x="1280160" y="2880360"/>
            <a:ext cx="91440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325880" y="2907792"/>
            <a:ext cx="822960" cy="320040"/>
          </a:xfrm>
          <a:prstGeom prst="rect">
            <a:avLst/>
          </a:prstGeom>
          <a:noFill/>
        </p:spPr>
        <p:txBody>
          <a:bodyPr wrap="square">
            <a:spAutoFit/>
          </a:bodyPr>
          <a:lstStyle/>
          <a:p>
            <a:pPr algn="l"/>
            <a:r>
              <a:rPr sz="1000" b="0" i="0">
                <a:solidFill>
                  <a:srgbClr val="FFFFFF"/>
                </a:solidFill>
              </a:rPr>
              <a:t>PD12</a:t>
            </a:r>
          </a:p>
        </p:txBody>
      </p:sp>
      <p:sp>
        <p:nvSpPr>
          <p:cNvPr id="51" name="Rectangle 50"/>
          <p:cNvSpPr/>
          <p:nvPr/>
        </p:nvSpPr>
        <p:spPr>
          <a:xfrm>
            <a:off x="2194560" y="2880360"/>
            <a:ext cx="23774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240280" y="2907792"/>
            <a:ext cx="2286000" cy="320040"/>
          </a:xfrm>
          <a:prstGeom prst="rect">
            <a:avLst/>
          </a:prstGeom>
          <a:noFill/>
        </p:spPr>
        <p:txBody>
          <a:bodyPr wrap="square">
            <a:spAutoFit/>
          </a:bodyPr>
          <a:lstStyle/>
          <a:p>
            <a:pPr algn="l"/>
            <a:r>
              <a:rPr sz="1000" b="0" i="0">
                <a:solidFill>
                  <a:srgbClr val="FFFFFF"/>
                </a:solidFill>
              </a:rPr>
              <a:t>MOTOR_LEFT_DIR</a:t>
            </a:r>
          </a:p>
        </p:txBody>
      </p:sp>
      <p:sp>
        <p:nvSpPr>
          <p:cNvPr id="53" name="Rectangle 52"/>
          <p:cNvSpPr/>
          <p:nvPr/>
        </p:nvSpPr>
        <p:spPr>
          <a:xfrm>
            <a:off x="4572000" y="2880360"/>
            <a:ext cx="19202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617720" y="2907792"/>
            <a:ext cx="1828800" cy="320040"/>
          </a:xfrm>
          <a:prstGeom prst="rect">
            <a:avLst/>
          </a:prstGeom>
          <a:noFill/>
        </p:spPr>
        <p:txBody>
          <a:bodyPr wrap="square">
            <a:spAutoFit/>
          </a:bodyPr>
          <a:lstStyle/>
          <a:p>
            <a:pPr algn="l"/>
            <a:r>
              <a:rPr sz="1000" b="0" i="0">
                <a:solidFill>
                  <a:srgbClr val="FFFFFF"/>
                </a:solidFill>
              </a:rPr>
              <a:t>GPIO Output</a:t>
            </a:r>
          </a:p>
        </p:txBody>
      </p:sp>
      <p:sp>
        <p:nvSpPr>
          <p:cNvPr id="55" name="Rectangle 54"/>
          <p:cNvSpPr/>
          <p:nvPr/>
        </p:nvSpPr>
        <p:spPr>
          <a:xfrm>
            <a:off x="6492240" y="2880360"/>
            <a:ext cx="20116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37960" y="2907792"/>
            <a:ext cx="1920240" cy="320040"/>
          </a:xfrm>
          <a:prstGeom prst="rect">
            <a:avLst/>
          </a:prstGeom>
          <a:noFill/>
        </p:spPr>
        <p:txBody>
          <a:bodyPr wrap="square">
            <a:spAutoFit/>
          </a:bodyPr>
          <a:lstStyle/>
          <a:p>
            <a:pPr algn="l"/>
            <a:r>
              <a:rPr sz="1000" b="0" i="0">
                <a:solidFill>
                  <a:srgbClr val="FFFFFF"/>
                </a:solidFill>
              </a:rPr>
              <a:t>→ Motor Shield DIR A</a:t>
            </a:r>
          </a:p>
        </p:txBody>
      </p:sp>
      <p:sp>
        <p:nvSpPr>
          <p:cNvPr id="57" name="Rectangle 56"/>
          <p:cNvSpPr/>
          <p:nvPr/>
        </p:nvSpPr>
        <p:spPr>
          <a:xfrm>
            <a:off x="182880" y="3200400"/>
            <a:ext cx="10972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28600" y="3227832"/>
            <a:ext cx="1005840" cy="320040"/>
          </a:xfrm>
          <a:prstGeom prst="rect">
            <a:avLst/>
          </a:prstGeom>
          <a:noFill/>
        </p:spPr>
        <p:txBody>
          <a:bodyPr wrap="square">
            <a:spAutoFit/>
          </a:bodyPr>
          <a:lstStyle/>
          <a:p>
            <a:pPr algn="l"/>
            <a:r>
              <a:rPr sz="1000" b="0" i="0">
                <a:solidFill>
                  <a:srgbClr val="FFFFFF"/>
                </a:solidFill>
              </a:rPr>
              <a:t>D3</a:t>
            </a:r>
          </a:p>
        </p:txBody>
      </p:sp>
      <p:sp>
        <p:nvSpPr>
          <p:cNvPr id="59" name="Rectangle 58"/>
          <p:cNvSpPr/>
          <p:nvPr/>
        </p:nvSpPr>
        <p:spPr>
          <a:xfrm>
            <a:off x="1280160" y="3200400"/>
            <a:ext cx="91440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325880" y="3227832"/>
            <a:ext cx="822960" cy="320040"/>
          </a:xfrm>
          <a:prstGeom prst="rect">
            <a:avLst/>
          </a:prstGeom>
          <a:noFill/>
        </p:spPr>
        <p:txBody>
          <a:bodyPr wrap="square">
            <a:spAutoFit/>
          </a:bodyPr>
          <a:lstStyle/>
          <a:p>
            <a:pPr algn="l"/>
            <a:r>
              <a:rPr sz="1000" b="0" i="0">
                <a:solidFill>
                  <a:srgbClr val="FFFFFF"/>
                </a:solidFill>
              </a:rPr>
              <a:t>PD14</a:t>
            </a:r>
          </a:p>
        </p:txBody>
      </p:sp>
      <p:sp>
        <p:nvSpPr>
          <p:cNvPr id="61" name="Rectangle 60"/>
          <p:cNvSpPr/>
          <p:nvPr/>
        </p:nvSpPr>
        <p:spPr>
          <a:xfrm>
            <a:off x="2194560" y="3200400"/>
            <a:ext cx="23774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240280" y="3227832"/>
            <a:ext cx="2286000" cy="320040"/>
          </a:xfrm>
          <a:prstGeom prst="rect">
            <a:avLst/>
          </a:prstGeom>
          <a:noFill/>
        </p:spPr>
        <p:txBody>
          <a:bodyPr wrap="square">
            <a:spAutoFit/>
          </a:bodyPr>
          <a:lstStyle/>
          <a:p>
            <a:pPr algn="l"/>
            <a:r>
              <a:rPr sz="1000" b="0" i="0">
                <a:solidFill>
                  <a:srgbClr val="FFFFFF"/>
                </a:solidFill>
              </a:rPr>
              <a:t>ENC_LEFT_CHA</a:t>
            </a:r>
          </a:p>
        </p:txBody>
      </p:sp>
      <p:sp>
        <p:nvSpPr>
          <p:cNvPr id="63" name="Rectangle 62"/>
          <p:cNvSpPr/>
          <p:nvPr/>
        </p:nvSpPr>
        <p:spPr>
          <a:xfrm>
            <a:off x="4572000" y="3200400"/>
            <a:ext cx="19202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617720" y="3227832"/>
            <a:ext cx="1828800" cy="320040"/>
          </a:xfrm>
          <a:prstGeom prst="rect">
            <a:avLst/>
          </a:prstGeom>
          <a:noFill/>
        </p:spPr>
        <p:txBody>
          <a:bodyPr wrap="square">
            <a:spAutoFit/>
          </a:bodyPr>
          <a:lstStyle/>
          <a:p>
            <a:pPr algn="l"/>
            <a:r>
              <a:rPr sz="1000" b="0" i="0">
                <a:solidFill>
                  <a:srgbClr val="FFFFFF"/>
                </a:solidFill>
              </a:rPr>
              <a:t>TIM1_CH1 (QEI)</a:t>
            </a:r>
          </a:p>
        </p:txBody>
      </p:sp>
      <p:sp>
        <p:nvSpPr>
          <p:cNvPr id="65" name="Rectangle 64"/>
          <p:cNvSpPr/>
          <p:nvPr/>
        </p:nvSpPr>
        <p:spPr>
          <a:xfrm>
            <a:off x="6492240" y="3200400"/>
            <a:ext cx="20116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537960" y="3227832"/>
            <a:ext cx="1920240" cy="320040"/>
          </a:xfrm>
          <a:prstGeom prst="rect">
            <a:avLst/>
          </a:prstGeom>
          <a:noFill/>
        </p:spPr>
        <p:txBody>
          <a:bodyPr wrap="square">
            <a:spAutoFit/>
          </a:bodyPr>
          <a:lstStyle/>
          <a:p>
            <a:pPr algn="l"/>
            <a:r>
              <a:rPr sz="1000" b="0" i="0">
                <a:solidFill>
                  <a:srgbClr val="FFFFFF"/>
                </a:solidFill>
              </a:rPr>
              <a:t>← Encodeur gauche CHA</a:t>
            </a:r>
          </a:p>
        </p:txBody>
      </p:sp>
      <p:sp>
        <p:nvSpPr>
          <p:cNvPr id="67" name="Rectangle 66"/>
          <p:cNvSpPr/>
          <p:nvPr/>
        </p:nvSpPr>
        <p:spPr>
          <a:xfrm>
            <a:off x="182880" y="3520440"/>
            <a:ext cx="10972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28600" y="3547872"/>
            <a:ext cx="1005840" cy="320040"/>
          </a:xfrm>
          <a:prstGeom prst="rect">
            <a:avLst/>
          </a:prstGeom>
          <a:noFill/>
        </p:spPr>
        <p:txBody>
          <a:bodyPr wrap="square">
            <a:spAutoFit/>
          </a:bodyPr>
          <a:lstStyle/>
          <a:p>
            <a:pPr algn="l"/>
            <a:r>
              <a:rPr sz="1000" b="0" i="0">
                <a:solidFill>
                  <a:srgbClr val="FFFFFF"/>
                </a:solidFill>
              </a:rPr>
              <a:t>D4</a:t>
            </a:r>
          </a:p>
        </p:txBody>
      </p:sp>
      <p:sp>
        <p:nvSpPr>
          <p:cNvPr id="69" name="Rectangle 68"/>
          <p:cNvSpPr/>
          <p:nvPr/>
        </p:nvSpPr>
        <p:spPr>
          <a:xfrm>
            <a:off x="1280160" y="3520440"/>
            <a:ext cx="91440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325880" y="3547872"/>
            <a:ext cx="822960" cy="320040"/>
          </a:xfrm>
          <a:prstGeom prst="rect">
            <a:avLst/>
          </a:prstGeom>
          <a:noFill/>
        </p:spPr>
        <p:txBody>
          <a:bodyPr wrap="square">
            <a:spAutoFit/>
          </a:bodyPr>
          <a:lstStyle/>
          <a:p>
            <a:pPr algn="l"/>
            <a:r>
              <a:rPr sz="1000" b="0" i="0">
                <a:solidFill>
                  <a:srgbClr val="FFFFFF"/>
                </a:solidFill>
              </a:rPr>
              <a:t>PE3</a:t>
            </a:r>
          </a:p>
        </p:txBody>
      </p:sp>
      <p:sp>
        <p:nvSpPr>
          <p:cNvPr id="71" name="Rectangle 70"/>
          <p:cNvSpPr/>
          <p:nvPr/>
        </p:nvSpPr>
        <p:spPr>
          <a:xfrm>
            <a:off x="2194560" y="3520440"/>
            <a:ext cx="23774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2240280" y="3547872"/>
            <a:ext cx="2286000" cy="320040"/>
          </a:xfrm>
          <a:prstGeom prst="rect">
            <a:avLst/>
          </a:prstGeom>
          <a:noFill/>
        </p:spPr>
        <p:txBody>
          <a:bodyPr wrap="square">
            <a:spAutoFit/>
          </a:bodyPr>
          <a:lstStyle/>
          <a:p>
            <a:pPr algn="l"/>
            <a:r>
              <a:rPr sz="1000" b="0" i="0">
                <a:solidFill>
                  <a:srgbClr val="FFFFFF"/>
                </a:solidFill>
              </a:rPr>
              <a:t>MOTOR_RIGHT_DIR</a:t>
            </a:r>
          </a:p>
        </p:txBody>
      </p:sp>
      <p:sp>
        <p:nvSpPr>
          <p:cNvPr id="73" name="Rectangle 72"/>
          <p:cNvSpPr/>
          <p:nvPr/>
        </p:nvSpPr>
        <p:spPr>
          <a:xfrm>
            <a:off x="4572000" y="3520440"/>
            <a:ext cx="19202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617720" y="3547872"/>
            <a:ext cx="1828800" cy="320040"/>
          </a:xfrm>
          <a:prstGeom prst="rect">
            <a:avLst/>
          </a:prstGeom>
          <a:noFill/>
        </p:spPr>
        <p:txBody>
          <a:bodyPr wrap="square">
            <a:spAutoFit/>
          </a:bodyPr>
          <a:lstStyle/>
          <a:p>
            <a:pPr algn="l"/>
            <a:r>
              <a:rPr sz="1000" b="0" i="0">
                <a:solidFill>
                  <a:srgbClr val="FFFFFF"/>
                </a:solidFill>
              </a:rPr>
              <a:t>GPIO Output</a:t>
            </a:r>
          </a:p>
        </p:txBody>
      </p:sp>
      <p:sp>
        <p:nvSpPr>
          <p:cNvPr id="75" name="Rectangle 74"/>
          <p:cNvSpPr/>
          <p:nvPr/>
        </p:nvSpPr>
        <p:spPr>
          <a:xfrm>
            <a:off x="6492240" y="3520440"/>
            <a:ext cx="20116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537960" y="3547872"/>
            <a:ext cx="1920240" cy="320040"/>
          </a:xfrm>
          <a:prstGeom prst="rect">
            <a:avLst/>
          </a:prstGeom>
          <a:noFill/>
        </p:spPr>
        <p:txBody>
          <a:bodyPr wrap="square">
            <a:spAutoFit/>
          </a:bodyPr>
          <a:lstStyle/>
          <a:p>
            <a:pPr algn="l"/>
            <a:r>
              <a:rPr sz="1000" b="0" i="0">
                <a:solidFill>
                  <a:srgbClr val="FFFFFF"/>
                </a:solidFill>
              </a:rPr>
              <a:t>→ Motor Shield DIR B</a:t>
            </a:r>
          </a:p>
        </p:txBody>
      </p:sp>
      <p:sp>
        <p:nvSpPr>
          <p:cNvPr id="77" name="Rectangle 76"/>
          <p:cNvSpPr/>
          <p:nvPr/>
        </p:nvSpPr>
        <p:spPr>
          <a:xfrm>
            <a:off x="182880" y="3840480"/>
            <a:ext cx="10972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228600" y="3867912"/>
            <a:ext cx="1005840" cy="320040"/>
          </a:xfrm>
          <a:prstGeom prst="rect">
            <a:avLst/>
          </a:prstGeom>
          <a:noFill/>
        </p:spPr>
        <p:txBody>
          <a:bodyPr wrap="square">
            <a:spAutoFit/>
          </a:bodyPr>
          <a:lstStyle/>
          <a:p>
            <a:pPr algn="l"/>
            <a:r>
              <a:rPr sz="1000" b="0" i="0">
                <a:solidFill>
                  <a:srgbClr val="FFFFFF"/>
                </a:solidFill>
              </a:rPr>
              <a:t>D6</a:t>
            </a:r>
          </a:p>
        </p:txBody>
      </p:sp>
      <p:sp>
        <p:nvSpPr>
          <p:cNvPr id="79" name="Rectangle 78"/>
          <p:cNvSpPr/>
          <p:nvPr/>
        </p:nvSpPr>
        <p:spPr>
          <a:xfrm>
            <a:off x="1280160" y="3840480"/>
            <a:ext cx="91440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1325880" y="3867912"/>
            <a:ext cx="822960" cy="320040"/>
          </a:xfrm>
          <a:prstGeom prst="rect">
            <a:avLst/>
          </a:prstGeom>
          <a:noFill/>
        </p:spPr>
        <p:txBody>
          <a:bodyPr wrap="square">
            <a:spAutoFit/>
          </a:bodyPr>
          <a:lstStyle/>
          <a:p>
            <a:pPr algn="l"/>
            <a:r>
              <a:rPr sz="1000" b="0" i="0">
                <a:solidFill>
                  <a:srgbClr val="FFFFFF"/>
                </a:solidFill>
              </a:rPr>
              <a:t>PE0</a:t>
            </a:r>
          </a:p>
        </p:txBody>
      </p:sp>
      <p:sp>
        <p:nvSpPr>
          <p:cNvPr id="81" name="Rectangle 80"/>
          <p:cNvSpPr/>
          <p:nvPr/>
        </p:nvSpPr>
        <p:spPr>
          <a:xfrm>
            <a:off x="2194560" y="3840480"/>
            <a:ext cx="23774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2240280" y="3867912"/>
            <a:ext cx="2286000" cy="320040"/>
          </a:xfrm>
          <a:prstGeom prst="rect">
            <a:avLst/>
          </a:prstGeom>
          <a:noFill/>
        </p:spPr>
        <p:txBody>
          <a:bodyPr wrap="square">
            <a:spAutoFit/>
          </a:bodyPr>
          <a:lstStyle/>
          <a:p>
            <a:pPr algn="l"/>
            <a:r>
              <a:rPr sz="1000" b="0" i="0">
                <a:solidFill>
                  <a:srgbClr val="FFFFFF"/>
                </a:solidFill>
              </a:rPr>
              <a:t>MOTOR_RIGHT_PWM</a:t>
            </a:r>
          </a:p>
        </p:txBody>
      </p:sp>
      <p:sp>
        <p:nvSpPr>
          <p:cNvPr id="83" name="Rectangle 82"/>
          <p:cNvSpPr/>
          <p:nvPr/>
        </p:nvSpPr>
        <p:spPr>
          <a:xfrm>
            <a:off x="4572000" y="3840480"/>
            <a:ext cx="19202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617720" y="3867912"/>
            <a:ext cx="1828800" cy="320040"/>
          </a:xfrm>
          <a:prstGeom prst="rect">
            <a:avLst/>
          </a:prstGeom>
          <a:noFill/>
        </p:spPr>
        <p:txBody>
          <a:bodyPr wrap="square">
            <a:spAutoFit/>
          </a:bodyPr>
          <a:lstStyle/>
          <a:p>
            <a:pPr algn="l"/>
            <a:r>
              <a:rPr sz="1000" b="0" i="0">
                <a:solidFill>
                  <a:srgbClr val="FFFFFF"/>
                </a:solidFill>
              </a:rPr>
              <a:t>TIM16_CH1 PWM</a:t>
            </a:r>
          </a:p>
        </p:txBody>
      </p:sp>
      <p:sp>
        <p:nvSpPr>
          <p:cNvPr id="85" name="Rectangle 84"/>
          <p:cNvSpPr/>
          <p:nvPr/>
        </p:nvSpPr>
        <p:spPr>
          <a:xfrm>
            <a:off x="6492240" y="3840480"/>
            <a:ext cx="20116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537960" y="3867912"/>
            <a:ext cx="1920240" cy="320040"/>
          </a:xfrm>
          <a:prstGeom prst="rect">
            <a:avLst/>
          </a:prstGeom>
          <a:noFill/>
        </p:spPr>
        <p:txBody>
          <a:bodyPr wrap="square">
            <a:spAutoFit/>
          </a:bodyPr>
          <a:lstStyle/>
          <a:p>
            <a:pPr algn="l"/>
            <a:r>
              <a:rPr sz="1000" b="0" i="0">
                <a:solidFill>
                  <a:srgbClr val="FFFFFF"/>
                </a:solidFill>
              </a:rPr>
              <a:t>→ Motor Shield PWM B</a:t>
            </a:r>
          </a:p>
        </p:txBody>
      </p:sp>
      <p:sp>
        <p:nvSpPr>
          <p:cNvPr id="87" name="Rectangle 86"/>
          <p:cNvSpPr/>
          <p:nvPr/>
        </p:nvSpPr>
        <p:spPr>
          <a:xfrm>
            <a:off x="182880" y="4160520"/>
            <a:ext cx="10972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228600" y="4187952"/>
            <a:ext cx="1005840" cy="320040"/>
          </a:xfrm>
          <a:prstGeom prst="rect">
            <a:avLst/>
          </a:prstGeom>
          <a:noFill/>
        </p:spPr>
        <p:txBody>
          <a:bodyPr wrap="square">
            <a:spAutoFit/>
          </a:bodyPr>
          <a:lstStyle/>
          <a:p>
            <a:pPr algn="l"/>
            <a:r>
              <a:rPr sz="1000" b="0" i="0">
                <a:solidFill>
                  <a:srgbClr val="FFFFFF"/>
                </a:solidFill>
              </a:rPr>
              <a:t>D7</a:t>
            </a:r>
          </a:p>
        </p:txBody>
      </p:sp>
      <p:sp>
        <p:nvSpPr>
          <p:cNvPr id="89" name="Rectangle 88"/>
          <p:cNvSpPr/>
          <p:nvPr/>
        </p:nvSpPr>
        <p:spPr>
          <a:xfrm>
            <a:off x="1280160" y="4160520"/>
            <a:ext cx="91440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325880" y="4187952"/>
            <a:ext cx="822960" cy="320040"/>
          </a:xfrm>
          <a:prstGeom prst="rect">
            <a:avLst/>
          </a:prstGeom>
          <a:noFill/>
        </p:spPr>
        <p:txBody>
          <a:bodyPr wrap="square">
            <a:spAutoFit/>
          </a:bodyPr>
          <a:lstStyle/>
          <a:p>
            <a:pPr algn="l"/>
            <a:r>
              <a:rPr sz="1000" b="0" i="0">
                <a:solidFill>
                  <a:srgbClr val="FFFFFF"/>
                </a:solidFill>
              </a:rPr>
              <a:t>PB2</a:t>
            </a:r>
          </a:p>
        </p:txBody>
      </p:sp>
      <p:sp>
        <p:nvSpPr>
          <p:cNvPr id="91" name="Rectangle 90"/>
          <p:cNvSpPr/>
          <p:nvPr/>
        </p:nvSpPr>
        <p:spPr>
          <a:xfrm>
            <a:off x="2194560" y="4160520"/>
            <a:ext cx="23774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240280" y="4187952"/>
            <a:ext cx="2286000" cy="320040"/>
          </a:xfrm>
          <a:prstGeom prst="rect">
            <a:avLst/>
          </a:prstGeom>
          <a:noFill/>
        </p:spPr>
        <p:txBody>
          <a:bodyPr wrap="square">
            <a:spAutoFit/>
          </a:bodyPr>
          <a:lstStyle/>
          <a:p>
            <a:pPr algn="l"/>
            <a:r>
              <a:rPr sz="1000" b="0" i="0">
                <a:solidFill>
                  <a:srgbClr val="FFFFFF"/>
                </a:solidFill>
              </a:rPr>
              <a:t>MOTOR_RIGHT_BRAKE</a:t>
            </a:r>
          </a:p>
        </p:txBody>
      </p:sp>
      <p:sp>
        <p:nvSpPr>
          <p:cNvPr id="93" name="Rectangle 92"/>
          <p:cNvSpPr/>
          <p:nvPr/>
        </p:nvSpPr>
        <p:spPr>
          <a:xfrm>
            <a:off x="4572000" y="4160520"/>
            <a:ext cx="19202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617720" y="4187952"/>
            <a:ext cx="1828800" cy="320040"/>
          </a:xfrm>
          <a:prstGeom prst="rect">
            <a:avLst/>
          </a:prstGeom>
          <a:noFill/>
        </p:spPr>
        <p:txBody>
          <a:bodyPr wrap="square">
            <a:spAutoFit/>
          </a:bodyPr>
          <a:lstStyle/>
          <a:p>
            <a:pPr algn="l"/>
            <a:r>
              <a:rPr sz="1000" b="0" i="0">
                <a:solidFill>
                  <a:srgbClr val="FFFFFF"/>
                </a:solidFill>
              </a:rPr>
              <a:t>GPIO Output</a:t>
            </a:r>
          </a:p>
        </p:txBody>
      </p:sp>
      <p:sp>
        <p:nvSpPr>
          <p:cNvPr id="95" name="Rectangle 94"/>
          <p:cNvSpPr/>
          <p:nvPr/>
        </p:nvSpPr>
        <p:spPr>
          <a:xfrm>
            <a:off x="6492240" y="4160520"/>
            <a:ext cx="20116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6537960" y="4187952"/>
            <a:ext cx="1920240" cy="320040"/>
          </a:xfrm>
          <a:prstGeom prst="rect">
            <a:avLst/>
          </a:prstGeom>
          <a:noFill/>
        </p:spPr>
        <p:txBody>
          <a:bodyPr wrap="square">
            <a:spAutoFit/>
          </a:bodyPr>
          <a:lstStyle/>
          <a:p>
            <a:pPr algn="l"/>
            <a:r>
              <a:rPr sz="1000" b="0" i="0">
                <a:solidFill>
                  <a:srgbClr val="FFFFFF"/>
                </a:solidFill>
              </a:rPr>
              <a:t>→ Motor Shield BRAKE B</a:t>
            </a:r>
          </a:p>
        </p:txBody>
      </p:sp>
      <p:sp>
        <p:nvSpPr>
          <p:cNvPr id="97" name="Rectangle 96"/>
          <p:cNvSpPr/>
          <p:nvPr/>
        </p:nvSpPr>
        <p:spPr>
          <a:xfrm>
            <a:off x="182880" y="4480560"/>
            <a:ext cx="10972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228600" y="4507992"/>
            <a:ext cx="1005840" cy="320040"/>
          </a:xfrm>
          <a:prstGeom prst="rect">
            <a:avLst/>
          </a:prstGeom>
          <a:noFill/>
        </p:spPr>
        <p:txBody>
          <a:bodyPr wrap="square">
            <a:spAutoFit/>
          </a:bodyPr>
          <a:lstStyle/>
          <a:p>
            <a:pPr algn="l"/>
            <a:r>
              <a:rPr sz="1000" b="0" i="0">
                <a:solidFill>
                  <a:srgbClr val="FFFFFF"/>
                </a:solidFill>
              </a:rPr>
              <a:t>D8</a:t>
            </a:r>
          </a:p>
        </p:txBody>
      </p:sp>
      <p:sp>
        <p:nvSpPr>
          <p:cNvPr id="99" name="Rectangle 98"/>
          <p:cNvSpPr/>
          <p:nvPr/>
        </p:nvSpPr>
        <p:spPr>
          <a:xfrm>
            <a:off x="1280160" y="4480560"/>
            <a:ext cx="91440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1325880" y="4507992"/>
            <a:ext cx="822960" cy="320040"/>
          </a:xfrm>
          <a:prstGeom prst="rect">
            <a:avLst/>
          </a:prstGeom>
          <a:noFill/>
        </p:spPr>
        <p:txBody>
          <a:bodyPr wrap="square">
            <a:spAutoFit/>
          </a:bodyPr>
          <a:lstStyle/>
          <a:p>
            <a:pPr algn="l"/>
            <a:r>
              <a:rPr sz="1000" b="0" i="0">
                <a:solidFill>
                  <a:srgbClr val="FFFFFF"/>
                </a:solidFill>
              </a:rPr>
              <a:t>PD13</a:t>
            </a:r>
          </a:p>
        </p:txBody>
      </p:sp>
      <p:sp>
        <p:nvSpPr>
          <p:cNvPr id="101" name="Rectangle 100"/>
          <p:cNvSpPr/>
          <p:nvPr/>
        </p:nvSpPr>
        <p:spPr>
          <a:xfrm>
            <a:off x="2194560" y="4480560"/>
            <a:ext cx="23774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2240280" y="4507992"/>
            <a:ext cx="2286000" cy="320040"/>
          </a:xfrm>
          <a:prstGeom prst="rect">
            <a:avLst/>
          </a:prstGeom>
          <a:noFill/>
        </p:spPr>
        <p:txBody>
          <a:bodyPr wrap="square">
            <a:spAutoFit/>
          </a:bodyPr>
          <a:lstStyle/>
          <a:p>
            <a:pPr algn="l"/>
            <a:r>
              <a:rPr sz="1000" b="0" i="0">
                <a:solidFill>
                  <a:srgbClr val="FFFFFF"/>
                </a:solidFill>
              </a:rPr>
              <a:t>MOTOR_LEFT_BRAKE</a:t>
            </a:r>
          </a:p>
        </p:txBody>
      </p:sp>
      <p:sp>
        <p:nvSpPr>
          <p:cNvPr id="103" name="Rectangle 102"/>
          <p:cNvSpPr/>
          <p:nvPr/>
        </p:nvSpPr>
        <p:spPr>
          <a:xfrm>
            <a:off x="4572000" y="4480560"/>
            <a:ext cx="192024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4617720" y="4507992"/>
            <a:ext cx="1828800" cy="320040"/>
          </a:xfrm>
          <a:prstGeom prst="rect">
            <a:avLst/>
          </a:prstGeom>
          <a:noFill/>
        </p:spPr>
        <p:txBody>
          <a:bodyPr wrap="square">
            <a:spAutoFit/>
          </a:bodyPr>
          <a:lstStyle/>
          <a:p>
            <a:pPr algn="l"/>
            <a:r>
              <a:rPr sz="1000" b="0" i="0">
                <a:solidFill>
                  <a:srgbClr val="FFFFFF"/>
                </a:solidFill>
              </a:rPr>
              <a:t>GPIO Output</a:t>
            </a:r>
          </a:p>
        </p:txBody>
      </p:sp>
      <p:sp>
        <p:nvSpPr>
          <p:cNvPr id="105" name="Rectangle 104"/>
          <p:cNvSpPr/>
          <p:nvPr/>
        </p:nvSpPr>
        <p:spPr>
          <a:xfrm>
            <a:off x="6492240" y="4480560"/>
            <a:ext cx="2011680" cy="320040"/>
          </a:xfrm>
          <a:prstGeom prst="rect">
            <a:avLst/>
          </a:prstGeom>
          <a:solidFill>
            <a:srgbClr val="16213E"/>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6537960" y="4507992"/>
            <a:ext cx="1920240" cy="320040"/>
          </a:xfrm>
          <a:prstGeom prst="rect">
            <a:avLst/>
          </a:prstGeom>
          <a:noFill/>
        </p:spPr>
        <p:txBody>
          <a:bodyPr wrap="square">
            <a:spAutoFit/>
          </a:bodyPr>
          <a:lstStyle/>
          <a:p>
            <a:pPr algn="l"/>
            <a:r>
              <a:rPr sz="1000" b="0" i="0">
                <a:solidFill>
                  <a:srgbClr val="FFFFFF"/>
                </a:solidFill>
              </a:rPr>
              <a:t>→ Motor Shield BRAKE A</a:t>
            </a:r>
          </a:p>
        </p:txBody>
      </p:sp>
      <p:sp>
        <p:nvSpPr>
          <p:cNvPr id="107" name="Rectangle 106"/>
          <p:cNvSpPr/>
          <p:nvPr/>
        </p:nvSpPr>
        <p:spPr>
          <a:xfrm>
            <a:off x="182880" y="4800600"/>
            <a:ext cx="10972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228600" y="4828032"/>
            <a:ext cx="1005840" cy="320040"/>
          </a:xfrm>
          <a:prstGeom prst="rect">
            <a:avLst/>
          </a:prstGeom>
          <a:noFill/>
        </p:spPr>
        <p:txBody>
          <a:bodyPr wrap="square">
            <a:spAutoFit/>
          </a:bodyPr>
          <a:lstStyle/>
          <a:p>
            <a:pPr algn="l"/>
            <a:r>
              <a:rPr sz="1000" b="0" i="0">
                <a:solidFill>
                  <a:srgbClr val="FFFFFF"/>
                </a:solidFill>
              </a:rPr>
              <a:t>D9</a:t>
            </a:r>
          </a:p>
        </p:txBody>
      </p:sp>
      <p:sp>
        <p:nvSpPr>
          <p:cNvPr id="109" name="Rectangle 108"/>
          <p:cNvSpPr/>
          <p:nvPr/>
        </p:nvSpPr>
        <p:spPr>
          <a:xfrm>
            <a:off x="1280160" y="4800600"/>
            <a:ext cx="91440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1325880" y="4828032"/>
            <a:ext cx="822960" cy="320040"/>
          </a:xfrm>
          <a:prstGeom prst="rect">
            <a:avLst/>
          </a:prstGeom>
          <a:noFill/>
        </p:spPr>
        <p:txBody>
          <a:bodyPr wrap="square">
            <a:spAutoFit/>
          </a:bodyPr>
          <a:lstStyle/>
          <a:p>
            <a:pPr algn="l"/>
            <a:r>
              <a:rPr sz="1000" b="0" i="0">
                <a:solidFill>
                  <a:srgbClr val="FFFFFF"/>
                </a:solidFill>
              </a:rPr>
              <a:t>PD15</a:t>
            </a:r>
          </a:p>
        </p:txBody>
      </p:sp>
      <p:sp>
        <p:nvSpPr>
          <p:cNvPr id="111" name="Rectangle 110"/>
          <p:cNvSpPr/>
          <p:nvPr/>
        </p:nvSpPr>
        <p:spPr>
          <a:xfrm>
            <a:off x="2194560" y="4800600"/>
            <a:ext cx="23774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240280" y="4828032"/>
            <a:ext cx="2286000" cy="320040"/>
          </a:xfrm>
          <a:prstGeom prst="rect">
            <a:avLst/>
          </a:prstGeom>
          <a:noFill/>
        </p:spPr>
        <p:txBody>
          <a:bodyPr wrap="square">
            <a:spAutoFit/>
          </a:bodyPr>
          <a:lstStyle/>
          <a:p>
            <a:pPr algn="l"/>
            <a:r>
              <a:rPr sz="1000" b="0" i="0">
                <a:solidFill>
                  <a:srgbClr val="FFFFFF"/>
                </a:solidFill>
              </a:rPr>
              <a:t>ENC_LEFT_CHB</a:t>
            </a:r>
          </a:p>
        </p:txBody>
      </p:sp>
      <p:sp>
        <p:nvSpPr>
          <p:cNvPr id="113" name="Rectangle 112"/>
          <p:cNvSpPr/>
          <p:nvPr/>
        </p:nvSpPr>
        <p:spPr>
          <a:xfrm>
            <a:off x="4572000" y="4800600"/>
            <a:ext cx="192024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4617720" y="4828032"/>
            <a:ext cx="1828800" cy="320040"/>
          </a:xfrm>
          <a:prstGeom prst="rect">
            <a:avLst/>
          </a:prstGeom>
          <a:noFill/>
        </p:spPr>
        <p:txBody>
          <a:bodyPr wrap="square">
            <a:spAutoFit/>
          </a:bodyPr>
          <a:lstStyle/>
          <a:p>
            <a:pPr algn="l"/>
            <a:r>
              <a:rPr sz="1000" b="0" i="0">
                <a:solidFill>
                  <a:srgbClr val="FFFFFF"/>
                </a:solidFill>
              </a:rPr>
              <a:t>TIM1_CH2 (QEI)</a:t>
            </a:r>
          </a:p>
        </p:txBody>
      </p:sp>
      <p:sp>
        <p:nvSpPr>
          <p:cNvPr id="115" name="Rectangle 114"/>
          <p:cNvSpPr/>
          <p:nvPr/>
        </p:nvSpPr>
        <p:spPr>
          <a:xfrm>
            <a:off x="6492240" y="4800600"/>
            <a:ext cx="2011680" cy="320040"/>
          </a:xfrm>
          <a:prstGeom prst="rect">
            <a:avLst/>
          </a:prstGeom>
          <a:solidFill>
            <a:srgbClr val="0A2855"/>
          </a:solidFill>
          <a:ln w="3810">
            <a:solidFill>
              <a:srgbClr val="335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6537960" y="4828032"/>
            <a:ext cx="1920240" cy="320040"/>
          </a:xfrm>
          <a:prstGeom prst="rect">
            <a:avLst/>
          </a:prstGeom>
          <a:noFill/>
        </p:spPr>
        <p:txBody>
          <a:bodyPr wrap="square">
            <a:spAutoFit/>
          </a:bodyPr>
          <a:lstStyle/>
          <a:p>
            <a:pPr algn="l"/>
            <a:r>
              <a:rPr sz="1000" b="0" i="0">
                <a:solidFill>
                  <a:srgbClr val="FFFFFF"/>
                </a:solidFill>
              </a:rPr>
              <a:t>← Encodeur gauche CHB</a:t>
            </a:r>
          </a:p>
        </p:txBody>
      </p:sp>
      <p:sp>
        <p:nvSpPr>
          <p:cNvPr id="117" name="Rectangle 116"/>
          <p:cNvSpPr/>
          <p:nvPr/>
        </p:nvSpPr>
        <p:spPr>
          <a:xfrm>
            <a:off x="182880" y="5166360"/>
            <a:ext cx="5029200" cy="347472"/>
          </a:xfrm>
          <a:prstGeom prst="rect">
            <a:avLst/>
          </a:prstGeom>
          <a:solidFill>
            <a:srgbClr val="5C1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256032" y="5184648"/>
            <a:ext cx="4937760" cy="347472"/>
          </a:xfrm>
          <a:prstGeom prst="rect">
            <a:avLst/>
          </a:prstGeom>
          <a:noFill/>
        </p:spPr>
        <p:txBody>
          <a:bodyPr wrap="square">
            <a:spAutoFit/>
          </a:bodyPr>
          <a:lstStyle/>
          <a:p>
            <a:pPr algn="l"/>
            <a:r>
              <a:rPr sz="1400" b="1" i="0">
                <a:solidFill>
                  <a:srgbClr val="FFD700"/>
                </a:solidFill>
              </a:rPr>
              <a:t>Broches RÉSERVÉES — Ne pas utiliser</a:t>
            </a:r>
          </a:p>
        </p:txBody>
      </p:sp>
      <p:sp>
        <p:nvSpPr>
          <p:cNvPr id="119" name="TextBox 118"/>
          <p:cNvSpPr txBox="1"/>
          <p:nvPr/>
        </p:nvSpPr>
        <p:spPr>
          <a:xfrm>
            <a:off x="182880" y="5532120"/>
            <a:ext cx="5029200" cy="320040"/>
          </a:xfrm>
          <a:prstGeom prst="rect">
            <a:avLst/>
          </a:prstGeom>
          <a:noFill/>
        </p:spPr>
        <p:txBody>
          <a:bodyPr wrap="square">
            <a:spAutoFit/>
          </a:bodyPr>
          <a:lstStyle/>
          <a:p>
            <a:pPr algn="l"/>
            <a:r>
              <a:rPr sz="1100" b="0" i="0">
                <a:solidFill>
                  <a:srgbClr val="FF4444"/>
                </a:solidFill>
              </a:rPr>
              <a:t>  D10 (PA4) → SPI1_NSS — OLED display</a:t>
            </a:r>
          </a:p>
        </p:txBody>
      </p:sp>
      <p:sp>
        <p:nvSpPr>
          <p:cNvPr id="120" name="TextBox 119"/>
          <p:cNvSpPr txBox="1"/>
          <p:nvPr/>
        </p:nvSpPr>
        <p:spPr>
          <a:xfrm>
            <a:off x="182880" y="5852160"/>
            <a:ext cx="5029200" cy="320040"/>
          </a:xfrm>
          <a:prstGeom prst="rect">
            <a:avLst/>
          </a:prstGeom>
          <a:noFill/>
        </p:spPr>
        <p:txBody>
          <a:bodyPr wrap="square">
            <a:spAutoFit/>
          </a:bodyPr>
          <a:lstStyle/>
          <a:p>
            <a:pPr algn="l"/>
            <a:r>
              <a:rPr sz="1100" b="0" i="0">
                <a:solidFill>
                  <a:srgbClr val="FF4444"/>
                </a:solidFill>
              </a:rPr>
              <a:t>  D11 (PA7) → SPI1_MOSI — OLED + RGB LED</a:t>
            </a:r>
          </a:p>
        </p:txBody>
      </p:sp>
      <p:sp>
        <p:nvSpPr>
          <p:cNvPr id="121" name="TextBox 120"/>
          <p:cNvSpPr txBox="1"/>
          <p:nvPr/>
        </p:nvSpPr>
        <p:spPr>
          <a:xfrm>
            <a:off x="182880" y="6172200"/>
            <a:ext cx="5029200" cy="320040"/>
          </a:xfrm>
          <a:prstGeom prst="rect">
            <a:avLst/>
          </a:prstGeom>
          <a:noFill/>
        </p:spPr>
        <p:txBody>
          <a:bodyPr wrap="square">
            <a:spAutoFit/>
          </a:bodyPr>
          <a:lstStyle/>
          <a:p>
            <a:pPr algn="l"/>
            <a:r>
              <a:rPr sz="1100" b="0" i="0">
                <a:solidFill>
                  <a:srgbClr val="FF4444"/>
                </a:solidFill>
              </a:rPr>
              <a:t>  D12 (PB4) → SPI1_MISO — OLED</a:t>
            </a:r>
          </a:p>
        </p:txBody>
      </p:sp>
      <p:sp>
        <p:nvSpPr>
          <p:cNvPr id="122" name="TextBox 121"/>
          <p:cNvSpPr txBox="1"/>
          <p:nvPr/>
        </p:nvSpPr>
        <p:spPr>
          <a:xfrm>
            <a:off x="182880" y="6492240"/>
            <a:ext cx="5029200" cy="320040"/>
          </a:xfrm>
          <a:prstGeom prst="rect">
            <a:avLst/>
          </a:prstGeom>
          <a:noFill/>
        </p:spPr>
        <p:txBody>
          <a:bodyPr wrap="square">
            <a:spAutoFit/>
          </a:bodyPr>
          <a:lstStyle/>
          <a:p>
            <a:pPr algn="l"/>
            <a:r>
              <a:rPr sz="1100" b="0" i="0">
                <a:solidFill>
                  <a:srgbClr val="FF4444"/>
                </a:solidFill>
              </a:rPr>
              <a:t>  D13 (PA1) → SPI1_SCK  — OLED</a:t>
            </a:r>
          </a:p>
        </p:txBody>
      </p:sp>
      <p:sp>
        <p:nvSpPr>
          <p:cNvPr id="123" name="Rectangle 122"/>
          <p:cNvSpPr/>
          <p:nvPr/>
        </p:nvSpPr>
        <p:spPr>
          <a:xfrm>
            <a:off x="5486400" y="5166360"/>
            <a:ext cx="6400800" cy="347472"/>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559552" y="5184648"/>
            <a:ext cx="6309360" cy="347472"/>
          </a:xfrm>
          <a:prstGeom prst="rect">
            <a:avLst/>
          </a:prstGeom>
          <a:noFill/>
        </p:spPr>
        <p:txBody>
          <a:bodyPr wrap="square">
            <a:spAutoFit/>
          </a:bodyPr>
          <a:lstStyle/>
          <a:p>
            <a:pPr algn="l"/>
            <a:r>
              <a:rPr sz="1400" b="1" i="0">
                <a:solidFill>
                  <a:srgbClr val="FFD700"/>
                </a:solidFill>
              </a:rPr>
              <a:t>Connecteur STMod+ (encodeur droit CHA)</a:t>
            </a:r>
          </a:p>
        </p:txBody>
      </p:sp>
      <p:sp>
        <p:nvSpPr>
          <p:cNvPr id="125" name="TextBox 124"/>
          <p:cNvSpPr txBox="1"/>
          <p:nvPr/>
        </p:nvSpPr>
        <p:spPr>
          <a:xfrm>
            <a:off x="5486400" y="5532120"/>
            <a:ext cx="6492240" cy="822960"/>
          </a:xfrm>
          <a:prstGeom prst="rect">
            <a:avLst/>
          </a:prstGeom>
          <a:noFill/>
        </p:spPr>
        <p:txBody>
          <a:bodyPr wrap="square">
            <a:spAutoFit/>
          </a:bodyPr>
          <a:lstStyle/>
          <a:p>
            <a:pPr algn="l"/>
            <a:r>
              <a:rPr sz="1100" b="0" i="0">
                <a:solidFill>
                  <a:srgbClr val="FFFFFF"/>
                </a:solidFill>
              </a:rPr>
              <a:t>PA15 → STMod+ pin 14  :  ENC_RIGHT_CHA  →  TIM2_CH1
PB3  → Direct          :  ENC_RIGHT_CHB  →  TIM2_CH2  (⚠ désactive SWO)
Ces deux signaux NE sont PAS sur le header Arduino — câblage direct sur le connecteur STMod+ ou pad.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Schéma d'Alimentation</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Deux rails indépendants + masse commune — 12 V Ni-MH 3800 mAh</a:t>
            </a:r>
          </a:p>
        </p:txBody>
      </p:sp>
      <p:sp>
        <p:nvSpPr>
          <p:cNvPr id="5" name="Rectangle 4"/>
          <p:cNvSpPr/>
          <p:nvPr/>
        </p:nvSpPr>
        <p:spPr>
          <a:xfrm>
            <a:off x="274320" y="1371600"/>
            <a:ext cx="2560320" cy="402336"/>
          </a:xfrm>
          <a:prstGeom prst="rect">
            <a:avLst/>
          </a:prstGeom>
          <a:solidFill>
            <a:srgbClr val="FF444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408176"/>
            <a:ext cx="2377440" cy="402336"/>
          </a:xfrm>
          <a:prstGeom prst="rect">
            <a:avLst/>
          </a:prstGeom>
          <a:noFill/>
        </p:spPr>
        <p:txBody>
          <a:bodyPr wrap="square">
            <a:spAutoFit/>
          </a:bodyPr>
          <a:lstStyle/>
          <a:p>
            <a:pPr algn="ctr"/>
            <a:r>
              <a:rPr sz="1200" b="1" i="0">
                <a:solidFill>
                  <a:srgbClr val="1A1A2E"/>
                </a:solidFill>
              </a:rPr>
              <a:t>Batterie
Puissance 12 V</a:t>
            </a:r>
          </a:p>
        </p:txBody>
      </p:sp>
      <p:sp>
        <p:nvSpPr>
          <p:cNvPr id="7" name="Rectangle 6"/>
          <p:cNvSpPr/>
          <p:nvPr/>
        </p:nvSpPr>
        <p:spPr>
          <a:xfrm>
            <a:off x="274320" y="1773936"/>
            <a:ext cx="2560320" cy="694944"/>
          </a:xfrm>
          <a:prstGeom prst="rect">
            <a:avLst/>
          </a:prstGeom>
          <a:solidFill>
            <a:srgbClr val="16213E"/>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828800"/>
            <a:ext cx="2377440" cy="640080"/>
          </a:xfrm>
          <a:prstGeom prst="rect">
            <a:avLst/>
          </a:prstGeom>
          <a:noFill/>
        </p:spPr>
        <p:txBody>
          <a:bodyPr wrap="square">
            <a:spAutoFit/>
          </a:bodyPr>
          <a:lstStyle/>
          <a:p>
            <a:pPr algn="l"/>
            <a:r>
              <a:rPr sz="1100" b="0" i="0">
                <a:solidFill>
                  <a:srgbClr val="FFFFFF"/>
                </a:solidFill>
              </a:rPr>
              <a:t>Rail moteurs</a:t>
            </a:r>
          </a:p>
        </p:txBody>
      </p:sp>
      <p:sp>
        <p:nvSpPr>
          <p:cNvPr id="9" name="Rectangle 8"/>
          <p:cNvSpPr/>
          <p:nvPr/>
        </p:nvSpPr>
        <p:spPr>
          <a:xfrm>
            <a:off x="274320" y="3200400"/>
            <a:ext cx="2560320" cy="402336"/>
          </a:xfrm>
          <a:prstGeom prst="rect">
            <a:avLst/>
          </a:prstGeom>
          <a:solidFill>
            <a:srgbClr val="FF8800"/>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3236976"/>
            <a:ext cx="2377440" cy="402336"/>
          </a:xfrm>
          <a:prstGeom prst="rect">
            <a:avLst/>
          </a:prstGeom>
          <a:noFill/>
        </p:spPr>
        <p:txBody>
          <a:bodyPr wrap="square">
            <a:spAutoFit/>
          </a:bodyPr>
          <a:lstStyle/>
          <a:p>
            <a:pPr algn="ctr"/>
            <a:r>
              <a:rPr sz="1200" b="1" i="0">
                <a:solidFill>
                  <a:srgbClr val="1A1A2E"/>
                </a:solidFill>
              </a:rPr>
              <a:t>Batterie
Logique (12 V)</a:t>
            </a:r>
          </a:p>
        </p:txBody>
      </p:sp>
      <p:sp>
        <p:nvSpPr>
          <p:cNvPr id="11" name="Rectangle 10"/>
          <p:cNvSpPr/>
          <p:nvPr/>
        </p:nvSpPr>
        <p:spPr>
          <a:xfrm>
            <a:off x="274320" y="3602736"/>
            <a:ext cx="2560320" cy="694944"/>
          </a:xfrm>
          <a:prstGeom prst="rect">
            <a:avLst/>
          </a:prstGeom>
          <a:solidFill>
            <a:srgbClr val="16213E"/>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3657600"/>
            <a:ext cx="2377440" cy="640080"/>
          </a:xfrm>
          <a:prstGeom prst="rect">
            <a:avLst/>
          </a:prstGeom>
          <a:noFill/>
        </p:spPr>
        <p:txBody>
          <a:bodyPr wrap="square">
            <a:spAutoFit/>
          </a:bodyPr>
          <a:lstStyle/>
          <a:p>
            <a:pPr algn="l"/>
            <a:r>
              <a:rPr sz="1100" b="0" i="0">
                <a:solidFill>
                  <a:srgbClr val="FFFFFF"/>
                </a:solidFill>
              </a:rPr>
              <a:t>Rail logique</a:t>
            </a:r>
          </a:p>
        </p:txBody>
      </p:sp>
      <p:sp>
        <p:nvSpPr>
          <p:cNvPr id="13" name="Rectangle 12"/>
          <p:cNvSpPr/>
          <p:nvPr/>
        </p:nvSpPr>
        <p:spPr>
          <a:xfrm>
            <a:off x="3200400" y="1371600"/>
            <a:ext cx="2560320" cy="402336"/>
          </a:xfrm>
          <a:prstGeom prst="rect">
            <a:avLst/>
          </a:prstGeom>
          <a:solidFill>
            <a:srgbClr val="FF444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91840" y="1408176"/>
            <a:ext cx="2377440" cy="402336"/>
          </a:xfrm>
          <a:prstGeom prst="rect">
            <a:avLst/>
          </a:prstGeom>
          <a:noFill/>
        </p:spPr>
        <p:txBody>
          <a:bodyPr wrap="square">
            <a:spAutoFit/>
          </a:bodyPr>
          <a:lstStyle/>
          <a:p>
            <a:pPr algn="ctr"/>
            <a:r>
              <a:rPr sz="1200" b="1" i="0">
                <a:solidFill>
                  <a:srgbClr val="1A1A2E"/>
                </a:solidFill>
              </a:rPr>
              <a:t>Motor Shield — Vs</a:t>
            </a:r>
          </a:p>
        </p:txBody>
      </p:sp>
      <p:sp>
        <p:nvSpPr>
          <p:cNvPr id="15" name="Rectangle 14"/>
          <p:cNvSpPr/>
          <p:nvPr/>
        </p:nvSpPr>
        <p:spPr>
          <a:xfrm>
            <a:off x="3200400" y="1773936"/>
            <a:ext cx="2560320" cy="694944"/>
          </a:xfrm>
          <a:prstGeom prst="rect">
            <a:avLst/>
          </a:prstGeom>
          <a:solidFill>
            <a:srgbClr val="16213E"/>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0" y="1828800"/>
            <a:ext cx="2377440" cy="640080"/>
          </a:xfrm>
          <a:prstGeom prst="rect">
            <a:avLst/>
          </a:prstGeom>
          <a:noFill/>
        </p:spPr>
        <p:txBody>
          <a:bodyPr wrap="square">
            <a:spAutoFit/>
          </a:bodyPr>
          <a:lstStyle/>
          <a:p>
            <a:pPr algn="l"/>
            <a:r>
              <a:rPr sz="1100" b="0" i="0">
                <a:solidFill>
                  <a:srgbClr val="FFFFFF"/>
                </a:solidFill>
              </a:rPr>
              <a:t>Borne Vs+ / Vs−
Alimente L298 puissance</a:t>
            </a:r>
          </a:p>
        </p:txBody>
      </p:sp>
      <p:sp>
        <p:nvSpPr>
          <p:cNvPr id="17" name="Rectangle 16"/>
          <p:cNvSpPr/>
          <p:nvPr/>
        </p:nvSpPr>
        <p:spPr>
          <a:xfrm>
            <a:off x="3200400" y="3200400"/>
            <a:ext cx="2560320" cy="402336"/>
          </a:xfrm>
          <a:prstGeom prst="rect">
            <a:avLst/>
          </a:prstGeom>
          <a:solidFill>
            <a:srgbClr val="FF8800"/>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91840" y="3236976"/>
            <a:ext cx="2377440" cy="402336"/>
          </a:xfrm>
          <a:prstGeom prst="rect">
            <a:avLst/>
          </a:prstGeom>
          <a:noFill/>
        </p:spPr>
        <p:txBody>
          <a:bodyPr wrap="square">
            <a:spAutoFit/>
          </a:bodyPr>
          <a:lstStyle/>
          <a:p>
            <a:pPr algn="ctr"/>
            <a:r>
              <a:rPr sz="1200" b="1" i="0">
                <a:solidFill>
                  <a:srgbClr val="1A1A2E"/>
                </a:solidFill>
              </a:rPr>
              <a:t>Buck 5 V / 3 A</a:t>
            </a:r>
          </a:p>
        </p:txBody>
      </p:sp>
      <p:sp>
        <p:nvSpPr>
          <p:cNvPr id="19" name="Rectangle 18"/>
          <p:cNvSpPr/>
          <p:nvPr/>
        </p:nvSpPr>
        <p:spPr>
          <a:xfrm>
            <a:off x="3200400" y="3602736"/>
            <a:ext cx="2560320" cy="694944"/>
          </a:xfrm>
          <a:prstGeom prst="rect">
            <a:avLst/>
          </a:prstGeom>
          <a:solidFill>
            <a:srgbClr val="16213E"/>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91840" y="3657600"/>
            <a:ext cx="2377440" cy="640080"/>
          </a:xfrm>
          <a:prstGeom prst="rect">
            <a:avLst/>
          </a:prstGeom>
          <a:noFill/>
        </p:spPr>
        <p:txBody>
          <a:bodyPr wrap="square">
            <a:spAutoFit/>
          </a:bodyPr>
          <a:lstStyle/>
          <a:p>
            <a:pPr algn="l"/>
            <a:r>
              <a:rPr sz="1100" b="0" i="0">
                <a:solidFill>
                  <a:srgbClr val="FFFFFF"/>
                </a:solidFill>
              </a:rPr>
              <a:t>→ MB1292B (VIN)
→ Motor Shield Vss</a:t>
            </a:r>
          </a:p>
        </p:txBody>
      </p:sp>
      <p:sp>
        <p:nvSpPr>
          <p:cNvPr id="21" name="Rectangle 20"/>
          <p:cNvSpPr/>
          <p:nvPr/>
        </p:nvSpPr>
        <p:spPr>
          <a:xfrm>
            <a:off x="6217920" y="1371600"/>
            <a:ext cx="2286000" cy="402336"/>
          </a:xfrm>
          <a:prstGeom prst="rect">
            <a:avLst/>
          </a:prstGeom>
          <a:solidFill>
            <a:srgbClr val="00CC66"/>
          </a:solidFill>
          <a:ln w="1270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1408176"/>
            <a:ext cx="2103120" cy="402336"/>
          </a:xfrm>
          <a:prstGeom prst="rect">
            <a:avLst/>
          </a:prstGeom>
          <a:noFill/>
        </p:spPr>
        <p:txBody>
          <a:bodyPr wrap="square">
            <a:spAutoFit/>
          </a:bodyPr>
          <a:lstStyle/>
          <a:p>
            <a:pPr algn="ctr"/>
            <a:r>
              <a:rPr sz="1200" b="1" i="0">
                <a:solidFill>
                  <a:srgbClr val="1A1A2E"/>
                </a:solidFill>
              </a:rPr>
              <a:t>Moteurs DC</a:t>
            </a:r>
          </a:p>
        </p:txBody>
      </p:sp>
      <p:sp>
        <p:nvSpPr>
          <p:cNvPr id="23" name="Rectangle 22"/>
          <p:cNvSpPr/>
          <p:nvPr/>
        </p:nvSpPr>
        <p:spPr>
          <a:xfrm>
            <a:off x="6217920" y="1773936"/>
            <a:ext cx="2286000" cy="694944"/>
          </a:xfrm>
          <a:prstGeom prst="rect">
            <a:avLst/>
          </a:prstGeom>
          <a:solidFill>
            <a:srgbClr val="16213E"/>
          </a:solidFill>
          <a:ln w="1270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9360" y="1828800"/>
            <a:ext cx="2103120" cy="640080"/>
          </a:xfrm>
          <a:prstGeom prst="rect">
            <a:avLst/>
          </a:prstGeom>
          <a:noFill/>
        </p:spPr>
        <p:txBody>
          <a:bodyPr wrap="square">
            <a:spAutoFit/>
          </a:bodyPr>
          <a:lstStyle/>
          <a:p>
            <a:pPr algn="l"/>
            <a:r>
              <a:rPr sz="1100" b="0" i="0">
                <a:solidFill>
                  <a:srgbClr val="FFFFFF"/>
                </a:solidFill>
              </a:rPr>
              <a:t>Canal A + Canal B
Alimentés par Vs</a:t>
            </a:r>
          </a:p>
        </p:txBody>
      </p:sp>
      <p:sp>
        <p:nvSpPr>
          <p:cNvPr id="25" name="Rectangle 24"/>
          <p:cNvSpPr/>
          <p:nvPr/>
        </p:nvSpPr>
        <p:spPr>
          <a:xfrm>
            <a:off x="6217920" y="3200400"/>
            <a:ext cx="2286000" cy="402336"/>
          </a:xfrm>
          <a:prstGeom prst="rect">
            <a:avLst/>
          </a:prstGeom>
          <a:solidFill>
            <a:srgbClr val="00BFFF"/>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0" y="3236976"/>
            <a:ext cx="2103120" cy="402336"/>
          </a:xfrm>
          <a:prstGeom prst="rect">
            <a:avLst/>
          </a:prstGeom>
          <a:noFill/>
        </p:spPr>
        <p:txBody>
          <a:bodyPr wrap="square">
            <a:spAutoFit/>
          </a:bodyPr>
          <a:lstStyle/>
          <a:p>
            <a:pPr algn="ctr"/>
            <a:r>
              <a:rPr sz="1200" b="1" i="0">
                <a:solidFill>
                  <a:srgbClr val="1A1A2E"/>
                </a:solidFill>
              </a:rPr>
              <a:t>MB1292B</a:t>
            </a:r>
          </a:p>
        </p:txBody>
      </p:sp>
      <p:sp>
        <p:nvSpPr>
          <p:cNvPr id="27" name="Rectangle 26"/>
          <p:cNvSpPr/>
          <p:nvPr/>
        </p:nvSpPr>
        <p:spPr>
          <a:xfrm>
            <a:off x="6217920" y="3602736"/>
            <a:ext cx="2286000" cy="694944"/>
          </a:xfrm>
          <a:prstGeom prst="rect">
            <a:avLst/>
          </a:prstGeom>
          <a:solidFill>
            <a:srgbClr val="16213E"/>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60" y="3657600"/>
            <a:ext cx="2103120" cy="640080"/>
          </a:xfrm>
          <a:prstGeom prst="rect">
            <a:avLst/>
          </a:prstGeom>
          <a:noFill/>
        </p:spPr>
        <p:txBody>
          <a:bodyPr wrap="square">
            <a:spAutoFit/>
          </a:bodyPr>
          <a:lstStyle/>
          <a:p>
            <a:pPr algn="l"/>
            <a:r>
              <a:rPr sz="1100" b="0" i="0">
                <a:solidFill>
                  <a:srgbClr val="FFFFFF"/>
                </a:solidFill>
              </a:rPr>
              <a:t>Alim. via VIN header
3.3 V régulé interne</a:t>
            </a:r>
          </a:p>
        </p:txBody>
      </p:sp>
      <p:sp>
        <p:nvSpPr>
          <p:cNvPr id="29" name="Rectangle 28"/>
          <p:cNvSpPr/>
          <p:nvPr/>
        </p:nvSpPr>
        <p:spPr>
          <a:xfrm>
            <a:off x="8869680" y="3200400"/>
            <a:ext cx="2560320" cy="402336"/>
          </a:xfrm>
          <a:prstGeom prst="rect">
            <a:avLst/>
          </a:prstGeom>
          <a:solidFill>
            <a:srgbClr val="FF8800"/>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61120" y="3236976"/>
            <a:ext cx="2377440" cy="402336"/>
          </a:xfrm>
          <a:prstGeom prst="rect">
            <a:avLst/>
          </a:prstGeom>
          <a:noFill/>
        </p:spPr>
        <p:txBody>
          <a:bodyPr wrap="square">
            <a:spAutoFit/>
          </a:bodyPr>
          <a:lstStyle/>
          <a:p>
            <a:pPr algn="ctr"/>
            <a:r>
              <a:rPr sz="1200" b="1" i="0">
                <a:solidFill>
                  <a:srgbClr val="1A1A2E"/>
                </a:solidFill>
              </a:rPr>
              <a:t>Motor Shield Vss</a:t>
            </a:r>
          </a:p>
        </p:txBody>
      </p:sp>
      <p:sp>
        <p:nvSpPr>
          <p:cNvPr id="31" name="Rectangle 30"/>
          <p:cNvSpPr/>
          <p:nvPr/>
        </p:nvSpPr>
        <p:spPr>
          <a:xfrm>
            <a:off x="8869680" y="3602736"/>
            <a:ext cx="2560320" cy="694944"/>
          </a:xfrm>
          <a:prstGeom prst="rect">
            <a:avLst/>
          </a:prstGeom>
          <a:solidFill>
            <a:srgbClr val="16213E"/>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961120" y="3657600"/>
            <a:ext cx="2377440" cy="640080"/>
          </a:xfrm>
          <a:prstGeom prst="rect">
            <a:avLst/>
          </a:prstGeom>
          <a:noFill/>
        </p:spPr>
        <p:txBody>
          <a:bodyPr wrap="square">
            <a:spAutoFit/>
          </a:bodyPr>
          <a:lstStyle/>
          <a:p>
            <a:pPr algn="l"/>
            <a:r>
              <a:rPr sz="1100" b="0" i="0">
                <a:solidFill>
                  <a:srgbClr val="FFFFFF"/>
                </a:solidFill>
              </a:rPr>
              <a:t>Logique L298
(5 V max, typ. 4.5–5.5 V)</a:t>
            </a:r>
          </a:p>
        </p:txBody>
      </p:sp>
      <p:sp>
        <p:nvSpPr>
          <p:cNvPr id="33" name="Rectangle 32"/>
          <p:cNvSpPr/>
          <p:nvPr/>
        </p:nvSpPr>
        <p:spPr>
          <a:xfrm>
            <a:off x="274320" y="4754880"/>
            <a:ext cx="11430000" cy="402336"/>
          </a:xfrm>
          <a:prstGeom prst="rect">
            <a:avLst/>
          </a:prstGeom>
          <a:solidFill>
            <a:srgbClr val="AAAAAA"/>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4791456"/>
            <a:ext cx="11247120" cy="402336"/>
          </a:xfrm>
          <a:prstGeom prst="rect">
            <a:avLst/>
          </a:prstGeom>
          <a:noFill/>
        </p:spPr>
        <p:txBody>
          <a:bodyPr wrap="square">
            <a:spAutoFit/>
          </a:bodyPr>
          <a:lstStyle/>
          <a:p>
            <a:pPr algn="ctr"/>
            <a:r>
              <a:rPr sz="1200" b="1" i="0">
                <a:solidFill>
                  <a:srgbClr val="1A1A2E"/>
                </a:solidFill>
              </a:rPr>
              <a:t>MASSE COMMUNE</a:t>
            </a:r>
          </a:p>
        </p:txBody>
      </p:sp>
      <p:sp>
        <p:nvSpPr>
          <p:cNvPr id="35" name="Rectangle 34"/>
          <p:cNvSpPr/>
          <p:nvPr/>
        </p:nvSpPr>
        <p:spPr>
          <a:xfrm>
            <a:off x="274320" y="5157216"/>
            <a:ext cx="11430000" cy="146304"/>
          </a:xfrm>
          <a:prstGeom prst="rect">
            <a:avLst/>
          </a:prstGeom>
          <a:solidFill>
            <a:srgbClr val="16213E"/>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5212080"/>
            <a:ext cx="11247120" cy="91440"/>
          </a:xfrm>
          <a:prstGeom prst="rect">
            <a:avLst/>
          </a:prstGeom>
          <a:noFill/>
        </p:spPr>
        <p:txBody>
          <a:bodyPr wrap="square">
            <a:spAutoFit/>
          </a:bodyPr>
          <a:lstStyle/>
          <a:p>
            <a:pPr algn="l"/>
            <a:r>
              <a:rPr sz="1100" b="0" i="0">
                <a:solidFill>
                  <a:srgbClr val="FFFFFF"/>
                </a:solidFill>
              </a:rPr>
              <a:t>GND Batterie puissance = GND Batterie logique = GND MB1292B = GND Shield</a:t>
            </a:r>
          </a:p>
        </p:txBody>
      </p:sp>
      <p:sp>
        <p:nvSpPr>
          <p:cNvPr id="37" name="Rectangle 36"/>
          <p:cNvSpPr/>
          <p:nvPr/>
        </p:nvSpPr>
        <p:spPr>
          <a:xfrm>
            <a:off x="274320" y="5486400"/>
            <a:ext cx="11704320" cy="347472"/>
          </a:xfrm>
          <a:prstGeom prst="rect">
            <a:avLst/>
          </a:prstGeom>
          <a:solidFill>
            <a:srgbClr val="5C1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47472" y="5504688"/>
            <a:ext cx="11612880" cy="347472"/>
          </a:xfrm>
          <a:prstGeom prst="rect">
            <a:avLst/>
          </a:prstGeom>
          <a:noFill/>
        </p:spPr>
        <p:txBody>
          <a:bodyPr wrap="square">
            <a:spAutoFit/>
          </a:bodyPr>
          <a:lstStyle/>
          <a:p>
            <a:pPr algn="l"/>
            <a:r>
              <a:rPr sz="1400" b="1" i="0">
                <a:solidFill>
                  <a:srgbClr val="FFD700"/>
                </a:solidFill>
              </a:rPr>
              <a:t>Règles impératives</a:t>
            </a:r>
          </a:p>
        </p:txBody>
      </p:sp>
      <p:sp>
        <p:nvSpPr>
          <p:cNvPr id="39" name="TextBox 38"/>
          <p:cNvSpPr txBox="1"/>
          <p:nvPr/>
        </p:nvSpPr>
        <p:spPr>
          <a:xfrm>
            <a:off x="274320" y="5870448"/>
            <a:ext cx="11704320" cy="347472"/>
          </a:xfrm>
          <a:prstGeom prst="rect">
            <a:avLst/>
          </a:prstGeom>
          <a:noFill/>
        </p:spPr>
        <p:txBody>
          <a:bodyPr wrap="square">
            <a:spAutoFit/>
          </a:bodyPr>
          <a:lstStyle/>
          <a:p>
            <a:pPr algn="l"/>
            <a:r>
              <a:rPr sz="1050" b="1" i="0">
                <a:solidFill>
                  <a:srgbClr val="FF4444"/>
                </a:solidFill>
              </a:rPr>
              <a:t>⚠  La masse des deux batteries DOIT être raccordée au même point GND — sinon les niveaux logiques sont flottants.</a:t>
            </a:r>
          </a:p>
        </p:txBody>
      </p:sp>
      <p:sp>
        <p:nvSpPr>
          <p:cNvPr id="40" name="TextBox 39"/>
          <p:cNvSpPr txBox="1"/>
          <p:nvPr/>
        </p:nvSpPr>
        <p:spPr>
          <a:xfrm>
            <a:off x="274320" y="6217920"/>
            <a:ext cx="11704320" cy="347472"/>
          </a:xfrm>
          <a:prstGeom prst="rect">
            <a:avLst/>
          </a:prstGeom>
          <a:noFill/>
        </p:spPr>
        <p:txBody>
          <a:bodyPr wrap="square">
            <a:spAutoFit/>
          </a:bodyPr>
          <a:lstStyle/>
          <a:p>
            <a:pPr algn="l"/>
            <a:r>
              <a:rPr sz="1050" b="1" i="0">
                <a:solidFill>
                  <a:srgbClr val="FF4444"/>
                </a:solidFill>
              </a:rPr>
              <a:t>⚠  Le Vs du Motor Shield NE doit PAS alimenter la logique MB1292B — deux rails séparés.</a:t>
            </a:r>
          </a:p>
        </p:txBody>
      </p:sp>
      <p:sp>
        <p:nvSpPr>
          <p:cNvPr id="41" name="TextBox 40"/>
          <p:cNvSpPr txBox="1"/>
          <p:nvPr/>
        </p:nvSpPr>
        <p:spPr>
          <a:xfrm>
            <a:off x="274320" y="6565392"/>
            <a:ext cx="11704320" cy="347472"/>
          </a:xfrm>
          <a:prstGeom prst="rect">
            <a:avLst/>
          </a:prstGeom>
          <a:noFill/>
        </p:spPr>
        <p:txBody>
          <a:bodyPr wrap="square">
            <a:spAutoFit/>
          </a:bodyPr>
          <a:lstStyle/>
          <a:p>
            <a:pPr algn="l"/>
            <a:r>
              <a:rPr sz="1050" b="1" i="0">
                <a:solidFill>
                  <a:srgbClr val="FF4444"/>
                </a:solidFill>
              </a:rPr>
              <a:t>⚠  Capacité de découplage (100 µF + 100 nF) au plus près de Vs du shield — spikes de commutation L298.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Convention de Couleurs des Fils</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MB1292B → Motor Shield — couleurs standardisées pour le câblage du projet</a:t>
            </a:r>
          </a:p>
        </p:txBody>
      </p:sp>
      <p:sp>
        <p:nvSpPr>
          <p:cNvPr id="5" name="Rectangle 4"/>
          <p:cNvSpPr/>
          <p:nvPr/>
        </p:nvSpPr>
        <p:spPr>
          <a:xfrm>
            <a:off x="274320" y="1325880"/>
            <a:ext cx="1188720" cy="1005840"/>
          </a:xfrm>
          <a:prstGeom prst="rect">
            <a:avLst/>
          </a:prstGeom>
          <a:solidFill>
            <a:srgbClr val="AA55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645920"/>
            <a:ext cx="1188720" cy="457200"/>
          </a:xfrm>
          <a:prstGeom prst="rect">
            <a:avLst/>
          </a:prstGeom>
          <a:noFill/>
        </p:spPr>
        <p:txBody>
          <a:bodyPr wrap="square">
            <a:spAutoFit/>
          </a:bodyPr>
          <a:lstStyle/>
          <a:p>
            <a:pPr algn="ctr"/>
            <a:r>
              <a:rPr sz="1300" b="1" i="0">
                <a:solidFill>
                  <a:srgbClr val="1A1A2E"/>
                </a:solidFill>
              </a:rPr>
              <a:t>VIOLET</a:t>
            </a:r>
          </a:p>
        </p:txBody>
      </p:sp>
      <p:sp>
        <p:nvSpPr>
          <p:cNvPr id="7" name="Rectangle 6"/>
          <p:cNvSpPr/>
          <p:nvPr/>
        </p:nvSpPr>
        <p:spPr>
          <a:xfrm>
            <a:off x="1645920" y="1417320"/>
            <a:ext cx="1188720" cy="457200"/>
          </a:xfrm>
          <a:prstGeom prst="rect">
            <a:avLst/>
          </a:prstGeom>
          <a:solidFill>
            <a:srgbClr val="0F3C78"/>
          </a:solidFill>
          <a:ln w="2540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463040"/>
            <a:ext cx="1188720" cy="457200"/>
          </a:xfrm>
          <a:prstGeom prst="rect">
            <a:avLst/>
          </a:prstGeom>
          <a:noFill/>
        </p:spPr>
        <p:txBody>
          <a:bodyPr wrap="square">
            <a:spAutoFit/>
          </a:bodyPr>
          <a:lstStyle/>
          <a:p>
            <a:pPr algn="ctr"/>
            <a:r>
              <a:rPr sz="1600" b="1" i="0">
                <a:solidFill>
                  <a:srgbClr val="AA55FF"/>
                </a:solidFill>
              </a:rPr>
              <a:t>PWM</a:t>
            </a:r>
          </a:p>
        </p:txBody>
      </p:sp>
      <p:sp>
        <p:nvSpPr>
          <p:cNvPr id="9" name="TextBox 8"/>
          <p:cNvSpPr txBox="1"/>
          <p:nvPr/>
        </p:nvSpPr>
        <p:spPr>
          <a:xfrm>
            <a:off x="3017520" y="1371600"/>
            <a:ext cx="4114800" cy="365760"/>
          </a:xfrm>
          <a:prstGeom prst="rect">
            <a:avLst/>
          </a:prstGeom>
          <a:noFill/>
        </p:spPr>
        <p:txBody>
          <a:bodyPr wrap="square">
            <a:spAutoFit/>
          </a:bodyPr>
          <a:lstStyle/>
          <a:p>
            <a:pPr algn="l"/>
            <a:r>
              <a:rPr sz="1200" b="1" i="0">
                <a:solidFill>
                  <a:srgbClr val="FFFFFF"/>
                </a:solidFill>
              </a:rPr>
              <a:t>Commande vitesse moteur (duty cycle)</a:t>
            </a:r>
          </a:p>
        </p:txBody>
      </p:sp>
      <p:sp>
        <p:nvSpPr>
          <p:cNvPr id="10" name="TextBox 9"/>
          <p:cNvSpPr txBox="1"/>
          <p:nvPr/>
        </p:nvSpPr>
        <p:spPr>
          <a:xfrm>
            <a:off x="3017520" y="1737360"/>
            <a:ext cx="8869680" cy="320040"/>
          </a:xfrm>
          <a:prstGeom prst="rect">
            <a:avLst/>
          </a:prstGeom>
          <a:noFill/>
        </p:spPr>
        <p:txBody>
          <a:bodyPr wrap="square">
            <a:spAutoFit/>
          </a:bodyPr>
          <a:lstStyle/>
          <a:p>
            <a:pPr algn="l"/>
            <a:r>
              <a:rPr sz="1100" b="0" i="0">
                <a:solidFill>
                  <a:srgbClr val="AAAAAA"/>
                </a:solidFill>
              </a:rPr>
              <a:t>Signaux : MOTOR_LEFT_PWM, MOTOR_RIGHT_PWM</a:t>
            </a:r>
          </a:p>
        </p:txBody>
      </p:sp>
      <p:sp>
        <p:nvSpPr>
          <p:cNvPr id="11" name="TextBox 10"/>
          <p:cNvSpPr txBox="1"/>
          <p:nvPr/>
        </p:nvSpPr>
        <p:spPr>
          <a:xfrm>
            <a:off x="3017520" y="2039112"/>
            <a:ext cx="8869680" cy="320040"/>
          </a:xfrm>
          <a:prstGeom prst="rect">
            <a:avLst/>
          </a:prstGeom>
          <a:noFill/>
        </p:spPr>
        <p:txBody>
          <a:bodyPr wrap="square">
            <a:spAutoFit/>
          </a:bodyPr>
          <a:lstStyle/>
          <a:p>
            <a:pPr algn="l"/>
            <a:r>
              <a:rPr sz="1100" b="0" i="0">
                <a:solidFill>
                  <a:srgbClr val="AA55FF"/>
                </a:solidFill>
              </a:rPr>
              <a:t>Broches : PC1 → Shield PWM A  |  PE0 → Shield PWM B</a:t>
            </a:r>
          </a:p>
        </p:txBody>
      </p:sp>
      <p:sp>
        <p:nvSpPr>
          <p:cNvPr id="12" name="Rectangle 11"/>
          <p:cNvSpPr/>
          <p:nvPr/>
        </p:nvSpPr>
        <p:spPr>
          <a:xfrm>
            <a:off x="274320" y="2606040"/>
            <a:ext cx="1188720" cy="1005840"/>
          </a:xfrm>
          <a:prstGeom prst="rect">
            <a:avLst/>
          </a:prstGeom>
          <a:solidFill>
            <a:srgbClr val="AAAAA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2926080"/>
            <a:ext cx="1188720" cy="457200"/>
          </a:xfrm>
          <a:prstGeom prst="rect">
            <a:avLst/>
          </a:prstGeom>
          <a:noFill/>
        </p:spPr>
        <p:txBody>
          <a:bodyPr wrap="square">
            <a:spAutoFit/>
          </a:bodyPr>
          <a:lstStyle/>
          <a:p>
            <a:pPr algn="ctr"/>
            <a:r>
              <a:rPr sz="1300" b="1" i="0">
                <a:solidFill>
                  <a:srgbClr val="1A1A2E"/>
                </a:solidFill>
              </a:rPr>
              <a:t>GRIS</a:t>
            </a:r>
          </a:p>
        </p:txBody>
      </p:sp>
      <p:sp>
        <p:nvSpPr>
          <p:cNvPr id="14" name="Rectangle 13"/>
          <p:cNvSpPr/>
          <p:nvPr/>
        </p:nvSpPr>
        <p:spPr>
          <a:xfrm>
            <a:off x="1645920" y="2697480"/>
            <a:ext cx="1188720" cy="457200"/>
          </a:xfrm>
          <a:prstGeom prst="rect">
            <a:avLst/>
          </a:prstGeom>
          <a:solidFill>
            <a:srgbClr val="0F3C78"/>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45920" y="2743200"/>
            <a:ext cx="1188720" cy="457200"/>
          </a:xfrm>
          <a:prstGeom prst="rect">
            <a:avLst/>
          </a:prstGeom>
          <a:noFill/>
        </p:spPr>
        <p:txBody>
          <a:bodyPr wrap="square">
            <a:spAutoFit/>
          </a:bodyPr>
          <a:lstStyle/>
          <a:p>
            <a:pPr algn="ctr"/>
            <a:r>
              <a:rPr sz="1600" b="1" i="0">
                <a:solidFill>
                  <a:srgbClr val="AAAAAA"/>
                </a:solidFill>
              </a:rPr>
              <a:t>DIR</a:t>
            </a:r>
          </a:p>
        </p:txBody>
      </p:sp>
      <p:sp>
        <p:nvSpPr>
          <p:cNvPr id="16" name="TextBox 15"/>
          <p:cNvSpPr txBox="1"/>
          <p:nvPr/>
        </p:nvSpPr>
        <p:spPr>
          <a:xfrm>
            <a:off x="3017520" y="2651760"/>
            <a:ext cx="4114800" cy="365760"/>
          </a:xfrm>
          <a:prstGeom prst="rect">
            <a:avLst/>
          </a:prstGeom>
          <a:noFill/>
        </p:spPr>
        <p:txBody>
          <a:bodyPr wrap="square">
            <a:spAutoFit/>
          </a:bodyPr>
          <a:lstStyle/>
          <a:p>
            <a:pPr algn="l"/>
            <a:r>
              <a:rPr sz="1200" b="1" i="0">
                <a:solidFill>
                  <a:srgbClr val="FFFFFF"/>
                </a:solidFill>
              </a:rPr>
              <a:t>Sens de rotation moteur</a:t>
            </a:r>
          </a:p>
        </p:txBody>
      </p:sp>
      <p:sp>
        <p:nvSpPr>
          <p:cNvPr id="17" name="TextBox 16"/>
          <p:cNvSpPr txBox="1"/>
          <p:nvPr/>
        </p:nvSpPr>
        <p:spPr>
          <a:xfrm>
            <a:off x="3017520" y="3017520"/>
            <a:ext cx="8869680" cy="320040"/>
          </a:xfrm>
          <a:prstGeom prst="rect">
            <a:avLst/>
          </a:prstGeom>
          <a:noFill/>
        </p:spPr>
        <p:txBody>
          <a:bodyPr wrap="square">
            <a:spAutoFit/>
          </a:bodyPr>
          <a:lstStyle/>
          <a:p>
            <a:pPr algn="l"/>
            <a:r>
              <a:rPr sz="1100" b="0" i="0">
                <a:solidFill>
                  <a:srgbClr val="AAAAAA"/>
                </a:solidFill>
              </a:rPr>
              <a:t>Signaux : MOTOR_LEFT_DIR, MOTOR_RIGHT_DIR</a:t>
            </a:r>
          </a:p>
        </p:txBody>
      </p:sp>
      <p:sp>
        <p:nvSpPr>
          <p:cNvPr id="18" name="TextBox 17"/>
          <p:cNvSpPr txBox="1"/>
          <p:nvPr/>
        </p:nvSpPr>
        <p:spPr>
          <a:xfrm>
            <a:off x="3017520" y="3319272"/>
            <a:ext cx="8869680" cy="320040"/>
          </a:xfrm>
          <a:prstGeom prst="rect">
            <a:avLst/>
          </a:prstGeom>
          <a:noFill/>
        </p:spPr>
        <p:txBody>
          <a:bodyPr wrap="square">
            <a:spAutoFit/>
          </a:bodyPr>
          <a:lstStyle/>
          <a:p>
            <a:pPr algn="l"/>
            <a:r>
              <a:rPr sz="1100" b="0" i="0">
                <a:solidFill>
                  <a:srgbClr val="AAAAAA"/>
                </a:solidFill>
              </a:rPr>
              <a:t>Broches : PD12 → Shield DIR A  |  PE3 → Shield DIR B</a:t>
            </a:r>
          </a:p>
        </p:txBody>
      </p:sp>
      <p:sp>
        <p:nvSpPr>
          <p:cNvPr id="19" name="Rectangle 18"/>
          <p:cNvSpPr/>
          <p:nvPr/>
        </p:nvSpPr>
        <p:spPr>
          <a:xfrm>
            <a:off x="274320" y="3886200"/>
            <a:ext cx="1188720" cy="1005840"/>
          </a:xfrm>
          <a:prstGeom prst="rect">
            <a:avLst/>
          </a:prstGeom>
          <a:solidFill>
            <a:srgbClr val="00BFF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4320" y="4206240"/>
            <a:ext cx="1188720" cy="457200"/>
          </a:xfrm>
          <a:prstGeom prst="rect">
            <a:avLst/>
          </a:prstGeom>
          <a:noFill/>
        </p:spPr>
        <p:txBody>
          <a:bodyPr wrap="square">
            <a:spAutoFit/>
          </a:bodyPr>
          <a:lstStyle/>
          <a:p>
            <a:pPr algn="ctr"/>
            <a:r>
              <a:rPr sz="1300" b="1" i="0">
                <a:solidFill>
                  <a:srgbClr val="1A1A2E"/>
                </a:solidFill>
              </a:rPr>
              <a:t>BLEU</a:t>
            </a:r>
          </a:p>
        </p:txBody>
      </p:sp>
      <p:sp>
        <p:nvSpPr>
          <p:cNvPr id="21" name="Rectangle 20"/>
          <p:cNvSpPr/>
          <p:nvPr/>
        </p:nvSpPr>
        <p:spPr>
          <a:xfrm>
            <a:off x="1645920" y="3977640"/>
            <a:ext cx="1188720" cy="457200"/>
          </a:xfrm>
          <a:prstGeom prst="rect">
            <a:avLst/>
          </a:prstGeom>
          <a:solidFill>
            <a:srgbClr val="0F3C78"/>
          </a:solidFill>
          <a:ln w="254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645920" y="4023360"/>
            <a:ext cx="1188720" cy="457200"/>
          </a:xfrm>
          <a:prstGeom prst="rect">
            <a:avLst/>
          </a:prstGeom>
          <a:noFill/>
        </p:spPr>
        <p:txBody>
          <a:bodyPr wrap="square">
            <a:spAutoFit/>
          </a:bodyPr>
          <a:lstStyle/>
          <a:p>
            <a:pPr algn="ctr"/>
            <a:r>
              <a:rPr sz="1600" b="1" i="0">
                <a:solidFill>
                  <a:srgbClr val="00BFFF"/>
                </a:solidFill>
              </a:rPr>
              <a:t>BRAKE</a:t>
            </a:r>
          </a:p>
        </p:txBody>
      </p:sp>
      <p:sp>
        <p:nvSpPr>
          <p:cNvPr id="23" name="TextBox 22"/>
          <p:cNvSpPr txBox="1"/>
          <p:nvPr/>
        </p:nvSpPr>
        <p:spPr>
          <a:xfrm>
            <a:off x="3017520" y="3931920"/>
            <a:ext cx="4114800" cy="365760"/>
          </a:xfrm>
          <a:prstGeom prst="rect">
            <a:avLst/>
          </a:prstGeom>
          <a:noFill/>
        </p:spPr>
        <p:txBody>
          <a:bodyPr wrap="square">
            <a:spAutoFit/>
          </a:bodyPr>
          <a:lstStyle/>
          <a:p>
            <a:pPr algn="l"/>
            <a:r>
              <a:rPr sz="1200" b="1" i="0">
                <a:solidFill>
                  <a:srgbClr val="FFFFFF"/>
                </a:solidFill>
              </a:rPr>
              <a:t>Frein moteur actif</a:t>
            </a:r>
          </a:p>
        </p:txBody>
      </p:sp>
      <p:sp>
        <p:nvSpPr>
          <p:cNvPr id="24" name="TextBox 23"/>
          <p:cNvSpPr txBox="1"/>
          <p:nvPr/>
        </p:nvSpPr>
        <p:spPr>
          <a:xfrm>
            <a:off x="3017520" y="4297680"/>
            <a:ext cx="8869680" cy="320040"/>
          </a:xfrm>
          <a:prstGeom prst="rect">
            <a:avLst/>
          </a:prstGeom>
          <a:noFill/>
        </p:spPr>
        <p:txBody>
          <a:bodyPr wrap="square">
            <a:spAutoFit/>
          </a:bodyPr>
          <a:lstStyle/>
          <a:p>
            <a:pPr algn="l"/>
            <a:r>
              <a:rPr sz="1100" b="0" i="0">
                <a:solidFill>
                  <a:srgbClr val="AAAAAA"/>
                </a:solidFill>
              </a:rPr>
              <a:t>Signaux : MOTOR_LEFT_BRAKE, MOTOR_RIGHT_BRAKE</a:t>
            </a:r>
          </a:p>
        </p:txBody>
      </p:sp>
      <p:sp>
        <p:nvSpPr>
          <p:cNvPr id="25" name="TextBox 24"/>
          <p:cNvSpPr txBox="1"/>
          <p:nvPr/>
        </p:nvSpPr>
        <p:spPr>
          <a:xfrm>
            <a:off x="3017520" y="4599432"/>
            <a:ext cx="8869680" cy="320040"/>
          </a:xfrm>
          <a:prstGeom prst="rect">
            <a:avLst/>
          </a:prstGeom>
          <a:noFill/>
        </p:spPr>
        <p:txBody>
          <a:bodyPr wrap="square">
            <a:spAutoFit/>
          </a:bodyPr>
          <a:lstStyle/>
          <a:p>
            <a:pPr algn="l"/>
            <a:r>
              <a:rPr sz="1100" b="0" i="0">
                <a:solidFill>
                  <a:srgbClr val="00BFFF"/>
                </a:solidFill>
              </a:rPr>
              <a:t>Broches : PD13 → Shield BRAKE A  |  PB2 → Shield BRAKE B</a:t>
            </a:r>
          </a:p>
        </p:txBody>
      </p:sp>
      <p:sp>
        <p:nvSpPr>
          <p:cNvPr id="26" name="Rectangle 25"/>
          <p:cNvSpPr/>
          <p:nvPr/>
        </p:nvSpPr>
        <p:spPr>
          <a:xfrm>
            <a:off x="274320" y="5166360"/>
            <a:ext cx="1188720" cy="1005840"/>
          </a:xfrm>
          <a:prstGeom prst="rect">
            <a:avLst/>
          </a:prstGeom>
          <a:solidFill>
            <a:srgbClr val="00DD8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4320" y="5486400"/>
            <a:ext cx="1188720" cy="457200"/>
          </a:xfrm>
          <a:prstGeom prst="rect">
            <a:avLst/>
          </a:prstGeom>
          <a:noFill/>
        </p:spPr>
        <p:txBody>
          <a:bodyPr wrap="square">
            <a:spAutoFit/>
          </a:bodyPr>
          <a:lstStyle/>
          <a:p>
            <a:pPr algn="ctr"/>
            <a:r>
              <a:rPr sz="1300" b="1" i="0">
                <a:solidFill>
                  <a:srgbClr val="1A1A2E"/>
                </a:solidFill>
              </a:rPr>
              <a:t>VERT</a:t>
            </a:r>
          </a:p>
        </p:txBody>
      </p:sp>
      <p:sp>
        <p:nvSpPr>
          <p:cNvPr id="28" name="Rectangle 27"/>
          <p:cNvSpPr/>
          <p:nvPr/>
        </p:nvSpPr>
        <p:spPr>
          <a:xfrm>
            <a:off x="1645920" y="5257800"/>
            <a:ext cx="1188720" cy="457200"/>
          </a:xfrm>
          <a:prstGeom prst="rect">
            <a:avLst/>
          </a:prstGeom>
          <a:solidFill>
            <a:srgbClr val="0F3C78"/>
          </a:solidFill>
          <a:ln w="25400">
            <a:solidFill>
              <a:srgbClr val="00DD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45920" y="5303520"/>
            <a:ext cx="1188720" cy="457200"/>
          </a:xfrm>
          <a:prstGeom prst="rect">
            <a:avLst/>
          </a:prstGeom>
          <a:noFill/>
        </p:spPr>
        <p:txBody>
          <a:bodyPr wrap="square">
            <a:spAutoFit/>
          </a:bodyPr>
          <a:lstStyle/>
          <a:p>
            <a:pPr algn="ctr"/>
            <a:r>
              <a:rPr sz="1600" b="1" i="0">
                <a:solidFill>
                  <a:srgbClr val="00DD88"/>
                </a:solidFill>
              </a:rPr>
              <a:t>CURRENT</a:t>
            </a:r>
          </a:p>
        </p:txBody>
      </p:sp>
      <p:sp>
        <p:nvSpPr>
          <p:cNvPr id="30" name="TextBox 29"/>
          <p:cNvSpPr txBox="1"/>
          <p:nvPr/>
        </p:nvSpPr>
        <p:spPr>
          <a:xfrm>
            <a:off x="3017520" y="5212080"/>
            <a:ext cx="4114800" cy="365760"/>
          </a:xfrm>
          <a:prstGeom prst="rect">
            <a:avLst/>
          </a:prstGeom>
          <a:noFill/>
        </p:spPr>
        <p:txBody>
          <a:bodyPr wrap="square">
            <a:spAutoFit/>
          </a:bodyPr>
          <a:lstStyle/>
          <a:p>
            <a:pPr algn="l"/>
            <a:r>
              <a:rPr sz="1200" b="1" i="0">
                <a:solidFill>
                  <a:srgbClr val="FFFFFF"/>
                </a:solidFill>
              </a:rPr>
              <a:t>Mesure de courant moteur (retour ADC)</a:t>
            </a:r>
          </a:p>
        </p:txBody>
      </p:sp>
      <p:sp>
        <p:nvSpPr>
          <p:cNvPr id="31" name="TextBox 30"/>
          <p:cNvSpPr txBox="1"/>
          <p:nvPr/>
        </p:nvSpPr>
        <p:spPr>
          <a:xfrm>
            <a:off x="3017520" y="5577840"/>
            <a:ext cx="8869680" cy="320040"/>
          </a:xfrm>
          <a:prstGeom prst="rect">
            <a:avLst/>
          </a:prstGeom>
          <a:noFill/>
        </p:spPr>
        <p:txBody>
          <a:bodyPr wrap="square">
            <a:spAutoFit/>
          </a:bodyPr>
          <a:lstStyle/>
          <a:p>
            <a:pPr algn="l"/>
            <a:r>
              <a:rPr sz="1100" b="0" i="0">
                <a:solidFill>
                  <a:srgbClr val="AAAAAA"/>
                </a:solidFill>
              </a:rPr>
              <a:t>Signaux : MOTOR_LEFT_CURRENT, MOTOR_RIGHT_CURRENT</a:t>
            </a:r>
          </a:p>
        </p:txBody>
      </p:sp>
      <p:sp>
        <p:nvSpPr>
          <p:cNvPr id="32" name="TextBox 31"/>
          <p:cNvSpPr txBox="1"/>
          <p:nvPr/>
        </p:nvSpPr>
        <p:spPr>
          <a:xfrm>
            <a:off x="3017520" y="5879592"/>
            <a:ext cx="8869680" cy="320040"/>
          </a:xfrm>
          <a:prstGeom prst="rect">
            <a:avLst/>
          </a:prstGeom>
          <a:noFill/>
        </p:spPr>
        <p:txBody>
          <a:bodyPr wrap="square">
            <a:spAutoFit/>
          </a:bodyPr>
          <a:lstStyle/>
          <a:p>
            <a:pPr algn="l"/>
            <a:r>
              <a:rPr sz="1100" b="0" i="0">
                <a:solidFill>
                  <a:srgbClr val="00DD88"/>
                </a:solidFill>
              </a:rPr>
              <a:t>Broches : Shield CS A → PA5  |  Shield CS B → PC3</a:t>
            </a:r>
          </a:p>
        </p:txBody>
      </p:sp>
      <p:sp>
        <p:nvSpPr>
          <p:cNvPr id="33" name="Rectangle 32"/>
          <p:cNvSpPr/>
          <p:nvPr/>
        </p:nvSpPr>
        <p:spPr>
          <a:xfrm>
            <a:off x="274320" y="6400800"/>
            <a:ext cx="11704320" cy="347472"/>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6428232"/>
            <a:ext cx="11430000" cy="320040"/>
          </a:xfrm>
          <a:prstGeom prst="rect">
            <a:avLst/>
          </a:prstGeom>
          <a:noFill/>
        </p:spPr>
        <p:txBody>
          <a:bodyPr wrap="square">
            <a:spAutoFit/>
          </a:bodyPr>
          <a:lstStyle/>
          <a:p>
            <a:pPr algn="l"/>
            <a:r>
              <a:rPr sz="1100" b="0" i="1">
                <a:solidFill>
                  <a:srgbClr val="FFD700"/>
                </a:solidFill>
              </a:rPr>
              <a:t>Conseil : étiqueter chaque fil avec le nom du signal (ex. MOTOR_LEFT_PWM) pour faciliter le dépannage.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Points d'Attention &amp; Pièges</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Erreurs fréquentes à éviter — vérifications avant mise sous tension</a:t>
            </a:r>
          </a:p>
        </p:txBody>
      </p:sp>
      <p:sp>
        <p:nvSpPr>
          <p:cNvPr id="5" name="Rectangle 4"/>
          <p:cNvSpPr/>
          <p:nvPr/>
        </p:nvSpPr>
        <p:spPr>
          <a:xfrm>
            <a:off x="182880" y="1280160"/>
            <a:ext cx="5760720" cy="365760"/>
          </a:xfrm>
          <a:prstGeom prst="rect">
            <a:avLst/>
          </a:prstGeom>
          <a:solidFill>
            <a:srgbClr val="FF444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316736"/>
            <a:ext cx="5577840" cy="347472"/>
          </a:xfrm>
          <a:prstGeom prst="rect">
            <a:avLst/>
          </a:prstGeom>
          <a:noFill/>
        </p:spPr>
        <p:txBody>
          <a:bodyPr wrap="square">
            <a:spAutoFit/>
          </a:bodyPr>
          <a:lstStyle/>
          <a:p>
            <a:pPr algn="l"/>
            <a:r>
              <a:rPr sz="1300" b="1" i="0">
                <a:solidFill>
                  <a:srgbClr val="1A1A2E"/>
                </a:solidFill>
              </a:rPr>
              <a:t>PB3 / SWO</a:t>
            </a:r>
          </a:p>
        </p:txBody>
      </p:sp>
      <p:sp>
        <p:nvSpPr>
          <p:cNvPr id="7" name="Rectangle 6"/>
          <p:cNvSpPr/>
          <p:nvPr/>
        </p:nvSpPr>
        <p:spPr>
          <a:xfrm>
            <a:off x="182880" y="1645920"/>
            <a:ext cx="5760720" cy="1188720"/>
          </a:xfrm>
          <a:prstGeom prst="rect">
            <a:avLst/>
          </a:prstGeom>
          <a:solidFill>
            <a:srgbClr val="16213E"/>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2608" y="1700784"/>
            <a:ext cx="5541264" cy="1097280"/>
          </a:xfrm>
          <a:prstGeom prst="rect">
            <a:avLst/>
          </a:prstGeom>
          <a:noFill/>
        </p:spPr>
        <p:txBody>
          <a:bodyPr wrap="square">
            <a:spAutoFit/>
          </a:bodyPr>
          <a:lstStyle/>
          <a:p>
            <a:pPr algn="l"/>
            <a:r>
              <a:rPr sz="1050" b="0" i="0">
                <a:solidFill>
                  <a:srgbClr val="FFFFFF"/>
                </a:solidFill>
              </a:rPr>
              <a:t>PB3 est par défaut configuré comme trace SWO (JTAG) dans le fichier .ioc CubeMX.
Action : changer le signal PB3 de SYS_JTDO-SWO → TIM2_CH2 dans CubeMX.
Impact : le débogage par trace ITM/SWO est désactivé. Utiliser USART1 VCP pour les traces.</a:t>
            </a:r>
          </a:p>
        </p:txBody>
      </p:sp>
      <p:sp>
        <p:nvSpPr>
          <p:cNvPr id="9" name="Rectangle 8"/>
          <p:cNvSpPr/>
          <p:nvPr/>
        </p:nvSpPr>
        <p:spPr>
          <a:xfrm>
            <a:off x="6172200" y="1280160"/>
            <a:ext cx="5760720" cy="365760"/>
          </a:xfrm>
          <a:prstGeom prst="rect">
            <a:avLst/>
          </a:prstGeom>
          <a:solidFill>
            <a:srgbClr val="FF444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63640" y="1316736"/>
            <a:ext cx="5577840" cy="347472"/>
          </a:xfrm>
          <a:prstGeom prst="rect">
            <a:avLst/>
          </a:prstGeom>
          <a:noFill/>
        </p:spPr>
        <p:txBody>
          <a:bodyPr wrap="square">
            <a:spAutoFit/>
          </a:bodyPr>
          <a:lstStyle/>
          <a:p>
            <a:pPr algn="l"/>
            <a:r>
              <a:rPr sz="1300" b="1" i="0">
                <a:solidFill>
                  <a:srgbClr val="1A1A2E"/>
                </a:solidFill>
              </a:rPr>
              <a:t>PA8 / PA9 — Microphones</a:t>
            </a:r>
          </a:p>
        </p:txBody>
      </p:sp>
      <p:sp>
        <p:nvSpPr>
          <p:cNvPr id="11" name="Rectangle 10"/>
          <p:cNvSpPr/>
          <p:nvPr/>
        </p:nvSpPr>
        <p:spPr>
          <a:xfrm>
            <a:off x="6172200" y="1645920"/>
            <a:ext cx="5760720" cy="1188720"/>
          </a:xfrm>
          <a:prstGeom prst="rect">
            <a:avLst/>
          </a:prstGeom>
          <a:solidFill>
            <a:srgbClr val="16213E"/>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81928" y="1700784"/>
            <a:ext cx="5541264" cy="1097280"/>
          </a:xfrm>
          <a:prstGeom prst="rect">
            <a:avLst/>
          </a:prstGeom>
          <a:noFill/>
        </p:spPr>
        <p:txBody>
          <a:bodyPr wrap="square">
            <a:spAutoFit/>
          </a:bodyPr>
          <a:lstStyle/>
          <a:p>
            <a:pPr algn="l"/>
            <a:r>
              <a:rPr sz="1050" b="0" i="0">
                <a:solidFill>
                  <a:srgbClr val="FFFFFF"/>
                </a:solidFill>
              </a:rPr>
              <a:t>Sur la MB1292B, PA8 et PA9 sont connectés aux microphones MEMS internes.
Ne JAMAIS les utiliser pour du PWM moteur ou tout autre signal externe.</a:t>
            </a:r>
          </a:p>
        </p:txBody>
      </p:sp>
      <p:sp>
        <p:nvSpPr>
          <p:cNvPr id="13" name="Rectangle 12"/>
          <p:cNvSpPr/>
          <p:nvPr/>
        </p:nvSpPr>
        <p:spPr>
          <a:xfrm>
            <a:off x="182880" y="2944368"/>
            <a:ext cx="5760720" cy="365760"/>
          </a:xfrm>
          <a:prstGeom prst="rect">
            <a:avLst/>
          </a:prstGeom>
          <a:solidFill>
            <a:srgbClr val="FF8800"/>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2980944"/>
            <a:ext cx="5577840" cy="347472"/>
          </a:xfrm>
          <a:prstGeom prst="rect">
            <a:avLst/>
          </a:prstGeom>
          <a:noFill/>
        </p:spPr>
        <p:txBody>
          <a:bodyPr wrap="square">
            <a:spAutoFit/>
          </a:bodyPr>
          <a:lstStyle/>
          <a:p>
            <a:pPr algn="l"/>
            <a:r>
              <a:rPr sz="1300" b="1" i="0">
                <a:solidFill>
                  <a:srgbClr val="1A1A2E"/>
                </a:solidFill>
              </a:rPr>
              <a:t>D10–D13 — SPI OLED</a:t>
            </a:r>
          </a:p>
        </p:txBody>
      </p:sp>
      <p:sp>
        <p:nvSpPr>
          <p:cNvPr id="15" name="Rectangle 14"/>
          <p:cNvSpPr/>
          <p:nvPr/>
        </p:nvSpPr>
        <p:spPr>
          <a:xfrm>
            <a:off x="182880" y="3310128"/>
            <a:ext cx="5760720" cy="1188720"/>
          </a:xfrm>
          <a:prstGeom prst="rect">
            <a:avLst/>
          </a:prstGeom>
          <a:solidFill>
            <a:srgbClr val="16213E"/>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2608" y="3364992"/>
            <a:ext cx="5541264" cy="1097280"/>
          </a:xfrm>
          <a:prstGeom prst="rect">
            <a:avLst/>
          </a:prstGeom>
          <a:noFill/>
        </p:spPr>
        <p:txBody>
          <a:bodyPr wrap="square">
            <a:spAutoFit/>
          </a:bodyPr>
          <a:lstStyle/>
          <a:p>
            <a:pPr algn="l"/>
            <a:r>
              <a:rPr sz="1050" b="0" i="0">
                <a:solidFill>
                  <a:srgbClr val="FFFFFF"/>
                </a:solidFill>
              </a:rPr>
              <a:t>Les pins Arduino D10 (PA4), D11 (PA7), D12 (PB4), D13 (PA1) pilotent l'OLED et la LED RGB.
Réservés aux fonctions natives MB1292B — ne pas câbler vers le Motor Shield.</a:t>
            </a:r>
          </a:p>
        </p:txBody>
      </p:sp>
      <p:sp>
        <p:nvSpPr>
          <p:cNvPr id="17" name="Rectangle 16"/>
          <p:cNvSpPr/>
          <p:nvPr/>
        </p:nvSpPr>
        <p:spPr>
          <a:xfrm>
            <a:off x="6172200" y="2944368"/>
            <a:ext cx="5760720" cy="365760"/>
          </a:xfrm>
          <a:prstGeom prst="rect">
            <a:avLst/>
          </a:prstGeom>
          <a:solidFill>
            <a:srgbClr val="FF8800"/>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2980944"/>
            <a:ext cx="5577840" cy="347472"/>
          </a:xfrm>
          <a:prstGeom prst="rect">
            <a:avLst/>
          </a:prstGeom>
          <a:noFill/>
        </p:spPr>
        <p:txBody>
          <a:bodyPr wrap="square">
            <a:spAutoFit/>
          </a:bodyPr>
          <a:lstStyle/>
          <a:p>
            <a:pPr algn="l"/>
            <a:r>
              <a:rPr sz="1300" b="1" i="0">
                <a:solidFill>
                  <a:srgbClr val="1A1A2E"/>
                </a:solidFill>
              </a:rPr>
              <a:t>Plug-in Shield</a:t>
            </a:r>
          </a:p>
        </p:txBody>
      </p:sp>
      <p:sp>
        <p:nvSpPr>
          <p:cNvPr id="19" name="Rectangle 18"/>
          <p:cNvSpPr/>
          <p:nvPr/>
        </p:nvSpPr>
        <p:spPr>
          <a:xfrm>
            <a:off x="6172200" y="3310128"/>
            <a:ext cx="5760720" cy="1188720"/>
          </a:xfrm>
          <a:prstGeom prst="rect">
            <a:avLst/>
          </a:prstGeom>
          <a:solidFill>
            <a:srgbClr val="16213E"/>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81928" y="3364992"/>
            <a:ext cx="5541264" cy="1097280"/>
          </a:xfrm>
          <a:prstGeom prst="rect">
            <a:avLst/>
          </a:prstGeom>
          <a:noFill/>
        </p:spPr>
        <p:txBody>
          <a:bodyPr wrap="square">
            <a:spAutoFit/>
          </a:bodyPr>
          <a:lstStyle/>
          <a:p>
            <a:pPr algn="l"/>
            <a:r>
              <a:rPr sz="1050" b="0" i="0">
                <a:solidFill>
                  <a:srgbClr val="FFFFFF"/>
                </a:solidFill>
              </a:rPr>
              <a:t>Le Motor Shield N'est PAS branché en plug-in sur la MB1292B.
Le câblage est fil à fil : les numéros Arduino du Shield ne correspondent pas aux connecteurs de la carte.</a:t>
            </a:r>
          </a:p>
        </p:txBody>
      </p:sp>
      <p:sp>
        <p:nvSpPr>
          <p:cNvPr id="21" name="Rectangle 20"/>
          <p:cNvSpPr/>
          <p:nvPr/>
        </p:nvSpPr>
        <p:spPr>
          <a:xfrm>
            <a:off x="182880" y="4608576"/>
            <a:ext cx="5760720" cy="365760"/>
          </a:xfrm>
          <a:prstGeom prst="rect">
            <a:avLst/>
          </a:prstGeom>
          <a:solidFill>
            <a:srgbClr val="FFD700"/>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4320" y="4645152"/>
            <a:ext cx="5577840" cy="347472"/>
          </a:xfrm>
          <a:prstGeom prst="rect">
            <a:avLst/>
          </a:prstGeom>
          <a:noFill/>
        </p:spPr>
        <p:txBody>
          <a:bodyPr wrap="square">
            <a:spAutoFit/>
          </a:bodyPr>
          <a:lstStyle/>
          <a:p>
            <a:pPr algn="l"/>
            <a:r>
              <a:rPr sz="1300" b="1" i="0">
                <a:solidFill>
                  <a:srgbClr val="1A1A2E"/>
                </a:solidFill>
              </a:rPr>
              <a:t>Masse commune</a:t>
            </a:r>
          </a:p>
        </p:txBody>
      </p:sp>
      <p:sp>
        <p:nvSpPr>
          <p:cNvPr id="23" name="Rectangle 22"/>
          <p:cNvSpPr/>
          <p:nvPr/>
        </p:nvSpPr>
        <p:spPr>
          <a:xfrm>
            <a:off x="182880" y="4974336"/>
            <a:ext cx="5760720" cy="1188720"/>
          </a:xfrm>
          <a:prstGeom prst="rect">
            <a:avLst/>
          </a:prstGeom>
          <a:solidFill>
            <a:srgbClr val="16213E"/>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608" y="5029200"/>
            <a:ext cx="5541264" cy="1097280"/>
          </a:xfrm>
          <a:prstGeom prst="rect">
            <a:avLst/>
          </a:prstGeom>
          <a:noFill/>
        </p:spPr>
        <p:txBody>
          <a:bodyPr wrap="square">
            <a:spAutoFit/>
          </a:bodyPr>
          <a:lstStyle/>
          <a:p>
            <a:pPr algn="l"/>
            <a:r>
              <a:rPr sz="1050" b="0" i="0">
                <a:solidFill>
                  <a:srgbClr val="FFFFFF"/>
                </a:solidFill>
              </a:rPr>
              <a:t>Les GND des deux batteries (puissance et logique) DOIVENT être reliés au même point.
Sans masse commune, les seuils logiques sont indéfinis → risque de destruction.</a:t>
            </a:r>
          </a:p>
        </p:txBody>
      </p:sp>
      <p:sp>
        <p:nvSpPr>
          <p:cNvPr id="25" name="Rectangle 24"/>
          <p:cNvSpPr/>
          <p:nvPr/>
        </p:nvSpPr>
        <p:spPr>
          <a:xfrm>
            <a:off x="6172200" y="4608576"/>
            <a:ext cx="5760720" cy="365760"/>
          </a:xfrm>
          <a:prstGeom prst="rect">
            <a:avLst/>
          </a:prstGeom>
          <a:solidFill>
            <a:srgbClr val="FFD700"/>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63640" y="4645152"/>
            <a:ext cx="5577840" cy="347472"/>
          </a:xfrm>
          <a:prstGeom prst="rect">
            <a:avLst/>
          </a:prstGeom>
          <a:noFill/>
        </p:spPr>
        <p:txBody>
          <a:bodyPr wrap="square">
            <a:spAutoFit/>
          </a:bodyPr>
          <a:lstStyle/>
          <a:p>
            <a:pPr algn="l"/>
            <a:r>
              <a:rPr sz="1300" b="1" i="0">
                <a:solidFill>
                  <a:srgbClr val="1A1A2E"/>
                </a:solidFill>
              </a:rPr>
              <a:t>LPTIM1 — PC1</a:t>
            </a:r>
          </a:p>
        </p:txBody>
      </p:sp>
      <p:sp>
        <p:nvSpPr>
          <p:cNvPr id="27" name="Rectangle 26"/>
          <p:cNvSpPr/>
          <p:nvPr/>
        </p:nvSpPr>
        <p:spPr>
          <a:xfrm>
            <a:off x="6172200" y="4974336"/>
            <a:ext cx="5760720" cy="1188720"/>
          </a:xfrm>
          <a:prstGeom prst="rect">
            <a:avLst/>
          </a:prstGeom>
          <a:solidFill>
            <a:srgbClr val="16213E"/>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81928" y="5029200"/>
            <a:ext cx="5541264" cy="1097280"/>
          </a:xfrm>
          <a:prstGeom prst="rect">
            <a:avLst/>
          </a:prstGeom>
          <a:noFill/>
        </p:spPr>
        <p:txBody>
          <a:bodyPr wrap="square">
            <a:spAutoFit/>
          </a:bodyPr>
          <a:lstStyle/>
          <a:p>
            <a:pPr algn="l"/>
            <a:r>
              <a:rPr sz="1050" b="0" i="0">
                <a:solidFill>
                  <a:srgbClr val="FFFFFF"/>
                </a:solidFill>
              </a:rPr>
              <a:t>Dans le .ioc d'origine, LPTIM1 est en mode compteur interne (non PWM).
Action : reconfigurer LPTIM1 en sortie PWM continue sur PC1 (ARR=3200, PCLK1=64 MHz → 20 kHz).</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Checklist de Câblage</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À compléter avant chaque mise sous tension — cocher dans l'ordre</a:t>
            </a:r>
          </a:p>
        </p:txBody>
      </p:sp>
      <p:sp>
        <p:nvSpPr>
          <p:cNvPr id="5" name="Rectangle 4"/>
          <p:cNvSpPr/>
          <p:nvPr/>
        </p:nvSpPr>
        <p:spPr>
          <a:xfrm>
            <a:off x="182880" y="1325880"/>
            <a:ext cx="5806440" cy="347472"/>
          </a:xfrm>
          <a:prstGeom prst="rect">
            <a:avLst/>
          </a:prstGeom>
          <a:solidFill>
            <a:srgbClr val="00CC66"/>
          </a:solidFill>
          <a:ln w="1270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362456"/>
            <a:ext cx="5623560" cy="347472"/>
          </a:xfrm>
          <a:prstGeom prst="rect">
            <a:avLst/>
          </a:prstGeom>
          <a:noFill/>
        </p:spPr>
        <p:txBody>
          <a:bodyPr wrap="square">
            <a:spAutoFit/>
          </a:bodyPr>
          <a:lstStyle/>
          <a:p>
            <a:pPr algn="l"/>
            <a:r>
              <a:rPr sz="1200" b="1" i="0">
                <a:solidFill>
                  <a:srgbClr val="1A1A2E"/>
                </a:solidFill>
              </a:rPr>
              <a:t>MOTEURS &amp; ENCODEURS</a:t>
            </a:r>
          </a:p>
        </p:txBody>
      </p:sp>
      <p:sp>
        <p:nvSpPr>
          <p:cNvPr id="7" name="Rectangle 6"/>
          <p:cNvSpPr/>
          <p:nvPr/>
        </p:nvSpPr>
        <p:spPr>
          <a:xfrm>
            <a:off x="182880" y="1673352"/>
            <a:ext cx="5806440" cy="301752"/>
          </a:xfrm>
          <a:prstGeom prst="rect">
            <a:avLst/>
          </a:prstGeom>
          <a:solidFill>
            <a:srgbClr val="16213E"/>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709928"/>
            <a:ext cx="5577840" cy="301752"/>
          </a:xfrm>
          <a:prstGeom prst="rect">
            <a:avLst/>
          </a:prstGeom>
          <a:noFill/>
        </p:spPr>
        <p:txBody>
          <a:bodyPr wrap="square">
            <a:spAutoFit/>
          </a:bodyPr>
          <a:lstStyle/>
          <a:p>
            <a:pPr algn="l"/>
            <a:r>
              <a:rPr sz="1000" b="0" i="0">
                <a:solidFill>
                  <a:srgbClr val="FFFFFF"/>
                </a:solidFill>
              </a:rPr>
              <a:t>☐  M+ et M− moteur gauche → bornes OUT A+ / A− du shield</a:t>
            </a:r>
          </a:p>
        </p:txBody>
      </p:sp>
      <p:sp>
        <p:nvSpPr>
          <p:cNvPr id="9" name="Rectangle 8"/>
          <p:cNvSpPr/>
          <p:nvPr/>
        </p:nvSpPr>
        <p:spPr>
          <a:xfrm>
            <a:off x="182880" y="1975104"/>
            <a:ext cx="5806440" cy="301752"/>
          </a:xfrm>
          <a:prstGeom prst="rect">
            <a:avLst/>
          </a:prstGeom>
          <a:solidFill>
            <a:srgbClr val="16213E"/>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2011680"/>
            <a:ext cx="5577840" cy="301752"/>
          </a:xfrm>
          <a:prstGeom prst="rect">
            <a:avLst/>
          </a:prstGeom>
          <a:noFill/>
        </p:spPr>
        <p:txBody>
          <a:bodyPr wrap="square">
            <a:spAutoFit/>
          </a:bodyPr>
          <a:lstStyle/>
          <a:p>
            <a:pPr algn="l"/>
            <a:r>
              <a:rPr sz="1000" b="0" i="0">
                <a:solidFill>
                  <a:srgbClr val="FFFFFF"/>
                </a:solidFill>
              </a:rPr>
              <a:t>☐  M+ et M− moteur droit  → bornes OUT B+ / B− du shield</a:t>
            </a:r>
          </a:p>
        </p:txBody>
      </p:sp>
      <p:sp>
        <p:nvSpPr>
          <p:cNvPr id="11" name="Rectangle 10"/>
          <p:cNvSpPr/>
          <p:nvPr/>
        </p:nvSpPr>
        <p:spPr>
          <a:xfrm>
            <a:off x="182880" y="2276856"/>
            <a:ext cx="5806440" cy="301752"/>
          </a:xfrm>
          <a:prstGeom prst="rect">
            <a:avLst/>
          </a:prstGeom>
          <a:solidFill>
            <a:srgbClr val="16213E"/>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313432"/>
            <a:ext cx="5577840" cy="301752"/>
          </a:xfrm>
          <a:prstGeom prst="rect">
            <a:avLst/>
          </a:prstGeom>
          <a:noFill/>
        </p:spPr>
        <p:txBody>
          <a:bodyPr wrap="square">
            <a:spAutoFit/>
          </a:bodyPr>
          <a:lstStyle/>
          <a:p>
            <a:pPr algn="l"/>
            <a:r>
              <a:rPr sz="1000" b="0" i="0">
                <a:solidFill>
                  <a:srgbClr val="FFFFFF"/>
                </a:solidFill>
              </a:rPr>
              <a:t>☐  ENC gauche CHA (violet)  → PD14 (Arduino D3)</a:t>
            </a:r>
          </a:p>
        </p:txBody>
      </p:sp>
      <p:sp>
        <p:nvSpPr>
          <p:cNvPr id="13" name="Rectangle 12"/>
          <p:cNvSpPr/>
          <p:nvPr/>
        </p:nvSpPr>
        <p:spPr>
          <a:xfrm>
            <a:off x="182880" y="2578608"/>
            <a:ext cx="5806440" cy="301752"/>
          </a:xfrm>
          <a:prstGeom prst="rect">
            <a:avLst/>
          </a:prstGeom>
          <a:solidFill>
            <a:srgbClr val="16213E"/>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2615184"/>
            <a:ext cx="5577840" cy="301752"/>
          </a:xfrm>
          <a:prstGeom prst="rect">
            <a:avLst/>
          </a:prstGeom>
          <a:noFill/>
        </p:spPr>
        <p:txBody>
          <a:bodyPr wrap="square">
            <a:spAutoFit/>
          </a:bodyPr>
          <a:lstStyle/>
          <a:p>
            <a:pPr algn="l"/>
            <a:r>
              <a:rPr sz="1000" b="0" i="0">
                <a:solidFill>
                  <a:srgbClr val="FFFFFF"/>
                </a:solidFill>
              </a:rPr>
              <a:t>☐  ENC gauche CHB (violet)  → PD15 (Arduino D9)</a:t>
            </a:r>
          </a:p>
        </p:txBody>
      </p:sp>
      <p:sp>
        <p:nvSpPr>
          <p:cNvPr id="15" name="Rectangle 14"/>
          <p:cNvSpPr/>
          <p:nvPr/>
        </p:nvSpPr>
        <p:spPr>
          <a:xfrm>
            <a:off x="182880" y="2880360"/>
            <a:ext cx="5806440" cy="301752"/>
          </a:xfrm>
          <a:prstGeom prst="rect">
            <a:avLst/>
          </a:prstGeom>
          <a:solidFill>
            <a:srgbClr val="16213E"/>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2916936"/>
            <a:ext cx="5577840" cy="301752"/>
          </a:xfrm>
          <a:prstGeom prst="rect">
            <a:avLst/>
          </a:prstGeom>
          <a:noFill/>
        </p:spPr>
        <p:txBody>
          <a:bodyPr wrap="square">
            <a:spAutoFit/>
          </a:bodyPr>
          <a:lstStyle/>
          <a:p>
            <a:pPr algn="l"/>
            <a:r>
              <a:rPr sz="1000" b="0" i="0">
                <a:solidFill>
                  <a:srgbClr val="FFFFFF"/>
                </a:solidFill>
              </a:rPr>
              <a:t>☐  ENC droit  CHA → PA15 (STMod+ pin 14)</a:t>
            </a:r>
          </a:p>
        </p:txBody>
      </p:sp>
      <p:sp>
        <p:nvSpPr>
          <p:cNvPr id="17" name="Rectangle 16"/>
          <p:cNvSpPr/>
          <p:nvPr/>
        </p:nvSpPr>
        <p:spPr>
          <a:xfrm>
            <a:off x="182880" y="3182112"/>
            <a:ext cx="5806440" cy="301752"/>
          </a:xfrm>
          <a:prstGeom prst="rect">
            <a:avLst/>
          </a:prstGeom>
          <a:solidFill>
            <a:srgbClr val="16213E"/>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3218688"/>
            <a:ext cx="5577840" cy="301752"/>
          </a:xfrm>
          <a:prstGeom prst="rect">
            <a:avLst/>
          </a:prstGeom>
          <a:noFill/>
        </p:spPr>
        <p:txBody>
          <a:bodyPr wrap="square">
            <a:spAutoFit/>
          </a:bodyPr>
          <a:lstStyle/>
          <a:p>
            <a:pPr algn="l"/>
            <a:r>
              <a:rPr sz="1000" b="0" i="0">
                <a:solidFill>
                  <a:srgbClr val="FFFFFF"/>
                </a:solidFill>
              </a:rPr>
              <a:t>☐  ENC droit  CHB → PB3  (fil direct — ⚠ SWO désactivé)</a:t>
            </a:r>
          </a:p>
        </p:txBody>
      </p:sp>
      <p:sp>
        <p:nvSpPr>
          <p:cNvPr id="19" name="Rectangle 18"/>
          <p:cNvSpPr/>
          <p:nvPr/>
        </p:nvSpPr>
        <p:spPr>
          <a:xfrm>
            <a:off x="182880" y="3483864"/>
            <a:ext cx="5806440" cy="301752"/>
          </a:xfrm>
          <a:prstGeom prst="rect">
            <a:avLst/>
          </a:prstGeom>
          <a:solidFill>
            <a:srgbClr val="16213E"/>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0040" y="3520440"/>
            <a:ext cx="5577840" cy="301752"/>
          </a:xfrm>
          <a:prstGeom prst="rect">
            <a:avLst/>
          </a:prstGeom>
          <a:noFill/>
        </p:spPr>
        <p:txBody>
          <a:bodyPr wrap="square">
            <a:spAutoFit/>
          </a:bodyPr>
          <a:lstStyle/>
          <a:p>
            <a:pPr algn="l"/>
            <a:r>
              <a:rPr sz="1000" b="0" i="0">
                <a:solidFill>
                  <a:srgbClr val="FFFFFF"/>
                </a:solidFill>
              </a:rPr>
              <a:t>☐  VCC encodeurs → 3.3 V MB1292B</a:t>
            </a:r>
          </a:p>
        </p:txBody>
      </p:sp>
      <p:sp>
        <p:nvSpPr>
          <p:cNvPr id="21" name="Rectangle 20"/>
          <p:cNvSpPr/>
          <p:nvPr/>
        </p:nvSpPr>
        <p:spPr>
          <a:xfrm>
            <a:off x="182880" y="3785616"/>
            <a:ext cx="5806440" cy="301752"/>
          </a:xfrm>
          <a:prstGeom prst="rect">
            <a:avLst/>
          </a:prstGeom>
          <a:solidFill>
            <a:srgbClr val="16213E"/>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3822192"/>
            <a:ext cx="5577840" cy="301752"/>
          </a:xfrm>
          <a:prstGeom prst="rect">
            <a:avLst/>
          </a:prstGeom>
          <a:noFill/>
        </p:spPr>
        <p:txBody>
          <a:bodyPr wrap="square">
            <a:spAutoFit/>
          </a:bodyPr>
          <a:lstStyle/>
          <a:p>
            <a:pPr algn="l"/>
            <a:r>
              <a:rPr sz="1000" b="0" i="0">
                <a:solidFill>
                  <a:srgbClr val="FFFFFF"/>
                </a:solidFill>
              </a:rPr>
              <a:t>☐  GND encodeurs → GND commun</a:t>
            </a:r>
          </a:p>
        </p:txBody>
      </p:sp>
      <p:sp>
        <p:nvSpPr>
          <p:cNvPr id="23" name="Rectangle 22"/>
          <p:cNvSpPr/>
          <p:nvPr/>
        </p:nvSpPr>
        <p:spPr>
          <a:xfrm>
            <a:off x="182880" y="3813048"/>
            <a:ext cx="5806440" cy="347472"/>
          </a:xfrm>
          <a:prstGeom prst="rect">
            <a:avLst/>
          </a:prstGeom>
          <a:solidFill>
            <a:srgbClr val="FF8800"/>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4320" y="3849624"/>
            <a:ext cx="5623560" cy="347472"/>
          </a:xfrm>
          <a:prstGeom prst="rect">
            <a:avLst/>
          </a:prstGeom>
          <a:noFill/>
        </p:spPr>
        <p:txBody>
          <a:bodyPr wrap="square">
            <a:spAutoFit/>
          </a:bodyPr>
          <a:lstStyle/>
          <a:p>
            <a:pPr algn="l"/>
            <a:r>
              <a:rPr sz="1200" b="1" i="0">
                <a:solidFill>
                  <a:srgbClr val="1A1A2E"/>
                </a:solidFill>
              </a:rPr>
              <a:t>MOTOR SHIELD — COMMANDE</a:t>
            </a:r>
          </a:p>
        </p:txBody>
      </p:sp>
      <p:sp>
        <p:nvSpPr>
          <p:cNvPr id="25" name="Rectangle 24"/>
          <p:cNvSpPr/>
          <p:nvPr/>
        </p:nvSpPr>
        <p:spPr>
          <a:xfrm>
            <a:off x="182880" y="4160520"/>
            <a:ext cx="5806440" cy="301752"/>
          </a:xfrm>
          <a:prstGeom prst="rect">
            <a:avLst/>
          </a:prstGeom>
          <a:solidFill>
            <a:srgbClr val="16213E"/>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040" y="4197096"/>
            <a:ext cx="5577840" cy="301752"/>
          </a:xfrm>
          <a:prstGeom prst="rect">
            <a:avLst/>
          </a:prstGeom>
          <a:noFill/>
        </p:spPr>
        <p:txBody>
          <a:bodyPr wrap="square">
            <a:spAutoFit/>
          </a:bodyPr>
          <a:lstStyle/>
          <a:p>
            <a:pPr algn="l"/>
            <a:r>
              <a:rPr sz="1000" b="0" i="0">
                <a:solidFill>
                  <a:srgbClr val="FFFFFF"/>
                </a:solidFill>
              </a:rPr>
              <a:t>☐  PWM A   : PC1  (A3)  → Shield PWM A    [fil violet]</a:t>
            </a:r>
          </a:p>
        </p:txBody>
      </p:sp>
      <p:sp>
        <p:nvSpPr>
          <p:cNvPr id="27" name="Rectangle 26"/>
          <p:cNvSpPr/>
          <p:nvPr/>
        </p:nvSpPr>
        <p:spPr>
          <a:xfrm>
            <a:off x="182880" y="4462272"/>
            <a:ext cx="5806440" cy="301752"/>
          </a:xfrm>
          <a:prstGeom prst="rect">
            <a:avLst/>
          </a:prstGeom>
          <a:solidFill>
            <a:srgbClr val="16213E"/>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4498848"/>
            <a:ext cx="5577840" cy="301752"/>
          </a:xfrm>
          <a:prstGeom prst="rect">
            <a:avLst/>
          </a:prstGeom>
          <a:noFill/>
        </p:spPr>
        <p:txBody>
          <a:bodyPr wrap="square">
            <a:spAutoFit/>
          </a:bodyPr>
          <a:lstStyle/>
          <a:p>
            <a:pPr algn="l"/>
            <a:r>
              <a:rPr sz="1000" b="0" i="0">
                <a:solidFill>
                  <a:srgbClr val="FFFFFF"/>
                </a:solidFill>
              </a:rPr>
              <a:t>☐  DIR A   : PD12 (D2)  → Shield DIR A    [fil gris]</a:t>
            </a:r>
          </a:p>
        </p:txBody>
      </p:sp>
      <p:sp>
        <p:nvSpPr>
          <p:cNvPr id="29" name="Rectangle 28"/>
          <p:cNvSpPr/>
          <p:nvPr/>
        </p:nvSpPr>
        <p:spPr>
          <a:xfrm>
            <a:off x="182880" y="4764024"/>
            <a:ext cx="5806440" cy="301752"/>
          </a:xfrm>
          <a:prstGeom prst="rect">
            <a:avLst/>
          </a:prstGeom>
          <a:solidFill>
            <a:srgbClr val="16213E"/>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4800600"/>
            <a:ext cx="5577840" cy="301752"/>
          </a:xfrm>
          <a:prstGeom prst="rect">
            <a:avLst/>
          </a:prstGeom>
          <a:noFill/>
        </p:spPr>
        <p:txBody>
          <a:bodyPr wrap="square">
            <a:spAutoFit/>
          </a:bodyPr>
          <a:lstStyle/>
          <a:p>
            <a:pPr algn="l"/>
            <a:r>
              <a:rPr sz="1000" b="0" i="0">
                <a:solidFill>
                  <a:srgbClr val="FFFFFF"/>
                </a:solidFill>
              </a:rPr>
              <a:t>☐  BRAKE A : PD13 (D8)  → Shield BRAKE A  [fil bleu]</a:t>
            </a:r>
          </a:p>
        </p:txBody>
      </p:sp>
      <p:sp>
        <p:nvSpPr>
          <p:cNvPr id="31" name="Rectangle 30"/>
          <p:cNvSpPr/>
          <p:nvPr/>
        </p:nvSpPr>
        <p:spPr>
          <a:xfrm>
            <a:off x="182880" y="5065776"/>
            <a:ext cx="5806440" cy="301752"/>
          </a:xfrm>
          <a:prstGeom prst="rect">
            <a:avLst/>
          </a:prstGeom>
          <a:solidFill>
            <a:srgbClr val="16213E"/>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0040" y="5102352"/>
            <a:ext cx="5577840" cy="301752"/>
          </a:xfrm>
          <a:prstGeom prst="rect">
            <a:avLst/>
          </a:prstGeom>
          <a:noFill/>
        </p:spPr>
        <p:txBody>
          <a:bodyPr wrap="square">
            <a:spAutoFit/>
          </a:bodyPr>
          <a:lstStyle/>
          <a:p>
            <a:pPr algn="l"/>
            <a:r>
              <a:rPr sz="1000" b="0" i="0">
                <a:solidFill>
                  <a:srgbClr val="FFFFFF"/>
                </a:solidFill>
              </a:rPr>
              <a:t>☐  PWM B   : PE0  (D6)  → Shield PWM B    [fil violet]</a:t>
            </a:r>
          </a:p>
        </p:txBody>
      </p:sp>
      <p:sp>
        <p:nvSpPr>
          <p:cNvPr id="33" name="Rectangle 32"/>
          <p:cNvSpPr/>
          <p:nvPr/>
        </p:nvSpPr>
        <p:spPr>
          <a:xfrm>
            <a:off x="182880" y="5367528"/>
            <a:ext cx="5806440" cy="301752"/>
          </a:xfrm>
          <a:prstGeom prst="rect">
            <a:avLst/>
          </a:prstGeom>
          <a:solidFill>
            <a:srgbClr val="16213E"/>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 y="5404104"/>
            <a:ext cx="5577840" cy="301752"/>
          </a:xfrm>
          <a:prstGeom prst="rect">
            <a:avLst/>
          </a:prstGeom>
          <a:noFill/>
        </p:spPr>
        <p:txBody>
          <a:bodyPr wrap="square">
            <a:spAutoFit/>
          </a:bodyPr>
          <a:lstStyle/>
          <a:p>
            <a:pPr algn="l"/>
            <a:r>
              <a:rPr sz="1000" b="0" i="0">
                <a:solidFill>
                  <a:srgbClr val="FFFFFF"/>
                </a:solidFill>
              </a:rPr>
              <a:t>☐  DIR B   : PE3  (D4)  → Shield DIR B    [fil gris]</a:t>
            </a:r>
          </a:p>
        </p:txBody>
      </p:sp>
      <p:sp>
        <p:nvSpPr>
          <p:cNvPr id="35" name="Rectangle 34"/>
          <p:cNvSpPr/>
          <p:nvPr/>
        </p:nvSpPr>
        <p:spPr>
          <a:xfrm>
            <a:off x="182880" y="5669280"/>
            <a:ext cx="5806440" cy="301752"/>
          </a:xfrm>
          <a:prstGeom prst="rect">
            <a:avLst/>
          </a:prstGeom>
          <a:solidFill>
            <a:srgbClr val="16213E"/>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0040" y="5705856"/>
            <a:ext cx="5577840" cy="301752"/>
          </a:xfrm>
          <a:prstGeom prst="rect">
            <a:avLst/>
          </a:prstGeom>
          <a:noFill/>
        </p:spPr>
        <p:txBody>
          <a:bodyPr wrap="square">
            <a:spAutoFit/>
          </a:bodyPr>
          <a:lstStyle/>
          <a:p>
            <a:pPr algn="l"/>
            <a:r>
              <a:rPr sz="1000" b="0" i="0">
                <a:solidFill>
                  <a:srgbClr val="FFFFFF"/>
                </a:solidFill>
              </a:rPr>
              <a:t>☐  BRAKE B : PB2  (D7)  → Shield BRAKE B  [fil bleu]</a:t>
            </a:r>
          </a:p>
        </p:txBody>
      </p:sp>
      <p:sp>
        <p:nvSpPr>
          <p:cNvPr id="37" name="Rectangle 36"/>
          <p:cNvSpPr/>
          <p:nvPr/>
        </p:nvSpPr>
        <p:spPr>
          <a:xfrm>
            <a:off x="6172200" y="1325880"/>
            <a:ext cx="5806440" cy="347472"/>
          </a:xfrm>
          <a:prstGeom prst="rect">
            <a:avLst/>
          </a:prstGeom>
          <a:solidFill>
            <a:srgbClr val="00DD88"/>
          </a:solidFill>
          <a:ln w="12700">
            <a:solidFill>
              <a:srgbClr val="00DD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63640" y="1362456"/>
            <a:ext cx="5623560" cy="347472"/>
          </a:xfrm>
          <a:prstGeom prst="rect">
            <a:avLst/>
          </a:prstGeom>
          <a:noFill/>
        </p:spPr>
        <p:txBody>
          <a:bodyPr wrap="square">
            <a:spAutoFit/>
          </a:bodyPr>
          <a:lstStyle/>
          <a:p>
            <a:pPr algn="l"/>
            <a:r>
              <a:rPr sz="1200" b="1" i="0">
                <a:solidFill>
                  <a:srgbClr val="1A1A2E"/>
                </a:solidFill>
              </a:rPr>
              <a:t>MOTOR SHIELD — MESURE COURANT</a:t>
            </a:r>
          </a:p>
        </p:txBody>
      </p:sp>
      <p:sp>
        <p:nvSpPr>
          <p:cNvPr id="39" name="Rectangle 38"/>
          <p:cNvSpPr/>
          <p:nvPr/>
        </p:nvSpPr>
        <p:spPr>
          <a:xfrm>
            <a:off x="6172200" y="1673352"/>
            <a:ext cx="5806440" cy="301752"/>
          </a:xfrm>
          <a:prstGeom prst="rect">
            <a:avLst/>
          </a:prstGeom>
          <a:solidFill>
            <a:srgbClr val="16213E"/>
          </a:solidFill>
          <a:ln w="3810">
            <a:solidFill>
              <a:srgbClr val="00DD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09360" y="1709928"/>
            <a:ext cx="5577840" cy="301752"/>
          </a:xfrm>
          <a:prstGeom prst="rect">
            <a:avLst/>
          </a:prstGeom>
          <a:noFill/>
        </p:spPr>
        <p:txBody>
          <a:bodyPr wrap="square">
            <a:spAutoFit/>
          </a:bodyPr>
          <a:lstStyle/>
          <a:p>
            <a:pPr algn="l"/>
            <a:r>
              <a:rPr sz="1000" b="0" i="0">
                <a:solidFill>
                  <a:srgbClr val="FFFFFF"/>
                </a:solidFill>
              </a:rPr>
              <a:t>☐  CS A → PA5 (Arduino A2)   [fil vert]</a:t>
            </a:r>
          </a:p>
        </p:txBody>
      </p:sp>
      <p:sp>
        <p:nvSpPr>
          <p:cNvPr id="41" name="Rectangle 40"/>
          <p:cNvSpPr/>
          <p:nvPr/>
        </p:nvSpPr>
        <p:spPr>
          <a:xfrm>
            <a:off x="6172200" y="1975104"/>
            <a:ext cx="5806440" cy="301752"/>
          </a:xfrm>
          <a:prstGeom prst="rect">
            <a:avLst/>
          </a:prstGeom>
          <a:solidFill>
            <a:srgbClr val="16213E"/>
          </a:solidFill>
          <a:ln w="3810">
            <a:solidFill>
              <a:srgbClr val="00DD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09360" y="2011680"/>
            <a:ext cx="5577840" cy="301752"/>
          </a:xfrm>
          <a:prstGeom prst="rect">
            <a:avLst/>
          </a:prstGeom>
          <a:noFill/>
        </p:spPr>
        <p:txBody>
          <a:bodyPr wrap="square">
            <a:spAutoFit/>
          </a:bodyPr>
          <a:lstStyle/>
          <a:p>
            <a:pPr algn="l"/>
            <a:r>
              <a:rPr sz="1000" b="0" i="0">
                <a:solidFill>
                  <a:srgbClr val="FFFFFF"/>
                </a:solidFill>
              </a:rPr>
              <a:t>☐  CS B → PC3 (Arduino A0)   [fil vert]</a:t>
            </a:r>
          </a:p>
        </p:txBody>
      </p:sp>
      <p:sp>
        <p:nvSpPr>
          <p:cNvPr id="43" name="Rectangle 42"/>
          <p:cNvSpPr/>
          <p:nvPr/>
        </p:nvSpPr>
        <p:spPr>
          <a:xfrm>
            <a:off x="6172200" y="2002536"/>
            <a:ext cx="5806440" cy="347472"/>
          </a:xfrm>
          <a:prstGeom prst="rect">
            <a:avLst/>
          </a:prstGeom>
          <a:solidFill>
            <a:srgbClr val="FF444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263640" y="2039112"/>
            <a:ext cx="5623560" cy="347472"/>
          </a:xfrm>
          <a:prstGeom prst="rect">
            <a:avLst/>
          </a:prstGeom>
          <a:noFill/>
        </p:spPr>
        <p:txBody>
          <a:bodyPr wrap="square">
            <a:spAutoFit/>
          </a:bodyPr>
          <a:lstStyle/>
          <a:p>
            <a:pPr algn="l"/>
            <a:r>
              <a:rPr sz="1200" b="1" i="0">
                <a:solidFill>
                  <a:srgbClr val="1A1A2E"/>
                </a:solidFill>
              </a:rPr>
              <a:t>ALIMENTATION</a:t>
            </a:r>
          </a:p>
        </p:txBody>
      </p:sp>
      <p:sp>
        <p:nvSpPr>
          <p:cNvPr id="45" name="Rectangle 44"/>
          <p:cNvSpPr/>
          <p:nvPr/>
        </p:nvSpPr>
        <p:spPr>
          <a:xfrm>
            <a:off x="6172200" y="2350008"/>
            <a:ext cx="5806440" cy="301752"/>
          </a:xfrm>
          <a:prstGeom prst="rect">
            <a:avLst/>
          </a:prstGeom>
          <a:solidFill>
            <a:srgbClr val="16213E"/>
          </a:solidFill>
          <a:ln w="381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09360" y="2386584"/>
            <a:ext cx="5577840" cy="301752"/>
          </a:xfrm>
          <a:prstGeom prst="rect">
            <a:avLst/>
          </a:prstGeom>
          <a:noFill/>
        </p:spPr>
        <p:txBody>
          <a:bodyPr wrap="square">
            <a:spAutoFit/>
          </a:bodyPr>
          <a:lstStyle/>
          <a:p>
            <a:pPr algn="l"/>
            <a:r>
              <a:rPr sz="1000" b="0" i="0">
                <a:solidFill>
                  <a:srgbClr val="FFFFFF"/>
                </a:solidFill>
              </a:rPr>
              <a:t>☐  Batt. puissance → Vs Motor Shield (bornes Vs+ / Vs−)</a:t>
            </a:r>
          </a:p>
        </p:txBody>
      </p:sp>
      <p:sp>
        <p:nvSpPr>
          <p:cNvPr id="47" name="Rectangle 46"/>
          <p:cNvSpPr/>
          <p:nvPr/>
        </p:nvSpPr>
        <p:spPr>
          <a:xfrm>
            <a:off x="6172200" y="2651760"/>
            <a:ext cx="5806440" cy="301752"/>
          </a:xfrm>
          <a:prstGeom prst="rect">
            <a:avLst/>
          </a:prstGeom>
          <a:solidFill>
            <a:srgbClr val="16213E"/>
          </a:solidFill>
          <a:ln w="381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09360" y="2688336"/>
            <a:ext cx="5577840" cy="301752"/>
          </a:xfrm>
          <a:prstGeom prst="rect">
            <a:avLst/>
          </a:prstGeom>
          <a:noFill/>
        </p:spPr>
        <p:txBody>
          <a:bodyPr wrap="square">
            <a:spAutoFit/>
          </a:bodyPr>
          <a:lstStyle/>
          <a:p>
            <a:pPr algn="l"/>
            <a:r>
              <a:rPr sz="1000" b="0" i="0">
                <a:solidFill>
                  <a:srgbClr val="FFFFFF"/>
                </a:solidFill>
              </a:rPr>
              <a:t>☐  Batt. logique → Buck 5 V → VIN MB1292B + Vss Shield</a:t>
            </a:r>
          </a:p>
        </p:txBody>
      </p:sp>
      <p:sp>
        <p:nvSpPr>
          <p:cNvPr id="49" name="Rectangle 48"/>
          <p:cNvSpPr/>
          <p:nvPr/>
        </p:nvSpPr>
        <p:spPr>
          <a:xfrm>
            <a:off x="6172200" y="2953512"/>
            <a:ext cx="5806440" cy="301752"/>
          </a:xfrm>
          <a:prstGeom prst="rect">
            <a:avLst/>
          </a:prstGeom>
          <a:solidFill>
            <a:srgbClr val="16213E"/>
          </a:solidFill>
          <a:ln w="381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09360" y="2990088"/>
            <a:ext cx="5577840" cy="301752"/>
          </a:xfrm>
          <a:prstGeom prst="rect">
            <a:avLst/>
          </a:prstGeom>
          <a:noFill/>
        </p:spPr>
        <p:txBody>
          <a:bodyPr wrap="square">
            <a:spAutoFit/>
          </a:bodyPr>
          <a:lstStyle/>
          <a:p>
            <a:pPr algn="l"/>
            <a:r>
              <a:rPr sz="1000" b="0" i="0">
                <a:solidFill>
                  <a:srgbClr val="FFFFFF"/>
                </a:solidFill>
              </a:rPr>
              <a:t>☐  GND Batt. puissance relié à GND Batt. logique</a:t>
            </a:r>
          </a:p>
        </p:txBody>
      </p:sp>
      <p:sp>
        <p:nvSpPr>
          <p:cNvPr id="51" name="Rectangle 50"/>
          <p:cNvSpPr/>
          <p:nvPr/>
        </p:nvSpPr>
        <p:spPr>
          <a:xfrm>
            <a:off x="6172200" y="3255264"/>
            <a:ext cx="5806440" cy="301752"/>
          </a:xfrm>
          <a:prstGeom prst="rect">
            <a:avLst/>
          </a:prstGeom>
          <a:solidFill>
            <a:srgbClr val="16213E"/>
          </a:solidFill>
          <a:ln w="381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09360" y="3291840"/>
            <a:ext cx="5577840" cy="301752"/>
          </a:xfrm>
          <a:prstGeom prst="rect">
            <a:avLst/>
          </a:prstGeom>
          <a:noFill/>
        </p:spPr>
        <p:txBody>
          <a:bodyPr wrap="square">
            <a:spAutoFit/>
          </a:bodyPr>
          <a:lstStyle/>
          <a:p>
            <a:pPr algn="l"/>
            <a:r>
              <a:rPr sz="1000" b="0" i="0">
                <a:solidFill>
                  <a:srgbClr val="FFFFFF"/>
                </a:solidFill>
              </a:rPr>
              <a:t>☐  GND commun relié à GND MB1292B et GND Shield</a:t>
            </a:r>
          </a:p>
        </p:txBody>
      </p:sp>
      <p:sp>
        <p:nvSpPr>
          <p:cNvPr id="53" name="Rectangle 52"/>
          <p:cNvSpPr/>
          <p:nvPr/>
        </p:nvSpPr>
        <p:spPr>
          <a:xfrm>
            <a:off x="6172200" y="3557016"/>
            <a:ext cx="5806440" cy="301752"/>
          </a:xfrm>
          <a:prstGeom prst="rect">
            <a:avLst/>
          </a:prstGeom>
          <a:solidFill>
            <a:srgbClr val="16213E"/>
          </a:solidFill>
          <a:ln w="381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09360" y="3593592"/>
            <a:ext cx="5577840" cy="301752"/>
          </a:xfrm>
          <a:prstGeom prst="rect">
            <a:avLst/>
          </a:prstGeom>
          <a:noFill/>
        </p:spPr>
        <p:txBody>
          <a:bodyPr wrap="square">
            <a:spAutoFit/>
          </a:bodyPr>
          <a:lstStyle/>
          <a:p>
            <a:pPr algn="l"/>
            <a:r>
              <a:rPr sz="1000" b="0" i="0">
                <a:solidFill>
                  <a:srgbClr val="FFFFFF"/>
                </a:solidFill>
              </a:rPr>
              <a:t>☐  Condensateur 100 µF + 100 nF sur Vs Shield</a:t>
            </a:r>
          </a:p>
        </p:txBody>
      </p:sp>
      <p:sp>
        <p:nvSpPr>
          <p:cNvPr id="55" name="Rectangle 54"/>
          <p:cNvSpPr/>
          <p:nvPr/>
        </p:nvSpPr>
        <p:spPr>
          <a:xfrm>
            <a:off x="6172200" y="3584448"/>
            <a:ext cx="5806440" cy="347472"/>
          </a:xfrm>
          <a:prstGeom prst="rect">
            <a:avLst/>
          </a:prstGeom>
          <a:solidFill>
            <a:srgbClr val="FFD700"/>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263640" y="3621024"/>
            <a:ext cx="5623560" cy="347472"/>
          </a:xfrm>
          <a:prstGeom prst="rect">
            <a:avLst/>
          </a:prstGeom>
          <a:noFill/>
        </p:spPr>
        <p:txBody>
          <a:bodyPr wrap="square">
            <a:spAutoFit/>
          </a:bodyPr>
          <a:lstStyle/>
          <a:p>
            <a:pPr algn="l"/>
            <a:r>
              <a:rPr sz="1200" b="1" i="0">
                <a:solidFill>
                  <a:srgbClr val="1A1A2E"/>
                </a:solidFill>
              </a:rPr>
              <a:t>FIRMWARE / CUBEMX</a:t>
            </a:r>
          </a:p>
        </p:txBody>
      </p:sp>
      <p:sp>
        <p:nvSpPr>
          <p:cNvPr id="57" name="Rectangle 56"/>
          <p:cNvSpPr/>
          <p:nvPr/>
        </p:nvSpPr>
        <p:spPr>
          <a:xfrm>
            <a:off x="6172200" y="3931920"/>
            <a:ext cx="5806440" cy="301752"/>
          </a:xfrm>
          <a:prstGeom prst="rect">
            <a:avLst/>
          </a:prstGeom>
          <a:solidFill>
            <a:srgbClr val="16213E"/>
          </a:solidFill>
          <a:ln w="381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309360" y="3968496"/>
            <a:ext cx="5577840" cy="301752"/>
          </a:xfrm>
          <a:prstGeom prst="rect">
            <a:avLst/>
          </a:prstGeom>
          <a:noFill/>
        </p:spPr>
        <p:txBody>
          <a:bodyPr wrap="square">
            <a:spAutoFit/>
          </a:bodyPr>
          <a:lstStyle/>
          <a:p>
            <a:pPr algn="l"/>
            <a:r>
              <a:rPr sz="1000" b="0" i="0">
                <a:solidFill>
                  <a:srgbClr val="FFFFFF"/>
                </a:solidFill>
              </a:rPr>
              <a:t>☐  PB3 reconfiguré : SYS_JTDO-SWO → TIM2_CH2</a:t>
            </a:r>
          </a:p>
        </p:txBody>
      </p:sp>
      <p:sp>
        <p:nvSpPr>
          <p:cNvPr id="59" name="Rectangle 58"/>
          <p:cNvSpPr/>
          <p:nvPr/>
        </p:nvSpPr>
        <p:spPr>
          <a:xfrm>
            <a:off x="6172200" y="4233672"/>
            <a:ext cx="5806440" cy="301752"/>
          </a:xfrm>
          <a:prstGeom prst="rect">
            <a:avLst/>
          </a:prstGeom>
          <a:solidFill>
            <a:srgbClr val="16213E"/>
          </a:solidFill>
          <a:ln w="381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309360" y="4270248"/>
            <a:ext cx="5577840" cy="301752"/>
          </a:xfrm>
          <a:prstGeom prst="rect">
            <a:avLst/>
          </a:prstGeom>
          <a:noFill/>
        </p:spPr>
        <p:txBody>
          <a:bodyPr wrap="square">
            <a:spAutoFit/>
          </a:bodyPr>
          <a:lstStyle/>
          <a:p>
            <a:pPr algn="l"/>
            <a:r>
              <a:rPr sz="1000" b="0" i="0">
                <a:solidFill>
                  <a:srgbClr val="FFFFFF"/>
                </a:solidFill>
              </a:rPr>
              <a:t>☐  PC1 reconfiguré : ADCx_IN2 → LPTIM1_OUT (PWM mode)</a:t>
            </a:r>
          </a:p>
        </p:txBody>
      </p:sp>
      <p:sp>
        <p:nvSpPr>
          <p:cNvPr id="61" name="Rectangle 60"/>
          <p:cNvSpPr/>
          <p:nvPr/>
        </p:nvSpPr>
        <p:spPr>
          <a:xfrm>
            <a:off x="6172200" y="4535424"/>
            <a:ext cx="5806440" cy="301752"/>
          </a:xfrm>
          <a:prstGeom prst="rect">
            <a:avLst/>
          </a:prstGeom>
          <a:solidFill>
            <a:srgbClr val="16213E"/>
          </a:solidFill>
          <a:ln w="381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09360" y="4572000"/>
            <a:ext cx="5577840" cy="301752"/>
          </a:xfrm>
          <a:prstGeom prst="rect">
            <a:avLst/>
          </a:prstGeom>
          <a:noFill/>
        </p:spPr>
        <p:txBody>
          <a:bodyPr wrap="square">
            <a:spAutoFit/>
          </a:bodyPr>
          <a:lstStyle/>
          <a:p>
            <a:pPr algn="l"/>
            <a:r>
              <a:rPr sz="1000" b="0" i="0">
                <a:solidFill>
                  <a:srgbClr val="FFFFFF"/>
                </a:solidFill>
              </a:rPr>
              <a:t>☐  PB2, PD13, PE3, PD12 : GPIO_Output (pas GPIO_Input)</a:t>
            </a:r>
          </a:p>
        </p:txBody>
      </p:sp>
      <p:sp>
        <p:nvSpPr>
          <p:cNvPr id="63" name="Rectangle 62"/>
          <p:cNvSpPr/>
          <p:nvPr/>
        </p:nvSpPr>
        <p:spPr>
          <a:xfrm>
            <a:off x="6172200" y="4837176"/>
            <a:ext cx="5806440" cy="301752"/>
          </a:xfrm>
          <a:prstGeom prst="rect">
            <a:avLst/>
          </a:prstGeom>
          <a:solidFill>
            <a:srgbClr val="16213E"/>
          </a:solidFill>
          <a:ln w="381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309360" y="4873752"/>
            <a:ext cx="5577840" cy="301752"/>
          </a:xfrm>
          <a:prstGeom prst="rect">
            <a:avLst/>
          </a:prstGeom>
          <a:noFill/>
        </p:spPr>
        <p:txBody>
          <a:bodyPr wrap="square">
            <a:spAutoFit/>
          </a:bodyPr>
          <a:lstStyle/>
          <a:p>
            <a:pPr algn="l"/>
            <a:r>
              <a:rPr sz="1000" b="0" i="0">
                <a:solidFill>
                  <a:srgbClr val="FFFFFF"/>
                </a:solidFill>
              </a:rPr>
              <a:t>☐  TIM10 / PE0 : vérifier absence conflit LED RGB / IR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Vérification Fonctionnelle  (1/2)</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Encodeurs · IMU · Communication VCP — Tests à effectuer firmware chargé, alimentation ON</a:t>
            </a:r>
          </a:p>
        </p:txBody>
      </p:sp>
      <p:sp>
        <p:nvSpPr>
          <p:cNvPr id="5" name="Rectangle 4"/>
          <p:cNvSpPr/>
          <p:nvPr/>
        </p:nvSpPr>
        <p:spPr>
          <a:xfrm>
            <a:off x="182880" y="1298448"/>
            <a:ext cx="11795760" cy="347472"/>
          </a:xfrm>
          <a:prstGeom prst="rect">
            <a:avLst/>
          </a:prstGeom>
          <a:solidFill>
            <a:srgbClr val="00CC66"/>
          </a:solidFill>
          <a:ln w="1270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335024"/>
            <a:ext cx="11612880" cy="347472"/>
          </a:xfrm>
          <a:prstGeom prst="rect">
            <a:avLst/>
          </a:prstGeom>
          <a:noFill/>
        </p:spPr>
        <p:txBody>
          <a:bodyPr wrap="square">
            <a:spAutoFit/>
          </a:bodyPr>
          <a:lstStyle/>
          <a:p>
            <a:pPr algn="l"/>
            <a:r>
              <a:rPr sz="1300" b="1" i="0">
                <a:solidFill>
                  <a:srgbClr val="1A1A2E"/>
                </a:solidFill>
              </a:rPr>
              <a:t>ENCODEUR GAUCHE — TIM1 (PD14/PD15)</a:t>
            </a:r>
          </a:p>
        </p:txBody>
      </p:sp>
      <p:sp>
        <p:nvSpPr>
          <p:cNvPr id="7" name="Rectangle 6"/>
          <p:cNvSpPr/>
          <p:nvPr/>
        </p:nvSpPr>
        <p:spPr>
          <a:xfrm>
            <a:off x="182880" y="1645920"/>
            <a:ext cx="256032" cy="246888"/>
          </a:xfrm>
          <a:prstGeom prst="rect">
            <a:avLst/>
          </a:prstGeom>
          <a:solidFill>
            <a:srgbClr val="052050"/>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9456" y="1682496"/>
            <a:ext cx="182880" cy="246888"/>
          </a:xfrm>
          <a:prstGeom prst="rect">
            <a:avLst/>
          </a:prstGeom>
          <a:noFill/>
        </p:spPr>
        <p:txBody>
          <a:bodyPr wrap="square">
            <a:spAutoFit/>
          </a:bodyPr>
          <a:lstStyle/>
          <a:p>
            <a:pPr algn="ctr"/>
            <a:endParaRPr/>
          </a:p>
        </p:txBody>
      </p:sp>
      <p:sp>
        <p:nvSpPr>
          <p:cNvPr id="9" name="Rectangle 8"/>
          <p:cNvSpPr/>
          <p:nvPr/>
        </p:nvSpPr>
        <p:spPr>
          <a:xfrm>
            <a:off x="438912" y="1645920"/>
            <a:ext cx="2286000" cy="246888"/>
          </a:xfrm>
          <a:prstGeom prst="rect">
            <a:avLst/>
          </a:prstGeom>
          <a:solidFill>
            <a:srgbClr val="052050"/>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1682496"/>
            <a:ext cx="2212848" cy="246888"/>
          </a:xfrm>
          <a:prstGeom prst="rect">
            <a:avLst/>
          </a:prstGeom>
          <a:noFill/>
        </p:spPr>
        <p:txBody>
          <a:bodyPr wrap="square">
            <a:spAutoFit/>
          </a:bodyPr>
          <a:lstStyle/>
          <a:p>
            <a:pPr algn="ctr"/>
            <a:r>
              <a:rPr sz="900" b="1" i="0">
                <a:solidFill>
                  <a:srgbClr val="00CC66"/>
                </a:solidFill>
              </a:rPr>
              <a:t>Test</a:t>
            </a:r>
          </a:p>
        </p:txBody>
      </p:sp>
      <p:sp>
        <p:nvSpPr>
          <p:cNvPr id="11" name="Rectangle 10"/>
          <p:cNvSpPr/>
          <p:nvPr/>
        </p:nvSpPr>
        <p:spPr>
          <a:xfrm>
            <a:off x="2724912" y="1645920"/>
            <a:ext cx="3840480" cy="246888"/>
          </a:xfrm>
          <a:prstGeom prst="rect">
            <a:avLst/>
          </a:prstGeom>
          <a:solidFill>
            <a:srgbClr val="052050"/>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61488" y="1682496"/>
            <a:ext cx="3767328" cy="246888"/>
          </a:xfrm>
          <a:prstGeom prst="rect">
            <a:avLst/>
          </a:prstGeom>
          <a:noFill/>
        </p:spPr>
        <p:txBody>
          <a:bodyPr wrap="square">
            <a:spAutoFit/>
          </a:bodyPr>
          <a:lstStyle/>
          <a:p>
            <a:pPr algn="ctr"/>
            <a:r>
              <a:rPr sz="900" b="1" i="0">
                <a:solidFill>
                  <a:srgbClr val="00CC66"/>
                </a:solidFill>
              </a:rPr>
              <a:t>Procédure</a:t>
            </a:r>
          </a:p>
        </p:txBody>
      </p:sp>
      <p:sp>
        <p:nvSpPr>
          <p:cNvPr id="13" name="Rectangle 12"/>
          <p:cNvSpPr/>
          <p:nvPr/>
        </p:nvSpPr>
        <p:spPr>
          <a:xfrm>
            <a:off x="6565392" y="1645920"/>
            <a:ext cx="3200400" cy="246888"/>
          </a:xfrm>
          <a:prstGeom prst="rect">
            <a:avLst/>
          </a:prstGeom>
          <a:solidFill>
            <a:srgbClr val="052050"/>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1682496"/>
            <a:ext cx="3127248" cy="246888"/>
          </a:xfrm>
          <a:prstGeom prst="rect">
            <a:avLst/>
          </a:prstGeom>
          <a:noFill/>
        </p:spPr>
        <p:txBody>
          <a:bodyPr wrap="square">
            <a:spAutoFit/>
          </a:bodyPr>
          <a:lstStyle/>
          <a:p>
            <a:pPr algn="ctr"/>
            <a:r>
              <a:rPr sz="900" b="1" i="0">
                <a:solidFill>
                  <a:srgbClr val="00CC66"/>
                </a:solidFill>
              </a:rPr>
              <a:t>Résultat attendu</a:t>
            </a:r>
          </a:p>
        </p:txBody>
      </p:sp>
      <p:sp>
        <p:nvSpPr>
          <p:cNvPr id="15" name="Rectangle 14"/>
          <p:cNvSpPr/>
          <p:nvPr/>
        </p:nvSpPr>
        <p:spPr>
          <a:xfrm>
            <a:off x="182880" y="1892808"/>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0312" y="1920240"/>
            <a:ext cx="201168" cy="329184"/>
          </a:xfrm>
          <a:prstGeom prst="rect">
            <a:avLst/>
          </a:prstGeom>
          <a:noFill/>
        </p:spPr>
        <p:txBody>
          <a:bodyPr wrap="square">
            <a:spAutoFit/>
          </a:bodyPr>
          <a:lstStyle/>
          <a:p>
            <a:pPr algn="ctr"/>
            <a:r>
              <a:rPr sz="900" b="0" i="0">
                <a:solidFill>
                  <a:srgbClr val="FFD700"/>
                </a:solidFill>
              </a:rPr>
              <a:t>☐</a:t>
            </a:r>
          </a:p>
        </p:txBody>
      </p:sp>
      <p:sp>
        <p:nvSpPr>
          <p:cNvPr id="17" name="Rectangle 16"/>
          <p:cNvSpPr/>
          <p:nvPr/>
        </p:nvSpPr>
        <p:spPr>
          <a:xfrm>
            <a:off x="438912" y="1892808"/>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 y="1920240"/>
            <a:ext cx="2231136" cy="329184"/>
          </a:xfrm>
          <a:prstGeom prst="rect">
            <a:avLst/>
          </a:prstGeom>
          <a:noFill/>
        </p:spPr>
        <p:txBody>
          <a:bodyPr wrap="square">
            <a:spAutoFit/>
          </a:bodyPr>
          <a:lstStyle/>
          <a:p>
            <a:pPr algn="l"/>
            <a:r>
              <a:rPr sz="900" b="0" i="0">
                <a:solidFill>
                  <a:srgbClr val="FFFFFF"/>
                </a:solidFill>
              </a:rPr>
              <a:t>TIM1 actif</a:t>
            </a:r>
          </a:p>
        </p:txBody>
      </p:sp>
      <p:sp>
        <p:nvSpPr>
          <p:cNvPr id="19" name="Rectangle 18"/>
          <p:cNvSpPr/>
          <p:nvPr/>
        </p:nvSpPr>
        <p:spPr>
          <a:xfrm>
            <a:off x="2724912" y="1892808"/>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52344" y="1920240"/>
            <a:ext cx="3785616" cy="329184"/>
          </a:xfrm>
          <a:prstGeom prst="rect">
            <a:avLst/>
          </a:prstGeom>
          <a:noFill/>
        </p:spPr>
        <p:txBody>
          <a:bodyPr wrap="square">
            <a:spAutoFit/>
          </a:bodyPr>
          <a:lstStyle/>
          <a:p>
            <a:pPr algn="l"/>
            <a:r>
              <a:rPr sz="900" b="0" i="0">
                <a:solidFill>
                  <a:srgbClr val="FFFFFF"/>
                </a:solidFill>
              </a:rPr>
              <a:t>Observer TIMx_CNT via debugger ou VCP</a:t>
            </a:r>
          </a:p>
        </p:txBody>
      </p:sp>
      <p:sp>
        <p:nvSpPr>
          <p:cNvPr id="21" name="Rectangle 20"/>
          <p:cNvSpPr/>
          <p:nvPr/>
        </p:nvSpPr>
        <p:spPr>
          <a:xfrm>
            <a:off x="6565392" y="1892808"/>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92824" y="1920240"/>
            <a:ext cx="3145536" cy="329184"/>
          </a:xfrm>
          <a:prstGeom prst="rect">
            <a:avLst/>
          </a:prstGeom>
          <a:noFill/>
        </p:spPr>
        <p:txBody>
          <a:bodyPr wrap="square">
            <a:spAutoFit/>
          </a:bodyPr>
          <a:lstStyle/>
          <a:p>
            <a:pPr algn="l"/>
            <a:r>
              <a:rPr sz="900" b="0" i="0">
                <a:solidFill>
                  <a:srgbClr val="FFFFFF"/>
                </a:solidFill>
              </a:rPr>
              <a:t>Compteur figé = 0 à l'arrêt</a:t>
            </a:r>
          </a:p>
        </p:txBody>
      </p:sp>
      <p:sp>
        <p:nvSpPr>
          <p:cNvPr id="23" name="Rectangle 22"/>
          <p:cNvSpPr/>
          <p:nvPr/>
        </p:nvSpPr>
        <p:spPr>
          <a:xfrm>
            <a:off x="182880" y="2221992"/>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0312" y="2249424"/>
            <a:ext cx="201168" cy="329184"/>
          </a:xfrm>
          <a:prstGeom prst="rect">
            <a:avLst/>
          </a:prstGeom>
          <a:noFill/>
        </p:spPr>
        <p:txBody>
          <a:bodyPr wrap="square">
            <a:spAutoFit/>
          </a:bodyPr>
          <a:lstStyle/>
          <a:p>
            <a:pPr algn="ctr"/>
            <a:r>
              <a:rPr sz="900" b="0" i="0">
                <a:solidFill>
                  <a:srgbClr val="FFD700"/>
                </a:solidFill>
              </a:rPr>
              <a:t>☐</a:t>
            </a:r>
          </a:p>
        </p:txBody>
      </p:sp>
      <p:sp>
        <p:nvSpPr>
          <p:cNvPr id="25" name="Rectangle 24"/>
          <p:cNvSpPr/>
          <p:nvPr/>
        </p:nvSpPr>
        <p:spPr>
          <a:xfrm>
            <a:off x="438912" y="2221992"/>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6344" y="2249424"/>
            <a:ext cx="2231136" cy="329184"/>
          </a:xfrm>
          <a:prstGeom prst="rect">
            <a:avLst/>
          </a:prstGeom>
          <a:noFill/>
        </p:spPr>
        <p:txBody>
          <a:bodyPr wrap="square">
            <a:spAutoFit/>
          </a:bodyPr>
          <a:lstStyle/>
          <a:p>
            <a:pPr algn="l"/>
            <a:r>
              <a:rPr sz="900" b="0" i="0">
                <a:solidFill>
                  <a:srgbClr val="FFFFFF"/>
                </a:solidFill>
              </a:rPr>
              <a:t>Rotation CW</a:t>
            </a:r>
          </a:p>
        </p:txBody>
      </p:sp>
      <p:sp>
        <p:nvSpPr>
          <p:cNvPr id="27" name="Rectangle 26"/>
          <p:cNvSpPr/>
          <p:nvPr/>
        </p:nvSpPr>
        <p:spPr>
          <a:xfrm>
            <a:off x="2724912" y="2221992"/>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52344" y="2249424"/>
            <a:ext cx="3785616" cy="329184"/>
          </a:xfrm>
          <a:prstGeom prst="rect">
            <a:avLst/>
          </a:prstGeom>
          <a:noFill/>
        </p:spPr>
        <p:txBody>
          <a:bodyPr wrap="square">
            <a:spAutoFit/>
          </a:bodyPr>
          <a:lstStyle/>
          <a:p>
            <a:pPr algn="l"/>
            <a:r>
              <a:rPr sz="900" b="0" i="0">
                <a:solidFill>
                  <a:srgbClr val="FFFFFF"/>
                </a:solidFill>
              </a:rPr>
              <a:t>Faire tourner la roue gauche dans sens CW à la main</a:t>
            </a:r>
          </a:p>
        </p:txBody>
      </p:sp>
      <p:sp>
        <p:nvSpPr>
          <p:cNvPr id="29" name="Rectangle 28"/>
          <p:cNvSpPr/>
          <p:nvPr/>
        </p:nvSpPr>
        <p:spPr>
          <a:xfrm>
            <a:off x="6565392" y="2221992"/>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92824" y="2249424"/>
            <a:ext cx="3145536" cy="329184"/>
          </a:xfrm>
          <a:prstGeom prst="rect">
            <a:avLst/>
          </a:prstGeom>
          <a:noFill/>
        </p:spPr>
        <p:txBody>
          <a:bodyPr wrap="square">
            <a:spAutoFit/>
          </a:bodyPr>
          <a:lstStyle/>
          <a:p>
            <a:pPr algn="l"/>
            <a:r>
              <a:rPr sz="900" b="0" i="0">
                <a:solidFill>
                  <a:srgbClr val="FFFFFF"/>
                </a:solidFill>
              </a:rPr>
              <a:t>TIM1_CNT augmente de ~1856 par tour</a:t>
            </a:r>
          </a:p>
        </p:txBody>
      </p:sp>
      <p:sp>
        <p:nvSpPr>
          <p:cNvPr id="31" name="Rectangle 30"/>
          <p:cNvSpPr/>
          <p:nvPr/>
        </p:nvSpPr>
        <p:spPr>
          <a:xfrm>
            <a:off x="182880" y="2551176"/>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0312" y="2578608"/>
            <a:ext cx="201168" cy="329184"/>
          </a:xfrm>
          <a:prstGeom prst="rect">
            <a:avLst/>
          </a:prstGeom>
          <a:noFill/>
        </p:spPr>
        <p:txBody>
          <a:bodyPr wrap="square">
            <a:spAutoFit/>
          </a:bodyPr>
          <a:lstStyle/>
          <a:p>
            <a:pPr algn="ctr"/>
            <a:r>
              <a:rPr sz="900" b="0" i="0">
                <a:solidFill>
                  <a:srgbClr val="FFD700"/>
                </a:solidFill>
              </a:rPr>
              <a:t>☐</a:t>
            </a:r>
          </a:p>
        </p:txBody>
      </p:sp>
      <p:sp>
        <p:nvSpPr>
          <p:cNvPr id="33" name="Rectangle 32"/>
          <p:cNvSpPr/>
          <p:nvPr/>
        </p:nvSpPr>
        <p:spPr>
          <a:xfrm>
            <a:off x="438912" y="2551176"/>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6344" y="2578608"/>
            <a:ext cx="2231136" cy="329184"/>
          </a:xfrm>
          <a:prstGeom prst="rect">
            <a:avLst/>
          </a:prstGeom>
          <a:noFill/>
        </p:spPr>
        <p:txBody>
          <a:bodyPr wrap="square">
            <a:spAutoFit/>
          </a:bodyPr>
          <a:lstStyle/>
          <a:p>
            <a:pPr algn="l"/>
            <a:r>
              <a:rPr sz="900" b="0" i="0">
                <a:solidFill>
                  <a:srgbClr val="FFFFFF"/>
                </a:solidFill>
              </a:rPr>
              <a:t>Rotation CCW</a:t>
            </a:r>
          </a:p>
        </p:txBody>
      </p:sp>
      <p:sp>
        <p:nvSpPr>
          <p:cNvPr id="35" name="Rectangle 34"/>
          <p:cNvSpPr/>
          <p:nvPr/>
        </p:nvSpPr>
        <p:spPr>
          <a:xfrm>
            <a:off x="2724912" y="2551176"/>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52344" y="2578608"/>
            <a:ext cx="3785616" cy="329184"/>
          </a:xfrm>
          <a:prstGeom prst="rect">
            <a:avLst/>
          </a:prstGeom>
          <a:noFill/>
        </p:spPr>
        <p:txBody>
          <a:bodyPr wrap="square">
            <a:spAutoFit/>
          </a:bodyPr>
          <a:lstStyle/>
          <a:p>
            <a:pPr algn="l"/>
            <a:r>
              <a:rPr sz="900" b="0" i="0">
                <a:solidFill>
                  <a:srgbClr val="FFFFFF"/>
                </a:solidFill>
              </a:rPr>
              <a:t>Faire tourner la roue gauche dans sens CCW</a:t>
            </a:r>
          </a:p>
        </p:txBody>
      </p:sp>
      <p:sp>
        <p:nvSpPr>
          <p:cNvPr id="37" name="Rectangle 36"/>
          <p:cNvSpPr/>
          <p:nvPr/>
        </p:nvSpPr>
        <p:spPr>
          <a:xfrm>
            <a:off x="6565392" y="2551176"/>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92824" y="2578608"/>
            <a:ext cx="3145536" cy="329184"/>
          </a:xfrm>
          <a:prstGeom prst="rect">
            <a:avLst/>
          </a:prstGeom>
          <a:noFill/>
        </p:spPr>
        <p:txBody>
          <a:bodyPr wrap="square">
            <a:spAutoFit/>
          </a:bodyPr>
          <a:lstStyle/>
          <a:p>
            <a:pPr algn="l"/>
            <a:r>
              <a:rPr sz="900" b="0" i="0">
                <a:solidFill>
                  <a:srgbClr val="FFFFFF"/>
                </a:solidFill>
              </a:rPr>
              <a:t>TIM1_CNT diminue (overflow 16-bit normal)</a:t>
            </a:r>
          </a:p>
        </p:txBody>
      </p:sp>
      <p:sp>
        <p:nvSpPr>
          <p:cNvPr id="39" name="Rectangle 38"/>
          <p:cNvSpPr/>
          <p:nvPr/>
        </p:nvSpPr>
        <p:spPr>
          <a:xfrm>
            <a:off x="182880" y="2880360"/>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0312" y="2907792"/>
            <a:ext cx="201168" cy="329184"/>
          </a:xfrm>
          <a:prstGeom prst="rect">
            <a:avLst/>
          </a:prstGeom>
          <a:noFill/>
        </p:spPr>
        <p:txBody>
          <a:bodyPr wrap="square">
            <a:spAutoFit/>
          </a:bodyPr>
          <a:lstStyle/>
          <a:p>
            <a:pPr algn="ctr"/>
            <a:r>
              <a:rPr sz="900" b="0" i="0">
                <a:solidFill>
                  <a:srgbClr val="FFD700"/>
                </a:solidFill>
              </a:rPr>
              <a:t>☐</a:t>
            </a:r>
          </a:p>
        </p:txBody>
      </p:sp>
      <p:sp>
        <p:nvSpPr>
          <p:cNvPr id="41" name="Rectangle 40"/>
          <p:cNvSpPr/>
          <p:nvPr/>
        </p:nvSpPr>
        <p:spPr>
          <a:xfrm>
            <a:off x="438912" y="2880360"/>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 y="2907792"/>
            <a:ext cx="2231136" cy="329184"/>
          </a:xfrm>
          <a:prstGeom prst="rect">
            <a:avLst/>
          </a:prstGeom>
          <a:noFill/>
        </p:spPr>
        <p:txBody>
          <a:bodyPr wrap="square">
            <a:spAutoFit/>
          </a:bodyPr>
          <a:lstStyle/>
          <a:p>
            <a:pPr algn="l"/>
            <a:r>
              <a:rPr sz="900" b="0" i="0">
                <a:solidFill>
                  <a:srgbClr val="FFFFFF"/>
                </a:solidFill>
              </a:rPr>
              <a:t>Résolution</a:t>
            </a:r>
          </a:p>
        </p:txBody>
      </p:sp>
      <p:sp>
        <p:nvSpPr>
          <p:cNvPr id="43" name="Rectangle 42"/>
          <p:cNvSpPr/>
          <p:nvPr/>
        </p:nvSpPr>
        <p:spPr>
          <a:xfrm>
            <a:off x="2724912" y="2880360"/>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752344" y="2907792"/>
            <a:ext cx="3785616" cy="329184"/>
          </a:xfrm>
          <a:prstGeom prst="rect">
            <a:avLst/>
          </a:prstGeom>
          <a:noFill/>
        </p:spPr>
        <p:txBody>
          <a:bodyPr wrap="square">
            <a:spAutoFit/>
          </a:bodyPr>
          <a:lstStyle/>
          <a:p>
            <a:pPr algn="l"/>
            <a:r>
              <a:rPr sz="900" b="0" i="0">
                <a:solidFill>
                  <a:srgbClr val="FFFFFF"/>
                </a:solidFill>
              </a:rPr>
              <a:t>1 tour complet → lire delta TIM1_CNT</a:t>
            </a:r>
          </a:p>
        </p:txBody>
      </p:sp>
      <p:sp>
        <p:nvSpPr>
          <p:cNvPr id="45" name="Rectangle 44"/>
          <p:cNvSpPr/>
          <p:nvPr/>
        </p:nvSpPr>
        <p:spPr>
          <a:xfrm>
            <a:off x="6565392" y="2880360"/>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92824" y="2907792"/>
            <a:ext cx="3145536" cy="329184"/>
          </a:xfrm>
          <a:prstGeom prst="rect">
            <a:avLst/>
          </a:prstGeom>
          <a:noFill/>
        </p:spPr>
        <p:txBody>
          <a:bodyPr wrap="square">
            <a:spAutoFit/>
          </a:bodyPr>
          <a:lstStyle/>
          <a:p>
            <a:pPr algn="l"/>
            <a:r>
              <a:rPr sz="900" b="0" i="0">
                <a:solidFill>
                  <a:srgbClr val="FFFFFF"/>
                </a:solidFill>
              </a:rPr>
              <a:t>Delta ≈ 1856 ticks (tolérance ±5 ticks)</a:t>
            </a:r>
          </a:p>
        </p:txBody>
      </p:sp>
      <p:sp>
        <p:nvSpPr>
          <p:cNvPr id="47" name="Rectangle 46"/>
          <p:cNvSpPr/>
          <p:nvPr/>
        </p:nvSpPr>
        <p:spPr>
          <a:xfrm>
            <a:off x="182880" y="3319272"/>
            <a:ext cx="11795760" cy="347472"/>
          </a:xfrm>
          <a:prstGeom prst="rect">
            <a:avLst/>
          </a:prstGeom>
          <a:solidFill>
            <a:srgbClr val="00CC66"/>
          </a:solidFill>
          <a:ln w="1270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74320" y="3355848"/>
            <a:ext cx="11612880" cy="347472"/>
          </a:xfrm>
          <a:prstGeom prst="rect">
            <a:avLst/>
          </a:prstGeom>
          <a:noFill/>
        </p:spPr>
        <p:txBody>
          <a:bodyPr wrap="square">
            <a:spAutoFit/>
          </a:bodyPr>
          <a:lstStyle/>
          <a:p>
            <a:pPr algn="l"/>
            <a:r>
              <a:rPr sz="1300" b="1" i="0">
                <a:solidFill>
                  <a:srgbClr val="1A1A2E"/>
                </a:solidFill>
              </a:rPr>
              <a:t>ENCODEUR DROIT — TIM2 (PA15/PB3)</a:t>
            </a:r>
          </a:p>
        </p:txBody>
      </p:sp>
      <p:sp>
        <p:nvSpPr>
          <p:cNvPr id="49" name="Rectangle 48"/>
          <p:cNvSpPr/>
          <p:nvPr/>
        </p:nvSpPr>
        <p:spPr>
          <a:xfrm>
            <a:off x="182880" y="3666744"/>
            <a:ext cx="256032" cy="246888"/>
          </a:xfrm>
          <a:prstGeom prst="rect">
            <a:avLst/>
          </a:prstGeom>
          <a:solidFill>
            <a:srgbClr val="052050"/>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19456" y="3703320"/>
            <a:ext cx="182880" cy="246888"/>
          </a:xfrm>
          <a:prstGeom prst="rect">
            <a:avLst/>
          </a:prstGeom>
          <a:noFill/>
        </p:spPr>
        <p:txBody>
          <a:bodyPr wrap="square">
            <a:spAutoFit/>
          </a:bodyPr>
          <a:lstStyle/>
          <a:p>
            <a:pPr algn="ctr"/>
            <a:endParaRPr/>
          </a:p>
        </p:txBody>
      </p:sp>
      <p:sp>
        <p:nvSpPr>
          <p:cNvPr id="51" name="Rectangle 50"/>
          <p:cNvSpPr/>
          <p:nvPr/>
        </p:nvSpPr>
        <p:spPr>
          <a:xfrm>
            <a:off x="438912" y="3666744"/>
            <a:ext cx="2286000" cy="246888"/>
          </a:xfrm>
          <a:prstGeom prst="rect">
            <a:avLst/>
          </a:prstGeom>
          <a:solidFill>
            <a:srgbClr val="052050"/>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75488" y="3703320"/>
            <a:ext cx="2212848" cy="246888"/>
          </a:xfrm>
          <a:prstGeom prst="rect">
            <a:avLst/>
          </a:prstGeom>
          <a:noFill/>
        </p:spPr>
        <p:txBody>
          <a:bodyPr wrap="square">
            <a:spAutoFit/>
          </a:bodyPr>
          <a:lstStyle/>
          <a:p>
            <a:pPr algn="ctr"/>
            <a:r>
              <a:rPr sz="900" b="1" i="0">
                <a:solidFill>
                  <a:srgbClr val="00CC66"/>
                </a:solidFill>
              </a:rPr>
              <a:t>Test</a:t>
            </a:r>
          </a:p>
        </p:txBody>
      </p:sp>
      <p:sp>
        <p:nvSpPr>
          <p:cNvPr id="53" name="Rectangle 52"/>
          <p:cNvSpPr/>
          <p:nvPr/>
        </p:nvSpPr>
        <p:spPr>
          <a:xfrm>
            <a:off x="2724912" y="3666744"/>
            <a:ext cx="3840480" cy="246888"/>
          </a:xfrm>
          <a:prstGeom prst="rect">
            <a:avLst/>
          </a:prstGeom>
          <a:solidFill>
            <a:srgbClr val="052050"/>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761488" y="3703320"/>
            <a:ext cx="3767328" cy="246888"/>
          </a:xfrm>
          <a:prstGeom prst="rect">
            <a:avLst/>
          </a:prstGeom>
          <a:noFill/>
        </p:spPr>
        <p:txBody>
          <a:bodyPr wrap="square">
            <a:spAutoFit/>
          </a:bodyPr>
          <a:lstStyle/>
          <a:p>
            <a:pPr algn="ctr"/>
            <a:r>
              <a:rPr sz="900" b="1" i="0">
                <a:solidFill>
                  <a:srgbClr val="00CC66"/>
                </a:solidFill>
              </a:rPr>
              <a:t>Procédure</a:t>
            </a:r>
          </a:p>
        </p:txBody>
      </p:sp>
      <p:sp>
        <p:nvSpPr>
          <p:cNvPr id="55" name="Rectangle 54"/>
          <p:cNvSpPr/>
          <p:nvPr/>
        </p:nvSpPr>
        <p:spPr>
          <a:xfrm>
            <a:off x="6565392" y="3666744"/>
            <a:ext cx="3200400" cy="246888"/>
          </a:xfrm>
          <a:prstGeom prst="rect">
            <a:avLst/>
          </a:prstGeom>
          <a:solidFill>
            <a:srgbClr val="052050"/>
          </a:solidFill>
          <a:ln w="3810">
            <a:solidFill>
              <a:srgbClr val="00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601968" y="3703320"/>
            <a:ext cx="3127248" cy="246888"/>
          </a:xfrm>
          <a:prstGeom prst="rect">
            <a:avLst/>
          </a:prstGeom>
          <a:noFill/>
        </p:spPr>
        <p:txBody>
          <a:bodyPr wrap="square">
            <a:spAutoFit/>
          </a:bodyPr>
          <a:lstStyle/>
          <a:p>
            <a:pPr algn="ctr"/>
            <a:r>
              <a:rPr sz="900" b="1" i="0">
                <a:solidFill>
                  <a:srgbClr val="00CC66"/>
                </a:solidFill>
              </a:rPr>
              <a:t>Résultat attendu</a:t>
            </a:r>
          </a:p>
        </p:txBody>
      </p:sp>
      <p:sp>
        <p:nvSpPr>
          <p:cNvPr id="57" name="Rectangle 56"/>
          <p:cNvSpPr/>
          <p:nvPr/>
        </p:nvSpPr>
        <p:spPr>
          <a:xfrm>
            <a:off x="182880" y="3913632"/>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10312" y="3941064"/>
            <a:ext cx="201168" cy="329184"/>
          </a:xfrm>
          <a:prstGeom prst="rect">
            <a:avLst/>
          </a:prstGeom>
          <a:noFill/>
        </p:spPr>
        <p:txBody>
          <a:bodyPr wrap="square">
            <a:spAutoFit/>
          </a:bodyPr>
          <a:lstStyle/>
          <a:p>
            <a:pPr algn="ctr"/>
            <a:r>
              <a:rPr sz="900" b="0" i="0">
                <a:solidFill>
                  <a:srgbClr val="FFD700"/>
                </a:solidFill>
              </a:rPr>
              <a:t>☐</a:t>
            </a:r>
          </a:p>
        </p:txBody>
      </p:sp>
      <p:sp>
        <p:nvSpPr>
          <p:cNvPr id="59" name="Rectangle 58"/>
          <p:cNvSpPr/>
          <p:nvPr/>
        </p:nvSpPr>
        <p:spPr>
          <a:xfrm>
            <a:off x="438912" y="3913632"/>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66344" y="3941064"/>
            <a:ext cx="2231136" cy="329184"/>
          </a:xfrm>
          <a:prstGeom prst="rect">
            <a:avLst/>
          </a:prstGeom>
          <a:noFill/>
        </p:spPr>
        <p:txBody>
          <a:bodyPr wrap="square">
            <a:spAutoFit/>
          </a:bodyPr>
          <a:lstStyle/>
          <a:p>
            <a:pPr algn="l"/>
            <a:r>
              <a:rPr sz="900" b="0" i="0">
                <a:solidFill>
                  <a:srgbClr val="FFFFFF"/>
                </a:solidFill>
              </a:rPr>
              <a:t>TIM2 actif</a:t>
            </a:r>
          </a:p>
        </p:txBody>
      </p:sp>
      <p:sp>
        <p:nvSpPr>
          <p:cNvPr id="61" name="Rectangle 60"/>
          <p:cNvSpPr/>
          <p:nvPr/>
        </p:nvSpPr>
        <p:spPr>
          <a:xfrm>
            <a:off x="2724912" y="3913632"/>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752344" y="3941064"/>
            <a:ext cx="3785616" cy="329184"/>
          </a:xfrm>
          <a:prstGeom prst="rect">
            <a:avLst/>
          </a:prstGeom>
          <a:noFill/>
        </p:spPr>
        <p:txBody>
          <a:bodyPr wrap="square">
            <a:spAutoFit/>
          </a:bodyPr>
          <a:lstStyle/>
          <a:p>
            <a:pPr algn="l"/>
            <a:r>
              <a:rPr sz="900" b="0" i="0">
                <a:solidFill>
                  <a:srgbClr val="FFFFFF"/>
                </a:solidFill>
              </a:rPr>
              <a:t>Observer TIM2_CNT via debugger ou VCP</a:t>
            </a:r>
          </a:p>
        </p:txBody>
      </p:sp>
      <p:sp>
        <p:nvSpPr>
          <p:cNvPr id="63" name="Rectangle 62"/>
          <p:cNvSpPr/>
          <p:nvPr/>
        </p:nvSpPr>
        <p:spPr>
          <a:xfrm>
            <a:off x="6565392" y="3913632"/>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592824" y="3941064"/>
            <a:ext cx="3145536" cy="329184"/>
          </a:xfrm>
          <a:prstGeom prst="rect">
            <a:avLst/>
          </a:prstGeom>
          <a:noFill/>
        </p:spPr>
        <p:txBody>
          <a:bodyPr wrap="square">
            <a:spAutoFit/>
          </a:bodyPr>
          <a:lstStyle/>
          <a:p>
            <a:pPr algn="l"/>
            <a:r>
              <a:rPr sz="900" b="0" i="0">
                <a:solidFill>
                  <a:srgbClr val="FFFFFF"/>
                </a:solidFill>
              </a:rPr>
              <a:t>Compteur figé = 0 à l'arrêt</a:t>
            </a:r>
          </a:p>
        </p:txBody>
      </p:sp>
      <p:sp>
        <p:nvSpPr>
          <p:cNvPr id="65" name="Rectangle 64"/>
          <p:cNvSpPr/>
          <p:nvPr/>
        </p:nvSpPr>
        <p:spPr>
          <a:xfrm>
            <a:off x="182880" y="4242816"/>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10312" y="4270248"/>
            <a:ext cx="201168" cy="329184"/>
          </a:xfrm>
          <a:prstGeom prst="rect">
            <a:avLst/>
          </a:prstGeom>
          <a:noFill/>
        </p:spPr>
        <p:txBody>
          <a:bodyPr wrap="square">
            <a:spAutoFit/>
          </a:bodyPr>
          <a:lstStyle/>
          <a:p>
            <a:pPr algn="ctr"/>
            <a:r>
              <a:rPr sz="900" b="0" i="0">
                <a:solidFill>
                  <a:srgbClr val="FFD700"/>
                </a:solidFill>
              </a:rPr>
              <a:t>☐</a:t>
            </a:r>
          </a:p>
        </p:txBody>
      </p:sp>
      <p:sp>
        <p:nvSpPr>
          <p:cNvPr id="67" name="Rectangle 66"/>
          <p:cNvSpPr/>
          <p:nvPr/>
        </p:nvSpPr>
        <p:spPr>
          <a:xfrm>
            <a:off x="438912" y="4242816"/>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66344" y="4270248"/>
            <a:ext cx="2231136" cy="329184"/>
          </a:xfrm>
          <a:prstGeom prst="rect">
            <a:avLst/>
          </a:prstGeom>
          <a:noFill/>
        </p:spPr>
        <p:txBody>
          <a:bodyPr wrap="square">
            <a:spAutoFit/>
          </a:bodyPr>
          <a:lstStyle/>
          <a:p>
            <a:pPr algn="l"/>
            <a:r>
              <a:rPr sz="900" b="0" i="0">
                <a:solidFill>
                  <a:srgbClr val="FFFFFF"/>
                </a:solidFill>
              </a:rPr>
              <a:t>Rotation CW</a:t>
            </a:r>
          </a:p>
        </p:txBody>
      </p:sp>
      <p:sp>
        <p:nvSpPr>
          <p:cNvPr id="69" name="Rectangle 68"/>
          <p:cNvSpPr/>
          <p:nvPr/>
        </p:nvSpPr>
        <p:spPr>
          <a:xfrm>
            <a:off x="2724912" y="4242816"/>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752344" y="4270248"/>
            <a:ext cx="3785616" cy="329184"/>
          </a:xfrm>
          <a:prstGeom prst="rect">
            <a:avLst/>
          </a:prstGeom>
          <a:noFill/>
        </p:spPr>
        <p:txBody>
          <a:bodyPr wrap="square">
            <a:spAutoFit/>
          </a:bodyPr>
          <a:lstStyle/>
          <a:p>
            <a:pPr algn="l"/>
            <a:r>
              <a:rPr sz="900" b="0" i="0">
                <a:solidFill>
                  <a:srgbClr val="FFFFFF"/>
                </a:solidFill>
              </a:rPr>
              <a:t>Faire tourner la roue droite dans sens CW à la main</a:t>
            </a:r>
          </a:p>
        </p:txBody>
      </p:sp>
      <p:sp>
        <p:nvSpPr>
          <p:cNvPr id="71" name="Rectangle 70"/>
          <p:cNvSpPr/>
          <p:nvPr/>
        </p:nvSpPr>
        <p:spPr>
          <a:xfrm>
            <a:off x="6565392" y="4242816"/>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592824" y="4270248"/>
            <a:ext cx="3145536" cy="329184"/>
          </a:xfrm>
          <a:prstGeom prst="rect">
            <a:avLst/>
          </a:prstGeom>
          <a:noFill/>
        </p:spPr>
        <p:txBody>
          <a:bodyPr wrap="square">
            <a:spAutoFit/>
          </a:bodyPr>
          <a:lstStyle/>
          <a:p>
            <a:pPr algn="l"/>
            <a:r>
              <a:rPr sz="900" b="0" i="0">
                <a:solidFill>
                  <a:srgbClr val="FFFFFF"/>
                </a:solidFill>
              </a:rPr>
              <a:t>TIM2_CNT augmente de ~1856 par tour</a:t>
            </a:r>
          </a:p>
        </p:txBody>
      </p:sp>
      <p:sp>
        <p:nvSpPr>
          <p:cNvPr id="73" name="Rectangle 72"/>
          <p:cNvSpPr/>
          <p:nvPr/>
        </p:nvSpPr>
        <p:spPr>
          <a:xfrm>
            <a:off x="182880" y="4572000"/>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210312" y="4599432"/>
            <a:ext cx="201168" cy="329184"/>
          </a:xfrm>
          <a:prstGeom prst="rect">
            <a:avLst/>
          </a:prstGeom>
          <a:noFill/>
        </p:spPr>
        <p:txBody>
          <a:bodyPr wrap="square">
            <a:spAutoFit/>
          </a:bodyPr>
          <a:lstStyle/>
          <a:p>
            <a:pPr algn="ctr"/>
            <a:r>
              <a:rPr sz="900" b="0" i="0">
                <a:solidFill>
                  <a:srgbClr val="FFD700"/>
                </a:solidFill>
              </a:rPr>
              <a:t>☐</a:t>
            </a:r>
          </a:p>
        </p:txBody>
      </p:sp>
      <p:sp>
        <p:nvSpPr>
          <p:cNvPr id="75" name="Rectangle 74"/>
          <p:cNvSpPr/>
          <p:nvPr/>
        </p:nvSpPr>
        <p:spPr>
          <a:xfrm>
            <a:off x="438912" y="4572000"/>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66344" y="4599432"/>
            <a:ext cx="2231136" cy="329184"/>
          </a:xfrm>
          <a:prstGeom prst="rect">
            <a:avLst/>
          </a:prstGeom>
          <a:noFill/>
        </p:spPr>
        <p:txBody>
          <a:bodyPr wrap="square">
            <a:spAutoFit/>
          </a:bodyPr>
          <a:lstStyle/>
          <a:p>
            <a:pPr algn="l"/>
            <a:r>
              <a:rPr sz="900" b="0" i="0">
                <a:solidFill>
                  <a:srgbClr val="FFFFFF"/>
                </a:solidFill>
              </a:rPr>
              <a:t>PB3 SWO désactivé</a:t>
            </a:r>
          </a:p>
        </p:txBody>
      </p:sp>
      <p:sp>
        <p:nvSpPr>
          <p:cNvPr id="77" name="Rectangle 76"/>
          <p:cNvSpPr/>
          <p:nvPr/>
        </p:nvSpPr>
        <p:spPr>
          <a:xfrm>
            <a:off x="2724912" y="4572000"/>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2752344" y="4599432"/>
            <a:ext cx="3785616" cy="329184"/>
          </a:xfrm>
          <a:prstGeom prst="rect">
            <a:avLst/>
          </a:prstGeom>
          <a:noFill/>
        </p:spPr>
        <p:txBody>
          <a:bodyPr wrap="square">
            <a:spAutoFit/>
          </a:bodyPr>
          <a:lstStyle/>
          <a:p>
            <a:pPr algn="l"/>
            <a:r>
              <a:rPr sz="900" b="0" i="0">
                <a:solidFill>
                  <a:srgbClr val="FFFFFF"/>
                </a:solidFill>
              </a:rPr>
              <a:t>Tenter une session trace SWO</a:t>
            </a:r>
          </a:p>
        </p:txBody>
      </p:sp>
      <p:sp>
        <p:nvSpPr>
          <p:cNvPr id="79" name="Rectangle 78"/>
          <p:cNvSpPr/>
          <p:nvPr/>
        </p:nvSpPr>
        <p:spPr>
          <a:xfrm>
            <a:off x="6565392" y="4572000"/>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592824" y="4599432"/>
            <a:ext cx="3145536" cy="329184"/>
          </a:xfrm>
          <a:prstGeom prst="rect">
            <a:avLst/>
          </a:prstGeom>
          <a:noFill/>
        </p:spPr>
        <p:txBody>
          <a:bodyPr wrap="square">
            <a:spAutoFit/>
          </a:bodyPr>
          <a:lstStyle/>
          <a:p>
            <a:pPr algn="l"/>
            <a:r>
              <a:rPr sz="900" b="0" i="0">
                <a:solidFill>
                  <a:srgbClr val="FFFFFF"/>
                </a:solidFill>
              </a:rPr>
              <a:t>Aucune trace SWO — comportement normal</a:t>
            </a:r>
          </a:p>
        </p:txBody>
      </p:sp>
      <p:sp>
        <p:nvSpPr>
          <p:cNvPr id="81" name="Rectangle 80"/>
          <p:cNvSpPr/>
          <p:nvPr/>
        </p:nvSpPr>
        <p:spPr>
          <a:xfrm>
            <a:off x="182880" y="5010912"/>
            <a:ext cx="11795760" cy="347472"/>
          </a:xfrm>
          <a:prstGeom prst="rect">
            <a:avLst/>
          </a:prstGeom>
          <a:solidFill>
            <a:srgbClr val="00B050"/>
          </a:solidFill>
          <a:ln w="1270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rgbClr val="00B050"/>
              </a:solidFill>
            </a:endParaRPr>
          </a:p>
        </p:txBody>
      </p:sp>
      <p:sp>
        <p:nvSpPr>
          <p:cNvPr id="82" name="TextBox 81"/>
          <p:cNvSpPr txBox="1"/>
          <p:nvPr/>
        </p:nvSpPr>
        <p:spPr>
          <a:xfrm>
            <a:off x="274320" y="5047488"/>
            <a:ext cx="11612880" cy="347472"/>
          </a:xfrm>
          <a:prstGeom prst="rect">
            <a:avLst/>
          </a:prstGeom>
          <a:noFill/>
        </p:spPr>
        <p:txBody>
          <a:bodyPr wrap="square">
            <a:spAutoFit/>
          </a:bodyPr>
          <a:lstStyle/>
          <a:p>
            <a:pPr algn="l"/>
            <a:r>
              <a:rPr sz="1300" b="1" i="0" dirty="0">
                <a:solidFill>
                  <a:srgbClr val="1A1A2E"/>
                </a:solidFill>
              </a:rPr>
              <a:t>IMU — ISM330DHCX  (I2C3 · PB13 SCL / PB11 SDA · </a:t>
            </a:r>
            <a:r>
              <a:rPr sz="1300" b="1" i="0" dirty="0" err="1">
                <a:solidFill>
                  <a:srgbClr val="1A1A2E"/>
                </a:solidFill>
              </a:rPr>
              <a:t>adresse</a:t>
            </a:r>
            <a:r>
              <a:rPr sz="1300" b="1" i="0" dirty="0">
                <a:solidFill>
                  <a:srgbClr val="1A1A2E"/>
                </a:solidFill>
              </a:rPr>
              <a:t> 0x6B)</a:t>
            </a:r>
          </a:p>
        </p:txBody>
      </p:sp>
      <p:sp>
        <p:nvSpPr>
          <p:cNvPr id="83" name="Rectangle 82"/>
          <p:cNvSpPr/>
          <p:nvPr/>
        </p:nvSpPr>
        <p:spPr>
          <a:xfrm>
            <a:off x="182880" y="5358384"/>
            <a:ext cx="256032" cy="246888"/>
          </a:xfrm>
          <a:prstGeom prst="rect">
            <a:avLst/>
          </a:prstGeom>
          <a:solidFill>
            <a:srgbClr val="052050"/>
          </a:solidFill>
          <a:ln w="381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219456" y="5394960"/>
            <a:ext cx="182880" cy="246888"/>
          </a:xfrm>
          <a:prstGeom prst="rect">
            <a:avLst/>
          </a:prstGeom>
          <a:noFill/>
        </p:spPr>
        <p:txBody>
          <a:bodyPr wrap="square">
            <a:spAutoFit/>
          </a:bodyPr>
          <a:lstStyle/>
          <a:p>
            <a:pPr algn="ctr"/>
            <a:endParaRPr/>
          </a:p>
        </p:txBody>
      </p:sp>
      <p:sp>
        <p:nvSpPr>
          <p:cNvPr id="85" name="Rectangle 84"/>
          <p:cNvSpPr/>
          <p:nvPr/>
        </p:nvSpPr>
        <p:spPr>
          <a:xfrm>
            <a:off x="438912" y="5358384"/>
            <a:ext cx="2286000" cy="246888"/>
          </a:xfrm>
          <a:prstGeom prst="rect">
            <a:avLst/>
          </a:prstGeom>
          <a:solidFill>
            <a:srgbClr val="052050"/>
          </a:solidFill>
          <a:ln w="381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475488" y="5394960"/>
            <a:ext cx="2212848" cy="246888"/>
          </a:xfrm>
          <a:prstGeom prst="rect">
            <a:avLst/>
          </a:prstGeom>
          <a:noFill/>
        </p:spPr>
        <p:txBody>
          <a:bodyPr wrap="square">
            <a:spAutoFit/>
          </a:bodyPr>
          <a:lstStyle/>
          <a:p>
            <a:pPr algn="ctr"/>
            <a:r>
              <a:rPr sz="900" b="1" i="0">
                <a:solidFill>
                  <a:srgbClr val="00BFFF"/>
                </a:solidFill>
              </a:rPr>
              <a:t>Test</a:t>
            </a:r>
          </a:p>
        </p:txBody>
      </p:sp>
      <p:sp>
        <p:nvSpPr>
          <p:cNvPr id="87" name="Rectangle 86"/>
          <p:cNvSpPr/>
          <p:nvPr/>
        </p:nvSpPr>
        <p:spPr>
          <a:xfrm>
            <a:off x="2724912" y="5358384"/>
            <a:ext cx="3840480" cy="246888"/>
          </a:xfrm>
          <a:prstGeom prst="rect">
            <a:avLst/>
          </a:prstGeom>
          <a:solidFill>
            <a:srgbClr val="052050"/>
          </a:solidFill>
          <a:ln w="381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2761488" y="5394960"/>
            <a:ext cx="3767328" cy="246888"/>
          </a:xfrm>
          <a:prstGeom prst="rect">
            <a:avLst/>
          </a:prstGeom>
          <a:noFill/>
        </p:spPr>
        <p:txBody>
          <a:bodyPr wrap="square">
            <a:spAutoFit/>
          </a:bodyPr>
          <a:lstStyle/>
          <a:p>
            <a:pPr algn="ctr"/>
            <a:r>
              <a:rPr sz="900" b="1" i="0">
                <a:solidFill>
                  <a:srgbClr val="00BFFF"/>
                </a:solidFill>
              </a:rPr>
              <a:t>Procédure</a:t>
            </a:r>
          </a:p>
        </p:txBody>
      </p:sp>
      <p:sp>
        <p:nvSpPr>
          <p:cNvPr id="89" name="Rectangle 88"/>
          <p:cNvSpPr/>
          <p:nvPr/>
        </p:nvSpPr>
        <p:spPr>
          <a:xfrm>
            <a:off x="6565392" y="5358384"/>
            <a:ext cx="3200400" cy="246888"/>
          </a:xfrm>
          <a:prstGeom prst="rect">
            <a:avLst/>
          </a:prstGeom>
          <a:solidFill>
            <a:srgbClr val="052050"/>
          </a:solidFill>
          <a:ln w="3810">
            <a:solidFill>
              <a:srgbClr val="00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6601968" y="5394960"/>
            <a:ext cx="3127248" cy="246888"/>
          </a:xfrm>
          <a:prstGeom prst="rect">
            <a:avLst/>
          </a:prstGeom>
          <a:noFill/>
        </p:spPr>
        <p:txBody>
          <a:bodyPr wrap="square">
            <a:spAutoFit/>
          </a:bodyPr>
          <a:lstStyle/>
          <a:p>
            <a:pPr algn="ctr"/>
            <a:r>
              <a:rPr sz="900" b="1" i="0">
                <a:solidFill>
                  <a:srgbClr val="00BFFF"/>
                </a:solidFill>
              </a:rPr>
              <a:t>Résultat attendu</a:t>
            </a:r>
          </a:p>
        </p:txBody>
      </p:sp>
      <p:sp>
        <p:nvSpPr>
          <p:cNvPr id="91" name="Rectangle 90"/>
          <p:cNvSpPr/>
          <p:nvPr/>
        </p:nvSpPr>
        <p:spPr>
          <a:xfrm>
            <a:off x="182880" y="5605272"/>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10312" y="5632704"/>
            <a:ext cx="201168" cy="329184"/>
          </a:xfrm>
          <a:prstGeom prst="rect">
            <a:avLst/>
          </a:prstGeom>
          <a:noFill/>
        </p:spPr>
        <p:txBody>
          <a:bodyPr wrap="square">
            <a:spAutoFit/>
          </a:bodyPr>
          <a:lstStyle/>
          <a:p>
            <a:pPr algn="ctr"/>
            <a:r>
              <a:rPr sz="900" b="0" i="0">
                <a:solidFill>
                  <a:srgbClr val="FFD700"/>
                </a:solidFill>
              </a:rPr>
              <a:t>☐</a:t>
            </a:r>
          </a:p>
        </p:txBody>
      </p:sp>
      <p:sp>
        <p:nvSpPr>
          <p:cNvPr id="93" name="Rectangle 92"/>
          <p:cNvSpPr/>
          <p:nvPr/>
        </p:nvSpPr>
        <p:spPr>
          <a:xfrm>
            <a:off x="438912" y="5605272"/>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66344" y="5632704"/>
            <a:ext cx="2231136" cy="329184"/>
          </a:xfrm>
          <a:prstGeom prst="rect">
            <a:avLst/>
          </a:prstGeom>
          <a:noFill/>
        </p:spPr>
        <p:txBody>
          <a:bodyPr wrap="square">
            <a:spAutoFit/>
          </a:bodyPr>
          <a:lstStyle/>
          <a:p>
            <a:pPr algn="l"/>
            <a:r>
              <a:rPr sz="900" b="0" i="0">
                <a:solidFill>
                  <a:srgbClr val="FFFFFF"/>
                </a:solidFill>
              </a:rPr>
              <a:t>I2C présence</a:t>
            </a:r>
          </a:p>
        </p:txBody>
      </p:sp>
      <p:sp>
        <p:nvSpPr>
          <p:cNvPr id="95" name="Rectangle 94"/>
          <p:cNvSpPr/>
          <p:nvPr/>
        </p:nvSpPr>
        <p:spPr>
          <a:xfrm>
            <a:off x="2724912" y="5605272"/>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752344" y="5632704"/>
            <a:ext cx="3785616" cy="329184"/>
          </a:xfrm>
          <a:prstGeom prst="rect">
            <a:avLst/>
          </a:prstGeom>
          <a:noFill/>
        </p:spPr>
        <p:txBody>
          <a:bodyPr wrap="square">
            <a:spAutoFit/>
          </a:bodyPr>
          <a:lstStyle/>
          <a:p>
            <a:pPr algn="l"/>
            <a:r>
              <a:rPr sz="900" b="0" i="0">
                <a:solidFill>
                  <a:srgbClr val="FFFFFF"/>
                </a:solidFill>
              </a:rPr>
              <a:t>HAL_I2C_IsDeviceReady(&amp;hi2c3, 0x6B&lt;&lt;1, 3, 100)</a:t>
            </a:r>
          </a:p>
        </p:txBody>
      </p:sp>
      <p:sp>
        <p:nvSpPr>
          <p:cNvPr id="97" name="Rectangle 96"/>
          <p:cNvSpPr/>
          <p:nvPr/>
        </p:nvSpPr>
        <p:spPr>
          <a:xfrm>
            <a:off x="6565392" y="5605272"/>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6592824" y="5632704"/>
            <a:ext cx="3145536" cy="329184"/>
          </a:xfrm>
          <a:prstGeom prst="rect">
            <a:avLst/>
          </a:prstGeom>
          <a:noFill/>
        </p:spPr>
        <p:txBody>
          <a:bodyPr wrap="square">
            <a:spAutoFit/>
          </a:bodyPr>
          <a:lstStyle/>
          <a:p>
            <a:pPr algn="l"/>
            <a:r>
              <a:rPr sz="900" b="0" i="0">
                <a:solidFill>
                  <a:srgbClr val="FFFFFF"/>
                </a:solidFill>
              </a:rPr>
              <a:t>Retourne HAL_OK — sinon vérifier PB13/PB11</a:t>
            </a:r>
          </a:p>
        </p:txBody>
      </p:sp>
      <p:sp>
        <p:nvSpPr>
          <p:cNvPr id="99" name="Rectangle 98"/>
          <p:cNvSpPr/>
          <p:nvPr/>
        </p:nvSpPr>
        <p:spPr>
          <a:xfrm>
            <a:off x="182880" y="5934456"/>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210312" y="5961888"/>
            <a:ext cx="201168" cy="329184"/>
          </a:xfrm>
          <a:prstGeom prst="rect">
            <a:avLst/>
          </a:prstGeom>
          <a:noFill/>
        </p:spPr>
        <p:txBody>
          <a:bodyPr wrap="square">
            <a:spAutoFit/>
          </a:bodyPr>
          <a:lstStyle/>
          <a:p>
            <a:pPr algn="ctr"/>
            <a:r>
              <a:rPr sz="900" b="0" i="0">
                <a:solidFill>
                  <a:srgbClr val="FFD700"/>
                </a:solidFill>
              </a:rPr>
              <a:t>☐</a:t>
            </a:r>
          </a:p>
        </p:txBody>
      </p:sp>
      <p:sp>
        <p:nvSpPr>
          <p:cNvPr id="101" name="Rectangle 100"/>
          <p:cNvSpPr/>
          <p:nvPr/>
        </p:nvSpPr>
        <p:spPr>
          <a:xfrm>
            <a:off x="438912" y="5934456"/>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466344" y="5961888"/>
            <a:ext cx="2231136" cy="329184"/>
          </a:xfrm>
          <a:prstGeom prst="rect">
            <a:avLst/>
          </a:prstGeom>
          <a:noFill/>
        </p:spPr>
        <p:txBody>
          <a:bodyPr wrap="square">
            <a:spAutoFit/>
          </a:bodyPr>
          <a:lstStyle/>
          <a:p>
            <a:pPr algn="l"/>
            <a:r>
              <a:rPr sz="900" b="0" i="0">
                <a:solidFill>
                  <a:srgbClr val="FFFFFF"/>
                </a:solidFill>
              </a:rPr>
              <a:t>Lecture Who Am I</a:t>
            </a:r>
          </a:p>
        </p:txBody>
      </p:sp>
      <p:sp>
        <p:nvSpPr>
          <p:cNvPr id="103" name="Rectangle 102"/>
          <p:cNvSpPr/>
          <p:nvPr/>
        </p:nvSpPr>
        <p:spPr>
          <a:xfrm>
            <a:off x="2724912" y="5934456"/>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2752344" y="5961888"/>
            <a:ext cx="3785616" cy="329184"/>
          </a:xfrm>
          <a:prstGeom prst="rect">
            <a:avLst/>
          </a:prstGeom>
          <a:noFill/>
        </p:spPr>
        <p:txBody>
          <a:bodyPr wrap="square">
            <a:spAutoFit/>
          </a:bodyPr>
          <a:lstStyle/>
          <a:p>
            <a:pPr algn="l"/>
            <a:r>
              <a:rPr sz="900" b="0" i="0">
                <a:solidFill>
                  <a:srgbClr val="FFFFFF"/>
                </a:solidFill>
              </a:rPr>
              <a:t>Lire registre 0x0F → valeur attendue 0x6B</a:t>
            </a:r>
          </a:p>
        </p:txBody>
      </p:sp>
      <p:sp>
        <p:nvSpPr>
          <p:cNvPr id="105" name="Rectangle 104"/>
          <p:cNvSpPr/>
          <p:nvPr/>
        </p:nvSpPr>
        <p:spPr>
          <a:xfrm>
            <a:off x="6565392" y="5934456"/>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6592824" y="5961888"/>
            <a:ext cx="3145536" cy="329184"/>
          </a:xfrm>
          <a:prstGeom prst="rect">
            <a:avLst/>
          </a:prstGeom>
          <a:noFill/>
        </p:spPr>
        <p:txBody>
          <a:bodyPr wrap="square">
            <a:spAutoFit/>
          </a:bodyPr>
          <a:lstStyle/>
          <a:p>
            <a:pPr algn="l"/>
            <a:r>
              <a:rPr sz="900" b="0" i="0">
                <a:solidFill>
                  <a:srgbClr val="FFFFFF"/>
                </a:solidFill>
              </a:rPr>
              <a:t>0x6B — sinon I2C3 mal initialisé</a:t>
            </a:r>
          </a:p>
        </p:txBody>
      </p:sp>
      <p:sp>
        <p:nvSpPr>
          <p:cNvPr id="107" name="Rectangle 106"/>
          <p:cNvSpPr/>
          <p:nvPr/>
        </p:nvSpPr>
        <p:spPr>
          <a:xfrm>
            <a:off x="182880" y="6263640"/>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210312" y="6291072"/>
            <a:ext cx="201168" cy="329184"/>
          </a:xfrm>
          <a:prstGeom prst="rect">
            <a:avLst/>
          </a:prstGeom>
          <a:noFill/>
        </p:spPr>
        <p:txBody>
          <a:bodyPr wrap="square">
            <a:spAutoFit/>
          </a:bodyPr>
          <a:lstStyle/>
          <a:p>
            <a:pPr algn="ctr"/>
            <a:r>
              <a:rPr sz="900" b="0" i="0">
                <a:solidFill>
                  <a:srgbClr val="FFD700"/>
                </a:solidFill>
              </a:rPr>
              <a:t>☐</a:t>
            </a:r>
          </a:p>
        </p:txBody>
      </p:sp>
      <p:sp>
        <p:nvSpPr>
          <p:cNvPr id="109" name="Rectangle 108"/>
          <p:cNvSpPr/>
          <p:nvPr/>
        </p:nvSpPr>
        <p:spPr>
          <a:xfrm>
            <a:off x="438912" y="6263640"/>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466344" y="6291072"/>
            <a:ext cx="2231136" cy="329184"/>
          </a:xfrm>
          <a:prstGeom prst="rect">
            <a:avLst/>
          </a:prstGeom>
          <a:noFill/>
        </p:spPr>
        <p:txBody>
          <a:bodyPr wrap="square">
            <a:spAutoFit/>
          </a:bodyPr>
          <a:lstStyle/>
          <a:p>
            <a:pPr algn="l"/>
            <a:r>
              <a:rPr sz="900" b="0" i="0">
                <a:solidFill>
                  <a:srgbClr val="FFFFFF"/>
                </a:solidFill>
              </a:rPr>
              <a:t>Accel statique</a:t>
            </a:r>
          </a:p>
        </p:txBody>
      </p:sp>
      <p:sp>
        <p:nvSpPr>
          <p:cNvPr id="111" name="Rectangle 110"/>
          <p:cNvSpPr/>
          <p:nvPr/>
        </p:nvSpPr>
        <p:spPr>
          <a:xfrm>
            <a:off x="2724912" y="6263640"/>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752344" y="6291072"/>
            <a:ext cx="3785616" cy="329184"/>
          </a:xfrm>
          <a:prstGeom prst="rect">
            <a:avLst/>
          </a:prstGeom>
          <a:noFill/>
        </p:spPr>
        <p:txBody>
          <a:bodyPr wrap="square">
            <a:spAutoFit/>
          </a:bodyPr>
          <a:lstStyle/>
          <a:p>
            <a:pPr algn="l"/>
            <a:r>
              <a:rPr sz="900" b="0" i="0">
                <a:solidFill>
                  <a:srgbClr val="FFFFFF"/>
                </a:solidFill>
              </a:rPr>
              <a:t>Robot posé à plat, lire ax/ay/az en mg</a:t>
            </a:r>
          </a:p>
        </p:txBody>
      </p:sp>
      <p:sp>
        <p:nvSpPr>
          <p:cNvPr id="113" name="Rectangle 112"/>
          <p:cNvSpPr/>
          <p:nvPr/>
        </p:nvSpPr>
        <p:spPr>
          <a:xfrm>
            <a:off x="6565392" y="6263640"/>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6592824" y="6291072"/>
            <a:ext cx="3145536" cy="329184"/>
          </a:xfrm>
          <a:prstGeom prst="rect">
            <a:avLst/>
          </a:prstGeom>
          <a:noFill/>
        </p:spPr>
        <p:txBody>
          <a:bodyPr wrap="square">
            <a:spAutoFit/>
          </a:bodyPr>
          <a:lstStyle/>
          <a:p>
            <a:pPr algn="l"/>
            <a:r>
              <a:rPr sz="900" b="0" i="0">
                <a:solidFill>
                  <a:srgbClr val="FFFFFF"/>
                </a:solidFill>
              </a:rPr>
              <a:t>az ≈ ±1000 mg, ax≈ay≈0 (±50 mg)</a:t>
            </a:r>
          </a:p>
        </p:txBody>
      </p:sp>
      <p:sp>
        <p:nvSpPr>
          <p:cNvPr id="115" name="Rectangle 114"/>
          <p:cNvSpPr/>
          <p:nvPr/>
        </p:nvSpPr>
        <p:spPr>
          <a:xfrm>
            <a:off x="182880" y="6592824"/>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210312" y="6620256"/>
            <a:ext cx="201168" cy="329184"/>
          </a:xfrm>
          <a:prstGeom prst="rect">
            <a:avLst/>
          </a:prstGeom>
          <a:noFill/>
        </p:spPr>
        <p:txBody>
          <a:bodyPr wrap="square">
            <a:spAutoFit/>
          </a:bodyPr>
          <a:lstStyle/>
          <a:p>
            <a:pPr algn="ctr"/>
            <a:r>
              <a:rPr sz="900" b="0" i="0">
                <a:solidFill>
                  <a:srgbClr val="FFD700"/>
                </a:solidFill>
              </a:rPr>
              <a:t>☐</a:t>
            </a:r>
          </a:p>
        </p:txBody>
      </p:sp>
      <p:sp>
        <p:nvSpPr>
          <p:cNvPr id="117" name="Rectangle 116"/>
          <p:cNvSpPr/>
          <p:nvPr/>
        </p:nvSpPr>
        <p:spPr>
          <a:xfrm>
            <a:off x="438912" y="6592824"/>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466344" y="6620256"/>
            <a:ext cx="2231136" cy="329184"/>
          </a:xfrm>
          <a:prstGeom prst="rect">
            <a:avLst/>
          </a:prstGeom>
          <a:noFill/>
        </p:spPr>
        <p:txBody>
          <a:bodyPr wrap="square">
            <a:spAutoFit/>
          </a:bodyPr>
          <a:lstStyle/>
          <a:p>
            <a:pPr algn="l"/>
            <a:r>
              <a:rPr sz="900" b="0" i="0">
                <a:solidFill>
                  <a:srgbClr val="FFFFFF"/>
                </a:solidFill>
              </a:rPr>
              <a:t>Gyro repos</a:t>
            </a:r>
          </a:p>
        </p:txBody>
      </p:sp>
      <p:sp>
        <p:nvSpPr>
          <p:cNvPr id="119" name="Rectangle 118"/>
          <p:cNvSpPr/>
          <p:nvPr/>
        </p:nvSpPr>
        <p:spPr>
          <a:xfrm>
            <a:off x="2724912" y="6592824"/>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2752344" y="6620256"/>
            <a:ext cx="3785616" cy="329184"/>
          </a:xfrm>
          <a:prstGeom prst="rect">
            <a:avLst/>
          </a:prstGeom>
          <a:noFill/>
        </p:spPr>
        <p:txBody>
          <a:bodyPr wrap="square">
            <a:spAutoFit/>
          </a:bodyPr>
          <a:lstStyle/>
          <a:p>
            <a:pPr algn="l"/>
            <a:r>
              <a:rPr sz="900" b="0" i="0">
                <a:solidFill>
                  <a:srgbClr val="FFFFFF"/>
                </a:solidFill>
              </a:rPr>
              <a:t>Robot immobile, lire gx/gy/gz en dps</a:t>
            </a:r>
          </a:p>
        </p:txBody>
      </p:sp>
      <p:sp>
        <p:nvSpPr>
          <p:cNvPr id="121" name="Rectangle 120"/>
          <p:cNvSpPr/>
          <p:nvPr/>
        </p:nvSpPr>
        <p:spPr>
          <a:xfrm>
            <a:off x="6565392" y="6592824"/>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6592824" y="6620256"/>
            <a:ext cx="3145536" cy="329184"/>
          </a:xfrm>
          <a:prstGeom prst="rect">
            <a:avLst/>
          </a:prstGeom>
          <a:noFill/>
        </p:spPr>
        <p:txBody>
          <a:bodyPr wrap="square">
            <a:spAutoFit/>
          </a:bodyPr>
          <a:lstStyle/>
          <a:p>
            <a:pPr algn="l"/>
            <a:r>
              <a:rPr sz="900" b="0" i="0">
                <a:solidFill>
                  <a:srgbClr val="FFFFFF"/>
                </a:solidFill>
              </a:rPr>
              <a:t>Toutes valeurs &lt; ±2 dps (bruit typ.)</a:t>
            </a:r>
          </a:p>
        </p:txBody>
      </p:sp>
      <p:sp>
        <p:nvSpPr>
          <p:cNvPr id="123" name="Rectangle 122"/>
          <p:cNvSpPr/>
          <p:nvPr/>
        </p:nvSpPr>
        <p:spPr>
          <a:xfrm>
            <a:off x="182880" y="6922008"/>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210312" y="6949440"/>
            <a:ext cx="201168" cy="329184"/>
          </a:xfrm>
          <a:prstGeom prst="rect">
            <a:avLst/>
          </a:prstGeom>
          <a:noFill/>
        </p:spPr>
        <p:txBody>
          <a:bodyPr wrap="square">
            <a:spAutoFit/>
          </a:bodyPr>
          <a:lstStyle/>
          <a:p>
            <a:pPr algn="ctr"/>
            <a:r>
              <a:rPr sz="900" b="0" i="0">
                <a:solidFill>
                  <a:srgbClr val="FFD700"/>
                </a:solidFill>
              </a:rPr>
              <a:t>☐</a:t>
            </a:r>
          </a:p>
        </p:txBody>
      </p:sp>
      <p:sp>
        <p:nvSpPr>
          <p:cNvPr id="125" name="Rectangle 124"/>
          <p:cNvSpPr/>
          <p:nvPr/>
        </p:nvSpPr>
        <p:spPr>
          <a:xfrm>
            <a:off x="438912" y="6922008"/>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466344" y="6949440"/>
            <a:ext cx="2231136" cy="329184"/>
          </a:xfrm>
          <a:prstGeom prst="rect">
            <a:avLst/>
          </a:prstGeom>
          <a:noFill/>
        </p:spPr>
        <p:txBody>
          <a:bodyPr wrap="square">
            <a:spAutoFit/>
          </a:bodyPr>
          <a:lstStyle/>
          <a:p>
            <a:pPr algn="l"/>
            <a:r>
              <a:rPr sz="900" b="0" i="0">
                <a:solidFill>
                  <a:srgbClr val="FFFFFF"/>
                </a:solidFill>
              </a:rPr>
              <a:t>Détection tilt</a:t>
            </a:r>
          </a:p>
        </p:txBody>
      </p:sp>
      <p:sp>
        <p:nvSpPr>
          <p:cNvPr id="127" name="Rectangle 126"/>
          <p:cNvSpPr/>
          <p:nvPr/>
        </p:nvSpPr>
        <p:spPr>
          <a:xfrm>
            <a:off x="2724912" y="6922008"/>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2752344" y="6949440"/>
            <a:ext cx="3785616" cy="329184"/>
          </a:xfrm>
          <a:prstGeom prst="rect">
            <a:avLst/>
          </a:prstGeom>
          <a:noFill/>
        </p:spPr>
        <p:txBody>
          <a:bodyPr wrap="square">
            <a:spAutoFit/>
          </a:bodyPr>
          <a:lstStyle/>
          <a:p>
            <a:pPr algn="l"/>
            <a:r>
              <a:rPr sz="900" b="0" i="0">
                <a:solidFill>
                  <a:srgbClr val="FFFFFF"/>
                </a:solidFill>
              </a:rPr>
              <a:t>Incliner le robot à ~30°, lire pitch estimé</a:t>
            </a:r>
          </a:p>
        </p:txBody>
      </p:sp>
      <p:sp>
        <p:nvSpPr>
          <p:cNvPr id="129" name="Rectangle 128"/>
          <p:cNvSpPr/>
          <p:nvPr/>
        </p:nvSpPr>
        <p:spPr>
          <a:xfrm>
            <a:off x="6565392" y="6922008"/>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592824" y="6949440"/>
            <a:ext cx="3145536" cy="329184"/>
          </a:xfrm>
          <a:prstGeom prst="rect">
            <a:avLst/>
          </a:prstGeom>
          <a:noFill/>
        </p:spPr>
        <p:txBody>
          <a:bodyPr wrap="square">
            <a:spAutoFit/>
          </a:bodyPr>
          <a:lstStyle/>
          <a:p>
            <a:pPr algn="l"/>
            <a:r>
              <a:rPr sz="900" b="0" i="0">
                <a:solidFill>
                  <a:srgbClr val="FFFFFF"/>
                </a:solidFill>
              </a:rPr>
              <a:t>Pitch ≈ 30° ± 3° — filtre complémentaire OK</a:t>
            </a:r>
          </a:p>
        </p:txBody>
      </p:sp>
      <p:sp>
        <p:nvSpPr>
          <p:cNvPr id="131" name="Rectangle 130"/>
          <p:cNvSpPr/>
          <p:nvPr/>
        </p:nvSpPr>
        <p:spPr>
          <a:xfrm>
            <a:off x="182880" y="7360920"/>
            <a:ext cx="11795760" cy="347472"/>
          </a:xfrm>
          <a:prstGeom prst="rect">
            <a:avLst/>
          </a:prstGeom>
          <a:solidFill>
            <a:srgbClr val="AA55FF"/>
          </a:solidFill>
          <a:ln w="1270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274320" y="7397496"/>
            <a:ext cx="11612880" cy="347472"/>
          </a:xfrm>
          <a:prstGeom prst="rect">
            <a:avLst/>
          </a:prstGeom>
          <a:noFill/>
        </p:spPr>
        <p:txBody>
          <a:bodyPr wrap="square">
            <a:spAutoFit/>
          </a:bodyPr>
          <a:lstStyle/>
          <a:p>
            <a:pPr algn="l"/>
            <a:r>
              <a:rPr sz="1300" b="1" i="0">
                <a:solidFill>
                  <a:srgbClr val="1A1A2E"/>
                </a:solidFill>
              </a:rPr>
              <a:t>LIAISON VCP — USART1 (PB6 TX / PB7 RX · 115200 baud · ST-Link USB)</a:t>
            </a:r>
          </a:p>
        </p:txBody>
      </p:sp>
      <p:sp>
        <p:nvSpPr>
          <p:cNvPr id="133" name="Rectangle 132"/>
          <p:cNvSpPr/>
          <p:nvPr/>
        </p:nvSpPr>
        <p:spPr>
          <a:xfrm>
            <a:off x="182880" y="7708392"/>
            <a:ext cx="256032" cy="246888"/>
          </a:xfrm>
          <a:prstGeom prst="rect">
            <a:avLst/>
          </a:prstGeom>
          <a:solidFill>
            <a:srgbClr val="052050"/>
          </a:solidFill>
          <a:ln w="381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219456" y="7744968"/>
            <a:ext cx="182880" cy="246888"/>
          </a:xfrm>
          <a:prstGeom prst="rect">
            <a:avLst/>
          </a:prstGeom>
          <a:noFill/>
        </p:spPr>
        <p:txBody>
          <a:bodyPr wrap="square">
            <a:spAutoFit/>
          </a:bodyPr>
          <a:lstStyle/>
          <a:p>
            <a:pPr algn="ctr"/>
            <a:endParaRPr/>
          </a:p>
        </p:txBody>
      </p:sp>
      <p:sp>
        <p:nvSpPr>
          <p:cNvPr id="135" name="Rectangle 134"/>
          <p:cNvSpPr/>
          <p:nvPr/>
        </p:nvSpPr>
        <p:spPr>
          <a:xfrm>
            <a:off x="438912" y="7708392"/>
            <a:ext cx="2286000" cy="246888"/>
          </a:xfrm>
          <a:prstGeom prst="rect">
            <a:avLst/>
          </a:prstGeom>
          <a:solidFill>
            <a:srgbClr val="052050"/>
          </a:solidFill>
          <a:ln w="381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475488" y="7744968"/>
            <a:ext cx="2212848" cy="246888"/>
          </a:xfrm>
          <a:prstGeom prst="rect">
            <a:avLst/>
          </a:prstGeom>
          <a:noFill/>
        </p:spPr>
        <p:txBody>
          <a:bodyPr wrap="square">
            <a:spAutoFit/>
          </a:bodyPr>
          <a:lstStyle/>
          <a:p>
            <a:pPr algn="ctr"/>
            <a:r>
              <a:rPr sz="900" b="1" i="0">
                <a:solidFill>
                  <a:srgbClr val="AA55FF"/>
                </a:solidFill>
              </a:rPr>
              <a:t>Test</a:t>
            </a:r>
          </a:p>
        </p:txBody>
      </p:sp>
      <p:sp>
        <p:nvSpPr>
          <p:cNvPr id="137" name="Rectangle 136"/>
          <p:cNvSpPr/>
          <p:nvPr/>
        </p:nvSpPr>
        <p:spPr>
          <a:xfrm>
            <a:off x="2724912" y="7708392"/>
            <a:ext cx="3840480" cy="246888"/>
          </a:xfrm>
          <a:prstGeom prst="rect">
            <a:avLst/>
          </a:prstGeom>
          <a:solidFill>
            <a:srgbClr val="052050"/>
          </a:solidFill>
          <a:ln w="381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2761488" y="7744968"/>
            <a:ext cx="3767328" cy="246888"/>
          </a:xfrm>
          <a:prstGeom prst="rect">
            <a:avLst/>
          </a:prstGeom>
          <a:noFill/>
        </p:spPr>
        <p:txBody>
          <a:bodyPr wrap="square">
            <a:spAutoFit/>
          </a:bodyPr>
          <a:lstStyle/>
          <a:p>
            <a:pPr algn="ctr"/>
            <a:r>
              <a:rPr sz="900" b="1" i="0">
                <a:solidFill>
                  <a:srgbClr val="AA55FF"/>
                </a:solidFill>
              </a:rPr>
              <a:t>Procédure</a:t>
            </a:r>
          </a:p>
        </p:txBody>
      </p:sp>
      <p:sp>
        <p:nvSpPr>
          <p:cNvPr id="139" name="Rectangle 138"/>
          <p:cNvSpPr/>
          <p:nvPr/>
        </p:nvSpPr>
        <p:spPr>
          <a:xfrm>
            <a:off x="6565392" y="7708392"/>
            <a:ext cx="3200400" cy="246888"/>
          </a:xfrm>
          <a:prstGeom prst="rect">
            <a:avLst/>
          </a:prstGeom>
          <a:solidFill>
            <a:srgbClr val="052050"/>
          </a:solidFill>
          <a:ln w="381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6601968" y="7744968"/>
            <a:ext cx="3127248" cy="246888"/>
          </a:xfrm>
          <a:prstGeom prst="rect">
            <a:avLst/>
          </a:prstGeom>
          <a:noFill/>
        </p:spPr>
        <p:txBody>
          <a:bodyPr wrap="square">
            <a:spAutoFit/>
          </a:bodyPr>
          <a:lstStyle/>
          <a:p>
            <a:pPr algn="ctr"/>
            <a:r>
              <a:rPr sz="900" b="1" i="0">
                <a:solidFill>
                  <a:srgbClr val="AA55FF"/>
                </a:solidFill>
              </a:rPr>
              <a:t>Résultat attendu</a:t>
            </a:r>
          </a:p>
        </p:txBody>
      </p:sp>
      <p:sp>
        <p:nvSpPr>
          <p:cNvPr id="141" name="Rectangle 140"/>
          <p:cNvSpPr/>
          <p:nvPr/>
        </p:nvSpPr>
        <p:spPr>
          <a:xfrm>
            <a:off x="182880" y="7955280"/>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210312" y="7982712"/>
            <a:ext cx="201168" cy="329184"/>
          </a:xfrm>
          <a:prstGeom prst="rect">
            <a:avLst/>
          </a:prstGeom>
          <a:noFill/>
        </p:spPr>
        <p:txBody>
          <a:bodyPr wrap="square">
            <a:spAutoFit/>
          </a:bodyPr>
          <a:lstStyle/>
          <a:p>
            <a:pPr algn="ctr"/>
            <a:r>
              <a:rPr sz="900" b="0" i="0">
                <a:solidFill>
                  <a:srgbClr val="FFD700"/>
                </a:solidFill>
              </a:rPr>
              <a:t>☐</a:t>
            </a:r>
          </a:p>
        </p:txBody>
      </p:sp>
      <p:sp>
        <p:nvSpPr>
          <p:cNvPr id="143" name="Rectangle 142"/>
          <p:cNvSpPr/>
          <p:nvPr/>
        </p:nvSpPr>
        <p:spPr>
          <a:xfrm>
            <a:off x="438912" y="7955280"/>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466344" y="7982712"/>
            <a:ext cx="2231136" cy="329184"/>
          </a:xfrm>
          <a:prstGeom prst="rect">
            <a:avLst/>
          </a:prstGeom>
          <a:noFill/>
        </p:spPr>
        <p:txBody>
          <a:bodyPr wrap="square">
            <a:spAutoFit/>
          </a:bodyPr>
          <a:lstStyle/>
          <a:p>
            <a:pPr algn="l"/>
            <a:r>
              <a:rPr sz="900" b="0" i="0">
                <a:solidFill>
                  <a:srgbClr val="FFFFFF"/>
                </a:solidFill>
              </a:rPr>
              <a:t>Connexion COM</a:t>
            </a:r>
          </a:p>
        </p:txBody>
      </p:sp>
      <p:sp>
        <p:nvSpPr>
          <p:cNvPr id="145" name="Rectangle 144"/>
          <p:cNvSpPr/>
          <p:nvPr/>
        </p:nvSpPr>
        <p:spPr>
          <a:xfrm>
            <a:off x="2724912" y="7955280"/>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2752344" y="7982712"/>
            <a:ext cx="3785616" cy="329184"/>
          </a:xfrm>
          <a:prstGeom prst="rect">
            <a:avLst/>
          </a:prstGeom>
          <a:noFill/>
        </p:spPr>
        <p:txBody>
          <a:bodyPr wrap="square">
            <a:spAutoFit/>
          </a:bodyPr>
          <a:lstStyle/>
          <a:p>
            <a:pPr algn="l"/>
            <a:r>
              <a:rPr sz="900" b="0" i="0">
                <a:solidFill>
                  <a:srgbClr val="FFFFFF"/>
                </a:solidFill>
              </a:rPr>
              <a:t>python -m serial.tools.miniterm COM4 115200</a:t>
            </a:r>
          </a:p>
        </p:txBody>
      </p:sp>
      <p:sp>
        <p:nvSpPr>
          <p:cNvPr id="147" name="Rectangle 146"/>
          <p:cNvSpPr/>
          <p:nvPr/>
        </p:nvSpPr>
        <p:spPr>
          <a:xfrm>
            <a:off x="6565392" y="7955280"/>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6592824" y="7982712"/>
            <a:ext cx="3145536" cy="329184"/>
          </a:xfrm>
          <a:prstGeom prst="rect">
            <a:avLst/>
          </a:prstGeom>
          <a:noFill/>
        </p:spPr>
        <p:txBody>
          <a:bodyPr wrap="square">
            <a:spAutoFit/>
          </a:bodyPr>
          <a:lstStyle/>
          <a:p>
            <a:pPr algn="l"/>
            <a:r>
              <a:rPr sz="900" b="0" i="0">
                <a:solidFill>
                  <a:srgbClr val="FFFFFF"/>
                </a:solidFill>
              </a:rPr>
              <a:t>Port s'ouvre sans erreur</a:t>
            </a:r>
          </a:p>
        </p:txBody>
      </p:sp>
      <p:sp>
        <p:nvSpPr>
          <p:cNvPr id="149" name="Rectangle 148"/>
          <p:cNvSpPr/>
          <p:nvPr/>
        </p:nvSpPr>
        <p:spPr>
          <a:xfrm>
            <a:off x="182880" y="8284464"/>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210312" y="8311896"/>
            <a:ext cx="201168" cy="329184"/>
          </a:xfrm>
          <a:prstGeom prst="rect">
            <a:avLst/>
          </a:prstGeom>
          <a:noFill/>
        </p:spPr>
        <p:txBody>
          <a:bodyPr wrap="square">
            <a:spAutoFit/>
          </a:bodyPr>
          <a:lstStyle/>
          <a:p>
            <a:pPr algn="ctr"/>
            <a:r>
              <a:rPr sz="900" b="0" i="0">
                <a:solidFill>
                  <a:srgbClr val="FFD700"/>
                </a:solidFill>
              </a:rPr>
              <a:t>☐</a:t>
            </a:r>
          </a:p>
        </p:txBody>
      </p:sp>
      <p:sp>
        <p:nvSpPr>
          <p:cNvPr id="151" name="Rectangle 150"/>
          <p:cNvSpPr/>
          <p:nvPr/>
        </p:nvSpPr>
        <p:spPr>
          <a:xfrm>
            <a:off x="438912" y="8284464"/>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466344" y="8311896"/>
            <a:ext cx="2231136" cy="329184"/>
          </a:xfrm>
          <a:prstGeom prst="rect">
            <a:avLst/>
          </a:prstGeom>
          <a:noFill/>
        </p:spPr>
        <p:txBody>
          <a:bodyPr wrap="square">
            <a:spAutoFit/>
          </a:bodyPr>
          <a:lstStyle/>
          <a:p>
            <a:pPr algn="l"/>
            <a:r>
              <a:rPr sz="900" b="0" i="0">
                <a:solidFill>
                  <a:srgbClr val="FFFFFF"/>
                </a:solidFill>
              </a:rPr>
              <a:t>Réception texte</a:t>
            </a:r>
          </a:p>
        </p:txBody>
      </p:sp>
      <p:sp>
        <p:nvSpPr>
          <p:cNvPr id="153" name="Rectangle 152"/>
          <p:cNvSpPr/>
          <p:nvPr/>
        </p:nvSpPr>
        <p:spPr>
          <a:xfrm>
            <a:off x="2724912" y="8284464"/>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2752344" y="8311896"/>
            <a:ext cx="3785616" cy="329184"/>
          </a:xfrm>
          <a:prstGeom prst="rect">
            <a:avLst/>
          </a:prstGeom>
          <a:noFill/>
        </p:spPr>
        <p:txBody>
          <a:bodyPr wrap="square">
            <a:spAutoFit/>
          </a:bodyPr>
          <a:lstStyle/>
          <a:p>
            <a:pPr algn="l"/>
            <a:r>
              <a:rPr sz="900" b="0" i="0">
                <a:solidFill>
                  <a:srgbClr val="FFFFFF"/>
                </a:solidFill>
              </a:rPr>
              <a:t>Le firmware émet un banner au démarrage</a:t>
            </a:r>
          </a:p>
        </p:txBody>
      </p:sp>
      <p:sp>
        <p:nvSpPr>
          <p:cNvPr id="155" name="Rectangle 154"/>
          <p:cNvSpPr/>
          <p:nvPr/>
        </p:nvSpPr>
        <p:spPr>
          <a:xfrm>
            <a:off x="6565392" y="8284464"/>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6592824" y="8311896"/>
            <a:ext cx="3145536" cy="329184"/>
          </a:xfrm>
          <a:prstGeom prst="rect">
            <a:avLst/>
          </a:prstGeom>
          <a:noFill/>
        </p:spPr>
        <p:txBody>
          <a:bodyPr wrap="square">
            <a:spAutoFit/>
          </a:bodyPr>
          <a:lstStyle/>
          <a:p>
            <a:pPr algn="l"/>
            <a:r>
              <a:rPr sz="900" b="0" i="0">
                <a:solidFill>
                  <a:srgbClr val="FFFFFF"/>
                </a:solidFill>
              </a:rPr>
              <a:t>Texte lisible dans miniterm (pas de caractères parasites)</a:t>
            </a:r>
          </a:p>
        </p:txBody>
      </p:sp>
      <p:sp>
        <p:nvSpPr>
          <p:cNvPr id="157" name="Rectangle 156"/>
          <p:cNvSpPr/>
          <p:nvPr/>
        </p:nvSpPr>
        <p:spPr>
          <a:xfrm>
            <a:off x="182880" y="8613648"/>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210312" y="8641080"/>
            <a:ext cx="201168" cy="329184"/>
          </a:xfrm>
          <a:prstGeom prst="rect">
            <a:avLst/>
          </a:prstGeom>
          <a:noFill/>
        </p:spPr>
        <p:txBody>
          <a:bodyPr wrap="square">
            <a:spAutoFit/>
          </a:bodyPr>
          <a:lstStyle/>
          <a:p>
            <a:pPr algn="ctr"/>
            <a:r>
              <a:rPr sz="900" b="0" i="0">
                <a:solidFill>
                  <a:srgbClr val="FFD700"/>
                </a:solidFill>
              </a:rPr>
              <a:t>☐</a:t>
            </a:r>
          </a:p>
        </p:txBody>
      </p:sp>
      <p:sp>
        <p:nvSpPr>
          <p:cNvPr id="159" name="Rectangle 158"/>
          <p:cNvSpPr/>
          <p:nvPr/>
        </p:nvSpPr>
        <p:spPr>
          <a:xfrm>
            <a:off x="438912" y="8613648"/>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466344" y="8641080"/>
            <a:ext cx="2231136" cy="329184"/>
          </a:xfrm>
          <a:prstGeom prst="rect">
            <a:avLst/>
          </a:prstGeom>
          <a:noFill/>
        </p:spPr>
        <p:txBody>
          <a:bodyPr wrap="square">
            <a:spAutoFit/>
          </a:bodyPr>
          <a:lstStyle/>
          <a:p>
            <a:pPr algn="l"/>
            <a:r>
              <a:rPr sz="900" b="0" i="0">
                <a:solidFill>
                  <a:srgbClr val="FFFFFF"/>
                </a:solidFill>
              </a:rPr>
              <a:t>Envoi commande</a:t>
            </a:r>
          </a:p>
        </p:txBody>
      </p:sp>
      <p:sp>
        <p:nvSpPr>
          <p:cNvPr id="161" name="Rectangle 160"/>
          <p:cNvSpPr/>
          <p:nvPr/>
        </p:nvSpPr>
        <p:spPr>
          <a:xfrm>
            <a:off x="2724912" y="8613648"/>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2752344" y="8641080"/>
            <a:ext cx="3785616" cy="329184"/>
          </a:xfrm>
          <a:prstGeom prst="rect">
            <a:avLst/>
          </a:prstGeom>
          <a:noFill/>
        </p:spPr>
        <p:txBody>
          <a:bodyPr wrap="square">
            <a:spAutoFit/>
          </a:bodyPr>
          <a:lstStyle/>
          <a:p>
            <a:pPr algn="l"/>
            <a:r>
              <a:rPr sz="900" b="0" i="0">
                <a:solidFill>
                  <a:srgbClr val="FFFFFF"/>
                </a:solidFill>
              </a:rPr>
              <a:t>Envoyer trame de test (ex: 0xAA 0x55 …)</a:t>
            </a:r>
          </a:p>
        </p:txBody>
      </p:sp>
      <p:sp>
        <p:nvSpPr>
          <p:cNvPr id="163" name="Rectangle 162"/>
          <p:cNvSpPr/>
          <p:nvPr/>
        </p:nvSpPr>
        <p:spPr>
          <a:xfrm>
            <a:off x="6565392" y="8613648"/>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6592824" y="8641080"/>
            <a:ext cx="3145536" cy="329184"/>
          </a:xfrm>
          <a:prstGeom prst="rect">
            <a:avLst/>
          </a:prstGeom>
          <a:noFill/>
        </p:spPr>
        <p:txBody>
          <a:bodyPr wrap="square">
            <a:spAutoFit/>
          </a:bodyPr>
          <a:lstStyle/>
          <a:p>
            <a:pPr algn="l"/>
            <a:r>
              <a:rPr sz="900" b="0" i="0">
                <a:solidFill>
                  <a:srgbClr val="FFFFFF"/>
                </a:solidFill>
              </a:rPr>
              <a:t>Firmware accuse réception ou echo visible</a:t>
            </a:r>
          </a:p>
        </p:txBody>
      </p:sp>
      <p:sp>
        <p:nvSpPr>
          <p:cNvPr id="165" name="Rectangle 164"/>
          <p:cNvSpPr/>
          <p:nvPr/>
        </p:nvSpPr>
        <p:spPr>
          <a:xfrm>
            <a:off x="182880" y="8942832"/>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210312" y="8970264"/>
            <a:ext cx="201168" cy="329184"/>
          </a:xfrm>
          <a:prstGeom prst="rect">
            <a:avLst/>
          </a:prstGeom>
          <a:noFill/>
        </p:spPr>
        <p:txBody>
          <a:bodyPr wrap="square">
            <a:spAutoFit/>
          </a:bodyPr>
          <a:lstStyle/>
          <a:p>
            <a:pPr algn="ctr"/>
            <a:r>
              <a:rPr sz="900" b="0" i="0">
                <a:solidFill>
                  <a:srgbClr val="FFD700"/>
                </a:solidFill>
              </a:rPr>
              <a:t>☐</a:t>
            </a:r>
          </a:p>
        </p:txBody>
      </p:sp>
      <p:sp>
        <p:nvSpPr>
          <p:cNvPr id="167" name="Rectangle 166"/>
          <p:cNvSpPr/>
          <p:nvPr/>
        </p:nvSpPr>
        <p:spPr>
          <a:xfrm>
            <a:off x="438912" y="8942832"/>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466344" y="8970264"/>
            <a:ext cx="2231136" cy="329184"/>
          </a:xfrm>
          <a:prstGeom prst="rect">
            <a:avLst/>
          </a:prstGeom>
          <a:noFill/>
        </p:spPr>
        <p:txBody>
          <a:bodyPr wrap="square">
            <a:spAutoFit/>
          </a:bodyPr>
          <a:lstStyle/>
          <a:p>
            <a:pPr algn="l"/>
            <a:r>
              <a:rPr sz="900" b="0" i="0">
                <a:solidFill>
                  <a:srgbClr val="FFFFFF"/>
                </a:solidFill>
              </a:rPr>
              <a:t>Protocole framing</a:t>
            </a:r>
          </a:p>
        </p:txBody>
      </p:sp>
      <p:sp>
        <p:nvSpPr>
          <p:cNvPr id="169" name="Rectangle 168"/>
          <p:cNvSpPr/>
          <p:nvPr/>
        </p:nvSpPr>
        <p:spPr>
          <a:xfrm>
            <a:off x="2724912" y="8942832"/>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2752344" y="8970264"/>
            <a:ext cx="3785616" cy="329184"/>
          </a:xfrm>
          <a:prstGeom prst="rect">
            <a:avLst/>
          </a:prstGeom>
          <a:noFill/>
        </p:spPr>
        <p:txBody>
          <a:bodyPr wrap="square">
            <a:spAutoFit/>
          </a:bodyPr>
          <a:lstStyle/>
          <a:p>
            <a:pPr algn="l"/>
            <a:r>
              <a:rPr sz="900" b="0" i="0">
                <a:solidFill>
                  <a:srgbClr val="FFFFFF"/>
                </a:solidFill>
              </a:rPr>
              <a:t>Vérifier SOF1=0xAA, SOF2=0x55, EOF=0x33, CRC16</a:t>
            </a:r>
          </a:p>
        </p:txBody>
      </p:sp>
      <p:sp>
        <p:nvSpPr>
          <p:cNvPr id="171" name="Rectangle 170"/>
          <p:cNvSpPr/>
          <p:nvPr/>
        </p:nvSpPr>
        <p:spPr>
          <a:xfrm>
            <a:off x="6565392" y="8942832"/>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6592824" y="8970264"/>
            <a:ext cx="3145536" cy="329184"/>
          </a:xfrm>
          <a:prstGeom prst="rect">
            <a:avLst/>
          </a:prstGeom>
          <a:noFill/>
        </p:spPr>
        <p:txBody>
          <a:bodyPr wrap="square">
            <a:spAutoFit/>
          </a:bodyPr>
          <a:lstStyle/>
          <a:p>
            <a:pPr algn="l"/>
            <a:r>
              <a:rPr sz="900" b="0" i="0">
                <a:solidFill>
                  <a:srgbClr val="FFFFFF"/>
                </a:solidFill>
              </a:rPr>
              <a:t>Pas de CRC error dans les logs firmware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0F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10972800" cy="640080"/>
          </a:xfrm>
          <a:prstGeom prst="rect">
            <a:avLst/>
          </a:prstGeom>
          <a:noFill/>
        </p:spPr>
        <p:txBody>
          <a:bodyPr wrap="square">
            <a:spAutoFit/>
          </a:bodyPr>
          <a:lstStyle/>
          <a:p>
            <a:pPr algn="l"/>
            <a:r>
              <a:rPr sz="3200" b="1" i="0">
                <a:solidFill>
                  <a:srgbClr val="FFD700"/>
                </a:solidFill>
              </a:rPr>
              <a:t>Vérification Fonctionnelle  (2/2)</a:t>
            </a:r>
          </a:p>
        </p:txBody>
      </p:sp>
      <p:sp>
        <p:nvSpPr>
          <p:cNvPr id="4" name="TextBox 3"/>
          <p:cNvSpPr txBox="1"/>
          <p:nvPr/>
        </p:nvSpPr>
        <p:spPr>
          <a:xfrm>
            <a:off x="274320" y="658368"/>
            <a:ext cx="10972800" cy="411480"/>
          </a:xfrm>
          <a:prstGeom prst="rect">
            <a:avLst/>
          </a:prstGeom>
          <a:noFill/>
        </p:spPr>
        <p:txBody>
          <a:bodyPr wrap="square">
            <a:spAutoFit/>
          </a:bodyPr>
          <a:lstStyle/>
          <a:p>
            <a:pPr algn="l"/>
            <a:r>
              <a:rPr sz="1600" b="0" i="1">
                <a:solidFill>
                  <a:srgbClr val="FFFFFF"/>
                </a:solidFill>
              </a:rPr>
              <a:t>Moteurs · Courant · BLE · Sécurité — Moteurs SURÉLEVÉS lors des tests PWM</a:t>
            </a:r>
          </a:p>
        </p:txBody>
      </p:sp>
      <p:sp>
        <p:nvSpPr>
          <p:cNvPr id="5" name="Rectangle 4"/>
          <p:cNvSpPr/>
          <p:nvPr/>
        </p:nvSpPr>
        <p:spPr>
          <a:xfrm>
            <a:off x="182880" y="1298448"/>
            <a:ext cx="11795760" cy="347472"/>
          </a:xfrm>
          <a:prstGeom prst="rect">
            <a:avLst/>
          </a:prstGeom>
          <a:solidFill>
            <a:srgbClr val="FF8800"/>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335024"/>
            <a:ext cx="11612880" cy="347472"/>
          </a:xfrm>
          <a:prstGeom prst="rect">
            <a:avLst/>
          </a:prstGeom>
          <a:noFill/>
        </p:spPr>
        <p:txBody>
          <a:bodyPr wrap="square">
            <a:spAutoFit/>
          </a:bodyPr>
          <a:lstStyle/>
          <a:p>
            <a:pPr algn="l"/>
            <a:r>
              <a:rPr sz="1300" b="1" i="0">
                <a:solidFill>
                  <a:srgbClr val="1A1A2E"/>
                </a:solidFill>
              </a:rPr>
              <a:t>MOTEUR GAUCHE — LPTIM1_OUT PC1 · DIR PD12 · BRAKE PD13  ⚠  Roues en l'air</a:t>
            </a:r>
          </a:p>
        </p:txBody>
      </p:sp>
      <p:sp>
        <p:nvSpPr>
          <p:cNvPr id="7" name="Rectangle 6"/>
          <p:cNvSpPr/>
          <p:nvPr/>
        </p:nvSpPr>
        <p:spPr>
          <a:xfrm>
            <a:off x="182880" y="1645920"/>
            <a:ext cx="256032" cy="246888"/>
          </a:xfrm>
          <a:prstGeom prst="rect">
            <a:avLst/>
          </a:prstGeom>
          <a:solidFill>
            <a:srgbClr val="052050"/>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9456" y="1682496"/>
            <a:ext cx="182880" cy="246888"/>
          </a:xfrm>
          <a:prstGeom prst="rect">
            <a:avLst/>
          </a:prstGeom>
          <a:noFill/>
        </p:spPr>
        <p:txBody>
          <a:bodyPr wrap="square">
            <a:spAutoFit/>
          </a:bodyPr>
          <a:lstStyle/>
          <a:p>
            <a:pPr algn="ctr"/>
            <a:endParaRPr/>
          </a:p>
        </p:txBody>
      </p:sp>
      <p:sp>
        <p:nvSpPr>
          <p:cNvPr id="9" name="Rectangle 8"/>
          <p:cNvSpPr/>
          <p:nvPr/>
        </p:nvSpPr>
        <p:spPr>
          <a:xfrm>
            <a:off x="438912" y="1645920"/>
            <a:ext cx="2286000" cy="246888"/>
          </a:xfrm>
          <a:prstGeom prst="rect">
            <a:avLst/>
          </a:prstGeom>
          <a:solidFill>
            <a:srgbClr val="052050"/>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1682496"/>
            <a:ext cx="2212848" cy="246888"/>
          </a:xfrm>
          <a:prstGeom prst="rect">
            <a:avLst/>
          </a:prstGeom>
          <a:noFill/>
        </p:spPr>
        <p:txBody>
          <a:bodyPr wrap="square">
            <a:spAutoFit/>
          </a:bodyPr>
          <a:lstStyle/>
          <a:p>
            <a:pPr algn="ctr"/>
            <a:r>
              <a:rPr sz="900" b="1" i="0">
                <a:solidFill>
                  <a:srgbClr val="FF8800"/>
                </a:solidFill>
              </a:rPr>
              <a:t>Test</a:t>
            </a:r>
          </a:p>
        </p:txBody>
      </p:sp>
      <p:sp>
        <p:nvSpPr>
          <p:cNvPr id="11" name="Rectangle 10"/>
          <p:cNvSpPr/>
          <p:nvPr/>
        </p:nvSpPr>
        <p:spPr>
          <a:xfrm>
            <a:off x="2724912" y="1645920"/>
            <a:ext cx="3840480" cy="246888"/>
          </a:xfrm>
          <a:prstGeom prst="rect">
            <a:avLst/>
          </a:prstGeom>
          <a:solidFill>
            <a:srgbClr val="052050"/>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61488" y="1682496"/>
            <a:ext cx="3767328" cy="246888"/>
          </a:xfrm>
          <a:prstGeom prst="rect">
            <a:avLst/>
          </a:prstGeom>
          <a:noFill/>
        </p:spPr>
        <p:txBody>
          <a:bodyPr wrap="square">
            <a:spAutoFit/>
          </a:bodyPr>
          <a:lstStyle/>
          <a:p>
            <a:pPr algn="ctr"/>
            <a:r>
              <a:rPr sz="900" b="1" i="0">
                <a:solidFill>
                  <a:srgbClr val="FF8800"/>
                </a:solidFill>
              </a:rPr>
              <a:t>Procédure</a:t>
            </a:r>
          </a:p>
        </p:txBody>
      </p:sp>
      <p:sp>
        <p:nvSpPr>
          <p:cNvPr id="13" name="Rectangle 12"/>
          <p:cNvSpPr/>
          <p:nvPr/>
        </p:nvSpPr>
        <p:spPr>
          <a:xfrm>
            <a:off x="6565392" y="1645920"/>
            <a:ext cx="3200400" cy="246888"/>
          </a:xfrm>
          <a:prstGeom prst="rect">
            <a:avLst/>
          </a:prstGeom>
          <a:solidFill>
            <a:srgbClr val="052050"/>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1682496"/>
            <a:ext cx="3127248" cy="246888"/>
          </a:xfrm>
          <a:prstGeom prst="rect">
            <a:avLst/>
          </a:prstGeom>
          <a:noFill/>
        </p:spPr>
        <p:txBody>
          <a:bodyPr wrap="square">
            <a:spAutoFit/>
          </a:bodyPr>
          <a:lstStyle/>
          <a:p>
            <a:pPr algn="ctr"/>
            <a:r>
              <a:rPr sz="900" b="1" i="0">
                <a:solidFill>
                  <a:srgbClr val="FF8800"/>
                </a:solidFill>
              </a:rPr>
              <a:t>Résultat attendu</a:t>
            </a:r>
          </a:p>
        </p:txBody>
      </p:sp>
      <p:sp>
        <p:nvSpPr>
          <p:cNvPr id="15" name="Rectangle 14"/>
          <p:cNvSpPr/>
          <p:nvPr/>
        </p:nvSpPr>
        <p:spPr>
          <a:xfrm>
            <a:off x="182880" y="1892808"/>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0312" y="1920240"/>
            <a:ext cx="201168" cy="329184"/>
          </a:xfrm>
          <a:prstGeom prst="rect">
            <a:avLst/>
          </a:prstGeom>
          <a:noFill/>
        </p:spPr>
        <p:txBody>
          <a:bodyPr wrap="square">
            <a:spAutoFit/>
          </a:bodyPr>
          <a:lstStyle/>
          <a:p>
            <a:pPr algn="ctr"/>
            <a:r>
              <a:rPr sz="900" b="0" i="0">
                <a:solidFill>
                  <a:srgbClr val="FFD700"/>
                </a:solidFill>
              </a:rPr>
              <a:t>☐</a:t>
            </a:r>
          </a:p>
        </p:txBody>
      </p:sp>
      <p:sp>
        <p:nvSpPr>
          <p:cNvPr id="17" name="Rectangle 16"/>
          <p:cNvSpPr/>
          <p:nvPr/>
        </p:nvSpPr>
        <p:spPr>
          <a:xfrm>
            <a:off x="438912" y="1892808"/>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6344" y="1920240"/>
            <a:ext cx="2231136" cy="329184"/>
          </a:xfrm>
          <a:prstGeom prst="rect">
            <a:avLst/>
          </a:prstGeom>
          <a:noFill/>
        </p:spPr>
        <p:txBody>
          <a:bodyPr wrap="square">
            <a:spAutoFit/>
          </a:bodyPr>
          <a:lstStyle/>
          <a:p>
            <a:pPr algn="l"/>
            <a:r>
              <a:rPr sz="900" b="0" i="0">
                <a:solidFill>
                  <a:srgbClr val="FFFFFF"/>
                </a:solidFill>
              </a:rPr>
              <a:t>PWM 0 %</a:t>
            </a:r>
          </a:p>
        </p:txBody>
      </p:sp>
      <p:sp>
        <p:nvSpPr>
          <p:cNvPr id="19" name="Rectangle 18"/>
          <p:cNvSpPr/>
          <p:nvPr/>
        </p:nvSpPr>
        <p:spPr>
          <a:xfrm>
            <a:off x="2724912" y="1892808"/>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52344" y="1920240"/>
            <a:ext cx="3785616" cy="329184"/>
          </a:xfrm>
          <a:prstGeom prst="rect">
            <a:avLst/>
          </a:prstGeom>
          <a:noFill/>
        </p:spPr>
        <p:txBody>
          <a:bodyPr wrap="square">
            <a:spAutoFit/>
          </a:bodyPr>
          <a:lstStyle/>
          <a:p>
            <a:pPr algn="l"/>
            <a:r>
              <a:rPr sz="900" b="0" i="0">
                <a:solidFill>
                  <a:srgbClr val="FFFFFF"/>
                </a:solidFill>
              </a:rPr>
              <a:t>DIR=0, BRAKE=0, PWM=0 %</a:t>
            </a:r>
          </a:p>
        </p:txBody>
      </p:sp>
      <p:sp>
        <p:nvSpPr>
          <p:cNvPr id="21" name="Rectangle 20"/>
          <p:cNvSpPr/>
          <p:nvPr/>
        </p:nvSpPr>
        <p:spPr>
          <a:xfrm>
            <a:off x="6565392" y="1892808"/>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92824" y="1920240"/>
            <a:ext cx="3145536" cy="329184"/>
          </a:xfrm>
          <a:prstGeom prst="rect">
            <a:avLst/>
          </a:prstGeom>
          <a:noFill/>
        </p:spPr>
        <p:txBody>
          <a:bodyPr wrap="square">
            <a:spAutoFit/>
          </a:bodyPr>
          <a:lstStyle/>
          <a:p>
            <a:pPr algn="l"/>
            <a:r>
              <a:rPr sz="900" b="0" i="0">
                <a:solidFill>
                  <a:srgbClr val="FFFFFF"/>
                </a:solidFill>
              </a:rPr>
              <a:t>Moteur gauche à l'arrêt, silencieux</a:t>
            </a:r>
          </a:p>
        </p:txBody>
      </p:sp>
      <p:sp>
        <p:nvSpPr>
          <p:cNvPr id="23" name="Rectangle 22"/>
          <p:cNvSpPr/>
          <p:nvPr/>
        </p:nvSpPr>
        <p:spPr>
          <a:xfrm>
            <a:off x="182880" y="2221992"/>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0312" y="2249424"/>
            <a:ext cx="201168" cy="329184"/>
          </a:xfrm>
          <a:prstGeom prst="rect">
            <a:avLst/>
          </a:prstGeom>
          <a:noFill/>
        </p:spPr>
        <p:txBody>
          <a:bodyPr wrap="square">
            <a:spAutoFit/>
          </a:bodyPr>
          <a:lstStyle/>
          <a:p>
            <a:pPr algn="ctr"/>
            <a:r>
              <a:rPr sz="900" b="0" i="0">
                <a:solidFill>
                  <a:srgbClr val="FFD700"/>
                </a:solidFill>
              </a:rPr>
              <a:t>☐</a:t>
            </a:r>
          </a:p>
        </p:txBody>
      </p:sp>
      <p:sp>
        <p:nvSpPr>
          <p:cNvPr id="25" name="Rectangle 24"/>
          <p:cNvSpPr/>
          <p:nvPr/>
        </p:nvSpPr>
        <p:spPr>
          <a:xfrm>
            <a:off x="438912" y="2221992"/>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6344" y="2249424"/>
            <a:ext cx="2231136" cy="329184"/>
          </a:xfrm>
          <a:prstGeom prst="rect">
            <a:avLst/>
          </a:prstGeom>
          <a:noFill/>
        </p:spPr>
        <p:txBody>
          <a:bodyPr wrap="square">
            <a:spAutoFit/>
          </a:bodyPr>
          <a:lstStyle/>
          <a:p>
            <a:pPr algn="l"/>
            <a:r>
              <a:rPr sz="900" b="0" i="0">
                <a:solidFill>
                  <a:srgbClr val="FFFFFF"/>
                </a:solidFill>
              </a:rPr>
              <a:t>Sens A lent</a:t>
            </a:r>
          </a:p>
        </p:txBody>
      </p:sp>
      <p:sp>
        <p:nvSpPr>
          <p:cNvPr id="27" name="Rectangle 26"/>
          <p:cNvSpPr/>
          <p:nvPr/>
        </p:nvSpPr>
        <p:spPr>
          <a:xfrm>
            <a:off x="2724912" y="2221992"/>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52344" y="2249424"/>
            <a:ext cx="3785616" cy="329184"/>
          </a:xfrm>
          <a:prstGeom prst="rect">
            <a:avLst/>
          </a:prstGeom>
          <a:noFill/>
        </p:spPr>
        <p:txBody>
          <a:bodyPr wrap="square">
            <a:spAutoFit/>
          </a:bodyPr>
          <a:lstStyle/>
          <a:p>
            <a:pPr algn="l"/>
            <a:r>
              <a:rPr sz="900" b="0" i="0">
                <a:solidFill>
                  <a:srgbClr val="FFFFFF"/>
                </a:solidFill>
              </a:rPr>
              <a:t>DIR=0, BRAKE=0, PWM=10 %</a:t>
            </a:r>
          </a:p>
        </p:txBody>
      </p:sp>
      <p:sp>
        <p:nvSpPr>
          <p:cNvPr id="29" name="Rectangle 28"/>
          <p:cNvSpPr/>
          <p:nvPr/>
        </p:nvSpPr>
        <p:spPr>
          <a:xfrm>
            <a:off x="6565392" y="2221992"/>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92824" y="2249424"/>
            <a:ext cx="3145536" cy="329184"/>
          </a:xfrm>
          <a:prstGeom prst="rect">
            <a:avLst/>
          </a:prstGeom>
          <a:noFill/>
        </p:spPr>
        <p:txBody>
          <a:bodyPr wrap="square">
            <a:spAutoFit/>
          </a:bodyPr>
          <a:lstStyle/>
          <a:p>
            <a:pPr algn="l"/>
            <a:r>
              <a:rPr sz="900" b="0" i="0">
                <a:solidFill>
                  <a:srgbClr val="FFFFFF"/>
                </a:solidFill>
              </a:rPr>
              <a:t>Roue gauche tourne dans sens A à faible vitesse</a:t>
            </a:r>
          </a:p>
        </p:txBody>
      </p:sp>
      <p:sp>
        <p:nvSpPr>
          <p:cNvPr id="31" name="Rectangle 30"/>
          <p:cNvSpPr/>
          <p:nvPr/>
        </p:nvSpPr>
        <p:spPr>
          <a:xfrm>
            <a:off x="182880" y="2551176"/>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0312" y="2578608"/>
            <a:ext cx="201168" cy="329184"/>
          </a:xfrm>
          <a:prstGeom prst="rect">
            <a:avLst/>
          </a:prstGeom>
          <a:noFill/>
        </p:spPr>
        <p:txBody>
          <a:bodyPr wrap="square">
            <a:spAutoFit/>
          </a:bodyPr>
          <a:lstStyle/>
          <a:p>
            <a:pPr algn="ctr"/>
            <a:r>
              <a:rPr sz="900" b="0" i="0">
                <a:solidFill>
                  <a:srgbClr val="FFD700"/>
                </a:solidFill>
              </a:rPr>
              <a:t>☐</a:t>
            </a:r>
          </a:p>
        </p:txBody>
      </p:sp>
      <p:sp>
        <p:nvSpPr>
          <p:cNvPr id="33" name="Rectangle 32"/>
          <p:cNvSpPr/>
          <p:nvPr/>
        </p:nvSpPr>
        <p:spPr>
          <a:xfrm>
            <a:off x="438912" y="2551176"/>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6344" y="2578608"/>
            <a:ext cx="2231136" cy="329184"/>
          </a:xfrm>
          <a:prstGeom prst="rect">
            <a:avLst/>
          </a:prstGeom>
          <a:noFill/>
        </p:spPr>
        <p:txBody>
          <a:bodyPr wrap="square">
            <a:spAutoFit/>
          </a:bodyPr>
          <a:lstStyle/>
          <a:p>
            <a:pPr algn="l"/>
            <a:r>
              <a:rPr sz="900" b="0" i="0">
                <a:solidFill>
                  <a:srgbClr val="FFFFFF"/>
                </a:solidFill>
              </a:rPr>
              <a:t>Sens B lent</a:t>
            </a:r>
          </a:p>
        </p:txBody>
      </p:sp>
      <p:sp>
        <p:nvSpPr>
          <p:cNvPr id="35" name="Rectangle 34"/>
          <p:cNvSpPr/>
          <p:nvPr/>
        </p:nvSpPr>
        <p:spPr>
          <a:xfrm>
            <a:off x="2724912" y="2551176"/>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52344" y="2578608"/>
            <a:ext cx="3785616" cy="329184"/>
          </a:xfrm>
          <a:prstGeom prst="rect">
            <a:avLst/>
          </a:prstGeom>
          <a:noFill/>
        </p:spPr>
        <p:txBody>
          <a:bodyPr wrap="square">
            <a:spAutoFit/>
          </a:bodyPr>
          <a:lstStyle/>
          <a:p>
            <a:pPr algn="l"/>
            <a:r>
              <a:rPr sz="900" b="0" i="0">
                <a:solidFill>
                  <a:srgbClr val="FFFFFF"/>
                </a:solidFill>
              </a:rPr>
              <a:t>DIR=1, BRAKE=0, PWM=10 %</a:t>
            </a:r>
          </a:p>
        </p:txBody>
      </p:sp>
      <p:sp>
        <p:nvSpPr>
          <p:cNvPr id="37" name="Rectangle 36"/>
          <p:cNvSpPr/>
          <p:nvPr/>
        </p:nvSpPr>
        <p:spPr>
          <a:xfrm>
            <a:off x="6565392" y="2551176"/>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92824" y="2578608"/>
            <a:ext cx="3145536" cy="329184"/>
          </a:xfrm>
          <a:prstGeom prst="rect">
            <a:avLst/>
          </a:prstGeom>
          <a:noFill/>
        </p:spPr>
        <p:txBody>
          <a:bodyPr wrap="square">
            <a:spAutoFit/>
          </a:bodyPr>
          <a:lstStyle/>
          <a:p>
            <a:pPr algn="l"/>
            <a:r>
              <a:rPr sz="900" b="0" i="0">
                <a:solidFill>
                  <a:srgbClr val="FFFFFF"/>
                </a:solidFill>
              </a:rPr>
              <a:t>Roue gauche tourne dans sens B (inverse)</a:t>
            </a:r>
          </a:p>
        </p:txBody>
      </p:sp>
      <p:sp>
        <p:nvSpPr>
          <p:cNvPr id="39" name="Rectangle 38"/>
          <p:cNvSpPr/>
          <p:nvPr/>
        </p:nvSpPr>
        <p:spPr>
          <a:xfrm>
            <a:off x="182880" y="2880360"/>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0312" y="2907792"/>
            <a:ext cx="201168" cy="329184"/>
          </a:xfrm>
          <a:prstGeom prst="rect">
            <a:avLst/>
          </a:prstGeom>
          <a:noFill/>
        </p:spPr>
        <p:txBody>
          <a:bodyPr wrap="square">
            <a:spAutoFit/>
          </a:bodyPr>
          <a:lstStyle/>
          <a:p>
            <a:pPr algn="ctr"/>
            <a:r>
              <a:rPr sz="900" b="0" i="0">
                <a:solidFill>
                  <a:srgbClr val="FFD700"/>
                </a:solidFill>
              </a:rPr>
              <a:t>☐</a:t>
            </a:r>
          </a:p>
        </p:txBody>
      </p:sp>
      <p:sp>
        <p:nvSpPr>
          <p:cNvPr id="41" name="Rectangle 40"/>
          <p:cNvSpPr/>
          <p:nvPr/>
        </p:nvSpPr>
        <p:spPr>
          <a:xfrm>
            <a:off x="438912" y="2880360"/>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 y="2907792"/>
            <a:ext cx="2231136" cy="329184"/>
          </a:xfrm>
          <a:prstGeom prst="rect">
            <a:avLst/>
          </a:prstGeom>
          <a:noFill/>
        </p:spPr>
        <p:txBody>
          <a:bodyPr wrap="square">
            <a:spAutoFit/>
          </a:bodyPr>
          <a:lstStyle/>
          <a:p>
            <a:pPr algn="l"/>
            <a:r>
              <a:rPr sz="900" b="0" i="0">
                <a:solidFill>
                  <a:srgbClr val="FFFFFF"/>
                </a:solidFill>
              </a:rPr>
              <a:t>PWM montée</a:t>
            </a:r>
          </a:p>
        </p:txBody>
      </p:sp>
      <p:sp>
        <p:nvSpPr>
          <p:cNvPr id="43" name="Rectangle 42"/>
          <p:cNvSpPr/>
          <p:nvPr/>
        </p:nvSpPr>
        <p:spPr>
          <a:xfrm>
            <a:off x="2724912" y="2880360"/>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752344" y="2907792"/>
            <a:ext cx="3785616" cy="329184"/>
          </a:xfrm>
          <a:prstGeom prst="rect">
            <a:avLst/>
          </a:prstGeom>
          <a:noFill/>
        </p:spPr>
        <p:txBody>
          <a:bodyPr wrap="square">
            <a:spAutoFit/>
          </a:bodyPr>
          <a:lstStyle/>
          <a:p>
            <a:pPr algn="l"/>
            <a:r>
              <a:rPr sz="900" b="0" i="0">
                <a:solidFill>
                  <a:srgbClr val="FFFFFF"/>
                </a:solidFill>
              </a:rPr>
              <a:t>DIR=0, rampe PWM 10 %→90 %</a:t>
            </a:r>
          </a:p>
        </p:txBody>
      </p:sp>
      <p:sp>
        <p:nvSpPr>
          <p:cNvPr id="45" name="Rectangle 44"/>
          <p:cNvSpPr/>
          <p:nvPr/>
        </p:nvSpPr>
        <p:spPr>
          <a:xfrm>
            <a:off x="6565392" y="2880360"/>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92824" y="2907792"/>
            <a:ext cx="3145536" cy="329184"/>
          </a:xfrm>
          <a:prstGeom prst="rect">
            <a:avLst/>
          </a:prstGeom>
          <a:noFill/>
        </p:spPr>
        <p:txBody>
          <a:bodyPr wrap="square">
            <a:spAutoFit/>
          </a:bodyPr>
          <a:lstStyle/>
          <a:p>
            <a:pPr algn="l"/>
            <a:r>
              <a:rPr sz="900" b="0" i="0">
                <a:solidFill>
                  <a:srgbClr val="FFFFFF"/>
                </a:solidFill>
              </a:rPr>
              <a:t>Vitesse augmente proportionnellement, pas de à-coup</a:t>
            </a:r>
          </a:p>
        </p:txBody>
      </p:sp>
      <p:sp>
        <p:nvSpPr>
          <p:cNvPr id="47" name="Rectangle 46"/>
          <p:cNvSpPr/>
          <p:nvPr/>
        </p:nvSpPr>
        <p:spPr>
          <a:xfrm>
            <a:off x="182880" y="3209544"/>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0312" y="3236976"/>
            <a:ext cx="201168" cy="329184"/>
          </a:xfrm>
          <a:prstGeom prst="rect">
            <a:avLst/>
          </a:prstGeom>
          <a:noFill/>
        </p:spPr>
        <p:txBody>
          <a:bodyPr wrap="square">
            <a:spAutoFit/>
          </a:bodyPr>
          <a:lstStyle/>
          <a:p>
            <a:pPr algn="ctr"/>
            <a:r>
              <a:rPr sz="900" b="0" i="0">
                <a:solidFill>
                  <a:srgbClr val="FFD700"/>
                </a:solidFill>
              </a:rPr>
              <a:t>☐</a:t>
            </a:r>
          </a:p>
        </p:txBody>
      </p:sp>
      <p:sp>
        <p:nvSpPr>
          <p:cNvPr id="49" name="Rectangle 48"/>
          <p:cNvSpPr/>
          <p:nvPr/>
        </p:nvSpPr>
        <p:spPr>
          <a:xfrm>
            <a:off x="438912" y="3209544"/>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66344" y="3236976"/>
            <a:ext cx="2231136" cy="329184"/>
          </a:xfrm>
          <a:prstGeom prst="rect">
            <a:avLst/>
          </a:prstGeom>
          <a:noFill/>
        </p:spPr>
        <p:txBody>
          <a:bodyPr wrap="square">
            <a:spAutoFit/>
          </a:bodyPr>
          <a:lstStyle/>
          <a:p>
            <a:pPr algn="l"/>
            <a:r>
              <a:rPr sz="900" b="0" i="0">
                <a:solidFill>
                  <a:srgbClr val="FFFFFF"/>
                </a:solidFill>
              </a:rPr>
              <a:t>Frein actif</a:t>
            </a:r>
          </a:p>
        </p:txBody>
      </p:sp>
      <p:sp>
        <p:nvSpPr>
          <p:cNvPr id="51" name="Rectangle 50"/>
          <p:cNvSpPr/>
          <p:nvPr/>
        </p:nvSpPr>
        <p:spPr>
          <a:xfrm>
            <a:off x="2724912" y="3209544"/>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52344" y="3236976"/>
            <a:ext cx="3785616" cy="329184"/>
          </a:xfrm>
          <a:prstGeom prst="rect">
            <a:avLst/>
          </a:prstGeom>
          <a:noFill/>
        </p:spPr>
        <p:txBody>
          <a:bodyPr wrap="square">
            <a:spAutoFit/>
          </a:bodyPr>
          <a:lstStyle/>
          <a:p>
            <a:pPr algn="l"/>
            <a:r>
              <a:rPr sz="900" b="0" i="0">
                <a:solidFill>
                  <a:srgbClr val="FFFFFF"/>
                </a:solidFill>
              </a:rPr>
              <a:t>BRAKE=1 pendant rotation</a:t>
            </a:r>
          </a:p>
        </p:txBody>
      </p:sp>
      <p:sp>
        <p:nvSpPr>
          <p:cNvPr id="53" name="Rectangle 52"/>
          <p:cNvSpPr/>
          <p:nvPr/>
        </p:nvSpPr>
        <p:spPr>
          <a:xfrm>
            <a:off x="6565392" y="3209544"/>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592824" y="3236976"/>
            <a:ext cx="3145536" cy="329184"/>
          </a:xfrm>
          <a:prstGeom prst="rect">
            <a:avLst/>
          </a:prstGeom>
          <a:noFill/>
        </p:spPr>
        <p:txBody>
          <a:bodyPr wrap="square">
            <a:spAutoFit/>
          </a:bodyPr>
          <a:lstStyle/>
          <a:p>
            <a:pPr algn="l"/>
            <a:r>
              <a:rPr sz="900" b="0" i="0">
                <a:solidFill>
                  <a:srgbClr val="FFFFFF"/>
                </a:solidFill>
              </a:rPr>
              <a:t>Arrêt brutal immédiat (bobines court-circuitées)</a:t>
            </a:r>
          </a:p>
        </p:txBody>
      </p:sp>
      <p:sp>
        <p:nvSpPr>
          <p:cNvPr id="55" name="Rectangle 54"/>
          <p:cNvSpPr/>
          <p:nvPr/>
        </p:nvSpPr>
        <p:spPr>
          <a:xfrm>
            <a:off x="182880" y="3538728"/>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10312" y="3566160"/>
            <a:ext cx="201168" cy="329184"/>
          </a:xfrm>
          <a:prstGeom prst="rect">
            <a:avLst/>
          </a:prstGeom>
          <a:noFill/>
        </p:spPr>
        <p:txBody>
          <a:bodyPr wrap="square">
            <a:spAutoFit/>
          </a:bodyPr>
          <a:lstStyle/>
          <a:p>
            <a:pPr algn="ctr"/>
            <a:r>
              <a:rPr sz="900" b="0" i="0">
                <a:solidFill>
                  <a:srgbClr val="FFD700"/>
                </a:solidFill>
              </a:rPr>
              <a:t>☐</a:t>
            </a:r>
          </a:p>
        </p:txBody>
      </p:sp>
      <p:sp>
        <p:nvSpPr>
          <p:cNvPr id="57" name="Rectangle 56"/>
          <p:cNvSpPr/>
          <p:nvPr/>
        </p:nvSpPr>
        <p:spPr>
          <a:xfrm>
            <a:off x="438912" y="3538728"/>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66344" y="3566160"/>
            <a:ext cx="2231136" cy="329184"/>
          </a:xfrm>
          <a:prstGeom prst="rect">
            <a:avLst/>
          </a:prstGeom>
          <a:noFill/>
        </p:spPr>
        <p:txBody>
          <a:bodyPr wrap="square">
            <a:spAutoFit/>
          </a:bodyPr>
          <a:lstStyle/>
          <a:p>
            <a:pPr algn="l"/>
            <a:r>
              <a:rPr sz="900" b="0" i="0">
                <a:solidFill>
                  <a:srgbClr val="FFFFFF"/>
                </a:solidFill>
              </a:rPr>
              <a:t>Roue libre</a:t>
            </a:r>
          </a:p>
        </p:txBody>
      </p:sp>
      <p:sp>
        <p:nvSpPr>
          <p:cNvPr id="59" name="Rectangle 58"/>
          <p:cNvSpPr/>
          <p:nvPr/>
        </p:nvSpPr>
        <p:spPr>
          <a:xfrm>
            <a:off x="2724912" y="3538728"/>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52344" y="3566160"/>
            <a:ext cx="3785616" cy="329184"/>
          </a:xfrm>
          <a:prstGeom prst="rect">
            <a:avLst/>
          </a:prstGeom>
          <a:noFill/>
        </p:spPr>
        <p:txBody>
          <a:bodyPr wrap="square">
            <a:spAutoFit/>
          </a:bodyPr>
          <a:lstStyle/>
          <a:p>
            <a:pPr algn="l"/>
            <a:r>
              <a:rPr sz="900" b="0" i="0">
                <a:solidFill>
                  <a:srgbClr val="FFFFFF"/>
                </a:solidFill>
              </a:rPr>
              <a:t>BRAKE=0, PWM=0 % pendant rotation</a:t>
            </a:r>
          </a:p>
        </p:txBody>
      </p:sp>
      <p:sp>
        <p:nvSpPr>
          <p:cNvPr id="61" name="Rectangle 60"/>
          <p:cNvSpPr/>
          <p:nvPr/>
        </p:nvSpPr>
        <p:spPr>
          <a:xfrm>
            <a:off x="6565392" y="3538728"/>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92824" y="3566160"/>
            <a:ext cx="3145536" cy="329184"/>
          </a:xfrm>
          <a:prstGeom prst="rect">
            <a:avLst/>
          </a:prstGeom>
          <a:noFill/>
        </p:spPr>
        <p:txBody>
          <a:bodyPr wrap="square">
            <a:spAutoFit/>
          </a:bodyPr>
          <a:lstStyle/>
          <a:p>
            <a:pPr algn="l"/>
            <a:r>
              <a:rPr sz="900" b="0" i="0">
                <a:solidFill>
                  <a:srgbClr val="FFFFFF"/>
                </a:solidFill>
              </a:rPr>
              <a:t>La roue décélère progressivement (pas d'arrêt dur)</a:t>
            </a:r>
          </a:p>
        </p:txBody>
      </p:sp>
      <p:sp>
        <p:nvSpPr>
          <p:cNvPr id="63" name="Rectangle 62"/>
          <p:cNvSpPr/>
          <p:nvPr/>
        </p:nvSpPr>
        <p:spPr>
          <a:xfrm>
            <a:off x="182880" y="3977640"/>
            <a:ext cx="11795760" cy="347472"/>
          </a:xfrm>
          <a:prstGeom prst="rect">
            <a:avLst/>
          </a:prstGeom>
          <a:solidFill>
            <a:srgbClr val="FF8800"/>
          </a:solidFill>
          <a:ln w="1270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74320" y="4014216"/>
            <a:ext cx="11612880" cy="347472"/>
          </a:xfrm>
          <a:prstGeom prst="rect">
            <a:avLst/>
          </a:prstGeom>
          <a:noFill/>
        </p:spPr>
        <p:txBody>
          <a:bodyPr wrap="square">
            <a:spAutoFit/>
          </a:bodyPr>
          <a:lstStyle/>
          <a:p>
            <a:pPr algn="l"/>
            <a:r>
              <a:rPr sz="1300" b="1" i="0">
                <a:solidFill>
                  <a:srgbClr val="1A1A2E"/>
                </a:solidFill>
              </a:rPr>
              <a:t>MOTEUR DROIT — TIM16_CH1 PE0 · DIR PE3 · BRAKE PB2  ⚠  Roues en l'air</a:t>
            </a:r>
          </a:p>
        </p:txBody>
      </p:sp>
      <p:sp>
        <p:nvSpPr>
          <p:cNvPr id="65" name="Rectangle 64"/>
          <p:cNvSpPr/>
          <p:nvPr/>
        </p:nvSpPr>
        <p:spPr>
          <a:xfrm>
            <a:off x="182880" y="4325112"/>
            <a:ext cx="256032" cy="246888"/>
          </a:xfrm>
          <a:prstGeom prst="rect">
            <a:avLst/>
          </a:prstGeom>
          <a:solidFill>
            <a:srgbClr val="052050"/>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19456" y="4361688"/>
            <a:ext cx="182880" cy="246888"/>
          </a:xfrm>
          <a:prstGeom prst="rect">
            <a:avLst/>
          </a:prstGeom>
          <a:noFill/>
        </p:spPr>
        <p:txBody>
          <a:bodyPr wrap="square">
            <a:spAutoFit/>
          </a:bodyPr>
          <a:lstStyle/>
          <a:p>
            <a:pPr algn="ctr"/>
            <a:endParaRPr/>
          </a:p>
        </p:txBody>
      </p:sp>
      <p:sp>
        <p:nvSpPr>
          <p:cNvPr id="67" name="Rectangle 66"/>
          <p:cNvSpPr/>
          <p:nvPr/>
        </p:nvSpPr>
        <p:spPr>
          <a:xfrm>
            <a:off x="438912" y="4325112"/>
            <a:ext cx="2286000" cy="246888"/>
          </a:xfrm>
          <a:prstGeom prst="rect">
            <a:avLst/>
          </a:prstGeom>
          <a:solidFill>
            <a:srgbClr val="052050"/>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75488" y="4361688"/>
            <a:ext cx="2212848" cy="246888"/>
          </a:xfrm>
          <a:prstGeom prst="rect">
            <a:avLst/>
          </a:prstGeom>
          <a:noFill/>
        </p:spPr>
        <p:txBody>
          <a:bodyPr wrap="square">
            <a:spAutoFit/>
          </a:bodyPr>
          <a:lstStyle/>
          <a:p>
            <a:pPr algn="ctr"/>
            <a:r>
              <a:rPr sz="900" b="1" i="0">
                <a:solidFill>
                  <a:srgbClr val="FF8800"/>
                </a:solidFill>
              </a:rPr>
              <a:t>Test</a:t>
            </a:r>
          </a:p>
        </p:txBody>
      </p:sp>
      <p:sp>
        <p:nvSpPr>
          <p:cNvPr id="69" name="Rectangle 68"/>
          <p:cNvSpPr/>
          <p:nvPr/>
        </p:nvSpPr>
        <p:spPr>
          <a:xfrm>
            <a:off x="2724912" y="4325112"/>
            <a:ext cx="3840480" cy="246888"/>
          </a:xfrm>
          <a:prstGeom prst="rect">
            <a:avLst/>
          </a:prstGeom>
          <a:solidFill>
            <a:srgbClr val="052050"/>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761488" y="4361688"/>
            <a:ext cx="3767328" cy="246888"/>
          </a:xfrm>
          <a:prstGeom prst="rect">
            <a:avLst/>
          </a:prstGeom>
          <a:noFill/>
        </p:spPr>
        <p:txBody>
          <a:bodyPr wrap="square">
            <a:spAutoFit/>
          </a:bodyPr>
          <a:lstStyle/>
          <a:p>
            <a:pPr algn="ctr"/>
            <a:r>
              <a:rPr sz="900" b="1" i="0">
                <a:solidFill>
                  <a:srgbClr val="FF8800"/>
                </a:solidFill>
              </a:rPr>
              <a:t>Procédure</a:t>
            </a:r>
          </a:p>
        </p:txBody>
      </p:sp>
      <p:sp>
        <p:nvSpPr>
          <p:cNvPr id="71" name="Rectangle 70"/>
          <p:cNvSpPr/>
          <p:nvPr/>
        </p:nvSpPr>
        <p:spPr>
          <a:xfrm>
            <a:off x="6565392" y="4325112"/>
            <a:ext cx="3200400" cy="246888"/>
          </a:xfrm>
          <a:prstGeom prst="rect">
            <a:avLst/>
          </a:prstGeom>
          <a:solidFill>
            <a:srgbClr val="052050"/>
          </a:solidFill>
          <a:ln w="3810">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601968" y="4361688"/>
            <a:ext cx="3127248" cy="246888"/>
          </a:xfrm>
          <a:prstGeom prst="rect">
            <a:avLst/>
          </a:prstGeom>
          <a:noFill/>
        </p:spPr>
        <p:txBody>
          <a:bodyPr wrap="square">
            <a:spAutoFit/>
          </a:bodyPr>
          <a:lstStyle/>
          <a:p>
            <a:pPr algn="ctr"/>
            <a:r>
              <a:rPr sz="900" b="1" i="0">
                <a:solidFill>
                  <a:srgbClr val="FF8800"/>
                </a:solidFill>
              </a:rPr>
              <a:t>Résultat attendu</a:t>
            </a:r>
          </a:p>
        </p:txBody>
      </p:sp>
      <p:sp>
        <p:nvSpPr>
          <p:cNvPr id="73" name="Rectangle 72"/>
          <p:cNvSpPr/>
          <p:nvPr/>
        </p:nvSpPr>
        <p:spPr>
          <a:xfrm>
            <a:off x="182880" y="4572000"/>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210312" y="4599432"/>
            <a:ext cx="201168" cy="329184"/>
          </a:xfrm>
          <a:prstGeom prst="rect">
            <a:avLst/>
          </a:prstGeom>
          <a:noFill/>
        </p:spPr>
        <p:txBody>
          <a:bodyPr wrap="square">
            <a:spAutoFit/>
          </a:bodyPr>
          <a:lstStyle/>
          <a:p>
            <a:pPr algn="ctr"/>
            <a:r>
              <a:rPr sz="900" b="0" i="0">
                <a:solidFill>
                  <a:srgbClr val="FFD700"/>
                </a:solidFill>
              </a:rPr>
              <a:t>☐</a:t>
            </a:r>
          </a:p>
        </p:txBody>
      </p:sp>
      <p:sp>
        <p:nvSpPr>
          <p:cNvPr id="75" name="Rectangle 74"/>
          <p:cNvSpPr/>
          <p:nvPr/>
        </p:nvSpPr>
        <p:spPr>
          <a:xfrm>
            <a:off x="438912" y="4572000"/>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66344" y="4599432"/>
            <a:ext cx="2231136" cy="329184"/>
          </a:xfrm>
          <a:prstGeom prst="rect">
            <a:avLst/>
          </a:prstGeom>
          <a:noFill/>
        </p:spPr>
        <p:txBody>
          <a:bodyPr wrap="square">
            <a:spAutoFit/>
          </a:bodyPr>
          <a:lstStyle/>
          <a:p>
            <a:pPr algn="l"/>
            <a:r>
              <a:rPr sz="900" b="0" i="0">
                <a:solidFill>
                  <a:srgbClr val="FFFFFF"/>
                </a:solidFill>
              </a:rPr>
              <a:t>Sens A lent</a:t>
            </a:r>
          </a:p>
        </p:txBody>
      </p:sp>
      <p:sp>
        <p:nvSpPr>
          <p:cNvPr id="77" name="Rectangle 76"/>
          <p:cNvSpPr/>
          <p:nvPr/>
        </p:nvSpPr>
        <p:spPr>
          <a:xfrm>
            <a:off x="2724912" y="4572000"/>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2752344" y="4599432"/>
            <a:ext cx="3785616" cy="329184"/>
          </a:xfrm>
          <a:prstGeom prst="rect">
            <a:avLst/>
          </a:prstGeom>
          <a:noFill/>
        </p:spPr>
        <p:txBody>
          <a:bodyPr wrap="square">
            <a:spAutoFit/>
          </a:bodyPr>
          <a:lstStyle/>
          <a:p>
            <a:pPr algn="l"/>
            <a:r>
              <a:rPr sz="900" b="0" i="0">
                <a:solidFill>
                  <a:srgbClr val="FFFFFF"/>
                </a:solidFill>
              </a:rPr>
              <a:t>DIR=0, BRAKE=0, PWM=10 %</a:t>
            </a:r>
          </a:p>
        </p:txBody>
      </p:sp>
      <p:sp>
        <p:nvSpPr>
          <p:cNvPr id="79" name="Rectangle 78"/>
          <p:cNvSpPr/>
          <p:nvPr/>
        </p:nvSpPr>
        <p:spPr>
          <a:xfrm>
            <a:off x="6565392" y="4572000"/>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592824" y="4599432"/>
            <a:ext cx="3145536" cy="329184"/>
          </a:xfrm>
          <a:prstGeom prst="rect">
            <a:avLst/>
          </a:prstGeom>
          <a:noFill/>
        </p:spPr>
        <p:txBody>
          <a:bodyPr wrap="square">
            <a:spAutoFit/>
          </a:bodyPr>
          <a:lstStyle/>
          <a:p>
            <a:pPr algn="l"/>
            <a:r>
              <a:rPr sz="900" b="0" i="0">
                <a:solidFill>
                  <a:srgbClr val="FFFFFF"/>
                </a:solidFill>
              </a:rPr>
              <a:t>Roue droite tourne dans sens A</a:t>
            </a:r>
          </a:p>
        </p:txBody>
      </p:sp>
      <p:sp>
        <p:nvSpPr>
          <p:cNvPr id="81" name="Rectangle 80"/>
          <p:cNvSpPr/>
          <p:nvPr/>
        </p:nvSpPr>
        <p:spPr>
          <a:xfrm>
            <a:off x="182880" y="4901184"/>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210312" y="4928616"/>
            <a:ext cx="201168" cy="329184"/>
          </a:xfrm>
          <a:prstGeom prst="rect">
            <a:avLst/>
          </a:prstGeom>
          <a:noFill/>
        </p:spPr>
        <p:txBody>
          <a:bodyPr wrap="square">
            <a:spAutoFit/>
          </a:bodyPr>
          <a:lstStyle/>
          <a:p>
            <a:pPr algn="ctr"/>
            <a:r>
              <a:rPr sz="900" b="0" i="0">
                <a:solidFill>
                  <a:srgbClr val="FFD700"/>
                </a:solidFill>
              </a:rPr>
              <a:t>☐</a:t>
            </a:r>
          </a:p>
        </p:txBody>
      </p:sp>
      <p:sp>
        <p:nvSpPr>
          <p:cNvPr id="83" name="Rectangle 82"/>
          <p:cNvSpPr/>
          <p:nvPr/>
        </p:nvSpPr>
        <p:spPr>
          <a:xfrm>
            <a:off x="438912" y="4901184"/>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466344" y="4928616"/>
            <a:ext cx="2231136" cy="329184"/>
          </a:xfrm>
          <a:prstGeom prst="rect">
            <a:avLst/>
          </a:prstGeom>
          <a:noFill/>
        </p:spPr>
        <p:txBody>
          <a:bodyPr wrap="square">
            <a:spAutoFit/>
          </a:bodyPr>
          <a:lstStyle/>
          <a:p>
            <a:pPr algn="l"/>
            <a:r>
              <a:rPr sz="900" b="0" i="0">
                <a:solidFill>
                  <a:srgbClr val="FFFFFF"/>
                </a:solidFill>
              </a:rPr>
              <a:t>Sens B lent</a:t>
            </a:r>
          </a:p>
        </p:txBody>
      </p:sp>
      <p:sp>
        <p:nvSpPr>
          <p:cNvPr id="85" name="Rectangle 84"/>
          <p:cNvSpPr/>
          <p:nvPr/>
        </p:nvSpPr>
        <p:spPr>
          <a:xfrm>
            <a:off x="2724912" y="4901184"/>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2752344" y="4928616"/>
            <a:ext cx="3785616" cy="329184"/>
          </a:xfrm>
          <a:prstGeom prst="rect">
            <a:avLst/>
          </a:prstGeom>
          <a:noFill/>
        </p:spPr>
        <p:txBody>
          <a:bodyPr wrap="square">
            <a:spAutoFit/>
          </a:bodyPr>
          <a:lstStyle/>
          <a:p>
            <a:pPr algn="l"/>
            <a:r>
              <a:rPr sz="900" b="0" i="0">
                <a:solidFill>
                  <a:srgbClr val="FFFFFF"/>
                </a:solidFill>
              </a:rPr>
              <a:t>DIR=1, BRAKE=0, PWM=10 %</a:t>
            </a:r>
          </a:p>
        </p:txBody>
      </p:sp>
      <p:sp>
        <p:nvSpPr>
          <p:cNvPr id="87" name="Rectangle 86"/>
          <p:cNvSpPr/>
          <p:nvPr/>
        </p:nvSpPr>
        <p:spPr>
          <a:xfrm>
            <a:off x="6565392" y="4901184"/>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6592824" y="4928616"/>
            <a:ext cx="3145536" cy="329184"/>
          </a:xfrm>
          <a:prstGeom prst="rect">
            <a:avLst/>
          </a:prstGeom>
          <a:noFill/>
        </p:spPr>
        <p:txBody>
          <a:bodyPr wrap="square">
            <a:spAutoFit/>
          </a:bodyPr>
          <a:lstStyle/>
          <a:p>
            <a:pPr algn="l"/>
            <a:r>
              <a:rPr sz="900" b="0" i="0">
                <a:solidFill>
                  <a:srgbClr val="FFFFFF"/>
                </a:solidFill>
              </a:rPr>
              <a:t>Roue droite tourne dans sens B</a:t>
            </a:r>
          </a:p>
        </p:txBody>
      </p:sp>
      <p:sp>
        <p:nvSpPr>
          <p:cNvPr id="89" name="Rectangle 88"/>
          <p:cNvSpPr/>
          <p:nvPr/>
        </p:nvSpPr>
        <p:spPr>
          <a:xfrm>
            <a:off x="182880" y="5230368"/>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210312" y="5257800"/>
            <a:ext cx="201168" cy="329184"/>
          </a:xfrm>
          <a:prstGeom prst="rect">
            <a:avLst/>
          </a:prstGeom>
          <a:noFill/>
        </p:spPr>
        <p:txBody>
          <a:bodyPr wrap="square">
            <a:spAutoFit/>
          </a:bodyPr>
          <a:lstStyle/>
          <a:p>
            <a:pPr algn="ctr"/>
            <a:r>
              <a:rPr sz="900" b="0" i="0">
                <a:solidFill>
                  <a:srgbClr val="FFD700"/>
                </a:solidFill>
              </a:rPr>
              <a:t>☐</a:t>
            </a:r>
          </a:p>
        </p:txBody>
      </p:sp>
      <p:sp>
        <p:nvSpPr>
          <p:cNvPr id="91" name="Rectangle 90"/>
          <p:cNvSpPr/>
          <p:nvPr/>
        </p:nvSpPr>
        <p:spPr>
          <a:xfrm>
            <a:off x="438912" y="5230368"/>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466344" y="5257800"/>
            <a:ext cx="2231136" cy="329184"/>
          </a:xfrm>
          <a:prstGeom prst="rect">
            <a:avLst/>
          </a:prstGeom>
          <a:noFill/>
        </p:spPr>
        <p:txBody>
          <a:bodyPr wrap="square">
            <a:spAutoFit/>
          </a:bodyPr>
          <a:lstStyle/>
          <a:p>
            <a:pPr algn="l"/>
            <a:r>
              <a:rPr sz="900" b="0" i="0">
                <a:solidFill>
                  <a:srgbClr val="FFFFFF"/>
                </a:solidFill>
              </a:rPr>
              <a:t>Symétrie</a:t>
            </a:r>
          </a:p>
        </p:txBody>
      </p:sp>
      <p:sp>
        <p:nvSpPr>
          <p:cNvPr id="93" name="Rectangle 92"/>
          <p:cNvSpPr/>
          <p:nvPr/>
        </p:nvSpPr>
        <p:spPr>
          <a:xfrm>
            <a:off x="2724912" y="5230368"/>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2752344" y="5257800"/>
            <a:ext cx="3785616" cy="329184"/>
          </a:xfrm>
          <a:prstGeom prst="rect">
            <a:avLst/>
          </a:prstGeom>
          <a:noFill/>
        </p:spPr>
        <p:txBody>
          <a:bodyPr wrap="square">
            <a:spAutoFit/>
          </a:bodyPr>
          <a:lstStyle/>
          <a:p>
            <a:pPr algn="l"/>
            <a:r>
              <a:rPr sz="900" b="0" i="0">
                <a:solidFill>
                  <a:srgbClr val="FFFFFF"/>
                </a:solidFill>
              </a:rPr>
              <a:t>Même commande gauche et droite simultanément</a:t>
            </a:r>
          </a:p>
        </p:txBody>
      </p:sp>
      <p:sp>
        <p:nvSpPr>
          <p:cNvPr id="95" name="Rectangle 94"/>
          <p:cNvSpPr/>
          <p:nvPr/>
        </p:nvSpPr>
        <p:spPr>
          <a:xfrm>
            <a:off x="6565392" y="5230368"/>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6592824" y="5257800"/>
            <a:ext cx="3145536" cy="329184"/>
          </a:xfrm>
          <a:prstGeom prst="rect">
            <a:avLst/>
          </a:prstGeom>
          <a:noFill/>
        </p:spPr>
        <p:txBody>
          <a:bodyPr wrap="square">
            <a:spAutoFit/>
          </a:bodyPr>
          <a:lstStyle/>
          <a:p>
            <a:pPr algn="l"/>
            <a:r>
              <a:rPr sz="900" b="0" i="0">
                <a:solidFill>
                  <a:srgbClr val="FFFFFF"/>
                </a:solidFill>
              </a:rPr>
              <a:t>Les deux roues tournent dans le même sens à vitesse égale</a:t>
            </a:r>
          </a:p>
        </p:txBody>
      </p:sp>
      <p:sp>
        <p:nvSpPr>
          <p:cNvPr id="97" name="Rectangle 96"/>
          <p:cNvSpPr/>
          <p:nvPr/>
        </p:nvSpPr>
        <p:spPr>
          <a:xfrm>
            <a:off x="182880" y="5559552"/>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210312" y="5586984"/>
            <a:ext cx="201168" cy="329184"/>
          </a:xfrm>
          <a:prstGeom prst="rect">
            <a:avLst/>
          </a:prstGeom>
          <a:noFill/>
        </p:spPr>
        <p:txBody>
          <a:bodyPr wrap="square">
            <a:spAutoFit/>
          </a:bodyPr>
          <a:lstStyle/>
          <a:p>
            <a:pPr algn="ctr"/>
            <a:r>
              <a:rPr sz="900" b="0" i="0">
                <a:solidFill>
                  <a:srgbClr val="FFD700"/>
                </a:solidFill>
              </a:rPr>
              <a:t>☐</a:t>
            </a:r>
          </a:p>
        </p:txBody>
      </p:sp>
      <p:sp>
        <p:nvSpPr>
          <p:cNvPr id="99" name="Rectangle 98"/>
          <p:cNvSpPr/>
          <p:nvPr/>
        </p:nvSpPr>
        <p:spPr>
          <a:xfrm>
            <a:off x="438912" y="5559552"/>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466344" y="5586984"/>
            <a:ext cx="2231136" cy="329184"/>
          </a:xfrm>
          <a:prstGeom prst="rect">
            <a:avLst/>
          </a:prstGeom>
          <a:noFill/>
        </p:spPr>
        <p:txBody>
          <a:bodyPr wrap="square">
            <a:spAutoFit/>
          </a:bodyPr>
          <a:lstStyle/>
          <a:p>
            <a:pPr algn="l"/>
            <a:r>
              <a:rPr sz="900" b="0" i="0">
                <a:solidFill>
                  <a:srgbClr val="FFFFFF"/>
                </a:solidFill>
              </a:rPr>
              <a:t>Frein actif</a:t>
            </a:r>
          </a:p>
        </p:txBody>
      </p:sp>
      <p:sp>
        <p:nvSpPr>
          <p:cNvPr id="101" name="Rectangle 100"/>
          <p:cNvSpPr/>
          <p:nvPr/>
        </p:nvSpPr>
        <p:spPr>
          <a:xfrm>
            <a:off x="2724912" y="5559552"/>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2752344" y="5586984"/>
            <a:ext cx="3785616" cy="329184"/>
          </a:xfrm>
          <a:prstGeom prst="rect">
            <a:avLst/>
          </a:prstGeom>
          <a:noFill/>
        </p:spPr>
        <p:txBody>
          <a:bodyPr wrap="square">
            <a:spAutoFit/>
          </a:bodyPr>
          <a:lstStyle/>
          <a:p>
            <a:pPr algn="l"/>
            <a:r>
              <a:rPr sz="900" b="0" i="0">
                <a:solidFill>
                  <a:srgbClr val="FFFFFF"/>
                </a:solidFill>
              </a:rPr>
              <a:t>BRAKE=1 pendant rotation</a:t>
            </a:r>
          </a:p>
        </p:txBody>
      </p:sp>
      <p:sp>
        <p:nvSpPr>
          <p:cNvPr id="103" name="Rectangle 102"/>
          <p:cNvSpPr/>
          <p:nvPr/>
        </p:nvSpPr>
        <p:spPr>
          <a:xfrm>
            <a:off x="6565392" y="5559552"/>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6592824" y="5586984"/>
            <a:ext cx="3145536" cy="329184"/>
          </a:xfrm>
          <a:prstGeom prst="rect">
            <a:avLst/>
          </a:prstGeom>
          <a:noFill/>
        </p:spPr>
        <p:txBody>
          <a:bodyPr wrap="square">
            <a:spAutoFit/>
          </a:bodyPr>
          <a:lstStyle/>
          <a:p>
            <a:pPr algn="l"/>
            <a:r>
              <a:rPr sz="900" b="0" i="0">
                <a:solidFill>
                  <a:srgbClr val="FFFFFF"/>
                </a:solidFill>
              </a:rPr>
              <a:t>Arrêt brutal immédiat</a:t>
            </a:r>
          </a:p>
        </p:txBody>
      </p:sp>
      <p:sp>
        <p:nvSpPr>
          <p:cNvPr id="105" name="Rectangle 104"/>
          <p:cNvSpPr/>
          <p:nvPr/>
        </p:nvSpPr>
        <p:spPr>
          <a:xfrm>
            <a:off x="182880" y="5998464"/>
            <a:ext cx="11795760" cy="347472"/>
          </a:xfrm>
          <a:prstGeom prst="rect">
            <a:avLst/>
          </a:prstGeom>
          <a:solidFill>
            <a:srgbClr val="00DD88"/>
          </a:solidFill>
          <a:ln w="12700">
            <a:solidFill>
              <a:srgbClr val="00DD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274320" y="6035040"/>
            <a:ext cx="11612880" cy="347472"/>
          </a:xfrm>
          <a:prstGeom prst="rect">
            <a:avLst/>
          </a:prstGeom>
          <a:noFill/>
        </p:spPr>
        <p:txBody>
          <a:bodyPr wrap="square">
            <a:spAutoFit/>
          </a:bodyPr>
          <a:lstStyle/>
          <a:p>
            <a:pPr algn="l"/>
            <a:r>
              <a:rPr sz="1300" b="1" i="0">
                <a:solidFill>
                  <a:srgbClr val="1A1A2E"/>
                </a:solidFill>
              </a:rPr>
              <a:t>MESURE COURANT — ADC1  ·  PA5 = gauche (IN10)  ·  PC3 = droit (IN4)</a:t>
            </a:r>
          </a:p>
        </p:txBody>
      </p:sp>
      <p:sp>
        <p:nvSpPr>
          <p:cNvPr id="107" name="Rectangle 106"/>
          <p:cNvSpPr/>
          <p:nvPr/>
        </p:nvSpPr>
        <p:spPr>
          <a:xfrm>
            <a:off x="182880" y="6345936"/>
            <a:ext cx="256032" cy="246888"/>
          </a:xfrm>
          <a:prstGeom prst="rect">
            <a:avLst/>
          </a:prstGeom>
          <a:solidFill>
            <a:srgbClr val="052050"/>
          </a:solidFill>
          <a:ln w="3810">
            <a:solidFill>
              <a:srgbClr val="00DD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219456" y="6382512"/>
            <a:ext cx="182880" cy="246888"/>
          </a:xfrm>
          <a:prstGeom prst="rect">
            <a:avLst/>
          </a:prstGeom>
          <a:noFill/>
        </p:spPr>
        <p:txBody>
          <a:bodyPr wrap="square">
            <a:spAutoFit/>
          </a:bodyPr>
          <a:lstStyle/>
          <a:p>
            <a:pPr algn="ctr"/>
            <a:endParaRPr/>
          </a:p>
        </p:txBody>
      </p:sp>
      <p:sp>
        <p:nvSpPr>
          <p:cNvPr id="109" name="Rectangle 108"/>
          <p:cNvSpPr/>
          <p:nvPr/>
        </p:nvSpPr>
        <p:spPr>
          <a:xfrm>
            <a:off x="438912" y="6345936"/>
            <a:ext cx="2286000" cy="246888"/>
          </a:xfrm>
          <a:prstGeom prst="rect">
            <a:avLst/>
          </a:prstGeom>
          <a:solidFill>
            <a:srgbClr val="052050"/>
          </a:solidFill>
          <a:ln w="3810">
            <a:solidFill>
              <a:srgbClr val="00DD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475488" y="6382512"/>
            <a:ext cx="2212848" cy="246888"/>
          </a:xfrm>
          <a:prstGeom prst="rect">
            <a:avLst/>
          </a:prstGeom>
          <a:noFill/>
        </p:spPr>
        <p:txBody>
          <a:bodyPr wrap="square">
            <a:spAutoFit/>
          </a:bodyPr>
          <a:lstStyle/>
          <a:p>
            <a:pPr algn="ctr"/>
            <a:r>
              <a:rPr sz="900" b="1" i="0">
                <a:solidFill>
                  <a:srgbClr val="00DD88"/>
                </a:solidFill>
              </a:rPr>
              <a:t>Test</a:t>
            </a:r>
          </a:p>
        </p:txBody>
      </p:sp>
      <p:sp>
        <p:nvSpPr>
          <p:cNvPr id="111" name="Rectangle 110"/>
          <p:cNvSpPr/>
          <p:nvPr/>
        </p:nvSpPr>
        <p:spPr>
          <a:xfrm>
            <a:off x="2724912" y="6345936"/>
            <a:ext cx="3840480" cy="246888"/>
          </a:xfrm>
          <a:prstGeom prst="rect">
            <a:avLst/>
          </a:prstGeom>
          <a:solidFill>
            <a:srgbClr val="052050"/>
          </a:solidFill>
          <a:ln w="3810">
            <a:solidFill>
              <a:srgbClr val="00DD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761488" y="6382512"/>
            <a:ext cx="3767328" cy="246888"/>
          </a:xfrm>
          <a:prstGeom prst="rect">
            <a:avLst/>
          </a:prstGeom>
          <a:noFill/>
        </p:spPr>
        <p:txBody>
          <a:bodyPr wrap="square">
            <a:spAutoFit/>
          </a:bodyPr>
          <a:lstStyle/>
          <a:p>
            <a:pPr algn="ctr"/>
            <a:r>
              <a:rPr sz="900" b="1" i="0">
                <a:solidFill>
                  <a:srgbClr val="00DD88"/>
                </a:solidFill>
              </a:rPr>
              <a:t>Procédure</a:t>
            </a:r>
          </a:p>
        </p:txBody>
      </p:sp>
      <p:sp>
        <p:nvSpPr>
          <p:cNvPr id="113" name="Rectangle 112"/>
          <p:cNvSpPr/>
          <p:nvPr/>
        </p:nvSpPr>
        <p:spPr>
          <a:xfrm>
            <a:off x="6565392" y="6345936"/>
            <a:ext cx="3200400" cy="246888"/>
          </a:xfrm>
          <a:prstGeom prst="rect">
            <a:avLst/>
          </a:prstGeom>
          <a:solidFill>
            <a:srgbClr val="052050"/>
          </a:solidFill>
          <a:ln w="3810">
            <a:solidFill>
              <a:srgbClr val="00DD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6601968" y="6382512"/>
            <a:ext cx="3127248" cy="246888"/>
          </a:xfrm>
          <a:prstGeom prst="rect">
            <a:avLst/>
          </a:prstGeom>
          <a:noFill/>
        </p:spPr>
        <p:txBody>
          <a:bodyPr wrap="square">
            <a:spAutoFit/>
          </a:bodyPr>
          <a:lstStyle/>
          <a:p>
            <a:pPr algn="ctr"/>
            <a:r>
              <a:rPr sz="900" b="1" i="0">
                <a:solidFill>
                  <a:srgbClr val="00DD88"/>
                </a:solidFill>
              </a:rPr>
              <a:t>Résultat attendu</a:t>
            </a:r>
          </a:p>
        </p:txBody>
      </p:sp>
      <p:sp>
        <p:nvSpPr>
          <p:cNvPr id="115" name="Rectangle 114"/>
          <p:cNvSpPr/>
          <p:nvPr/>
        </p:nvSpPr>
        <p:spPr>
          <a:xfrm>
            <a:off x="182880" y="6592824"/>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210312" y="6620256"/>
            <a:ext cx="201168" cy="329184"/>
          </a:xfrm>
          <a:prstGeom prst="rect">
            <a:avLst/>
          </a:prstGeom>
          <a:noFill/>
        </p:spPr>
        <p:txBody>
          <a:bodyPr wrap="square">
            <a:spAutoFit/>
          </a:bodyPr>
          <a:lstStyle/>
          <a:p>
            <a:pPr algn="ctr"/>
            <a:r>
              <a:rPr sz="900" b="0" i="0">
                <a:solidFill>
                  <a:srgbClr val="FFD700"/>
                </a:solidFill>
              </a:rPr>
              <a:t>☐</a:t>
            </a:r>
          </a:p>
        </p:txBody>
      </p:sp>
      <p:sp>
        <p:nvSpPr>
          <p:cNvPr id="117" name="Rectangle 116"/>
          <p:cNvSpPr/>
          <p:nvPr/>
        </p:nvSpPr>
        <p:spPr>
          <a:xfrm>
            <a:off x="438912" y="6592824"/>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466344" y="6620256"/>
            <a:ext cx="2231136" cy="329184"/>
          </a:xfrm>
          <a:prstGeom prst="rect">
            <a:avLst/>
          </a:prstGeom>
          <a:noFill/>
        </p:spPr>
        <p:txBody>
          <a:bodyPr wrap="square">
            <a:spAutoFit/>
          </a:bodyPr>
          <a:lstStyle/>
          <a:p>
            <a:pPr algn="l"/>
            <a:r>
              <a:rPr sz="900" b="0" i="0">
                <a:solidFill>
                  <a:srgbClr val="FFFFFF"/>
                </a:solidFill>
              </a:rPr>
              <a:t>Repos (0 A)</a:t>
            </a:r>
          </a:p>
        </p:txBody>
      </p:sp>
      <p:sp>
        <p:nvSpPr>
          <p:cNvPr id="119" name="Rectangle 118"/>
          <p:cNvSpPr/>
          <p:nvPr/>
        </p:nvSpPr>
        <p:spPr>
          <a:xfrm>
            <a:off x="2724912" y="6592824"/>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2752344" y="6620256"/>
            <a:ext cx="3785616" cy="329184"/>
          </a:xfrm>
          <a:prstGeom prst="rect">
            <a:avLst/>
          </a:prstGeom>
          <a:noFill/>
        </p:spPr>
        <p:txBody>
          <a:bodyPr wrap="square">
            <a:spAutoFit/>
          </a:bodyPr>
          <a:lstStyle/>
          <a:p>
            <a:pPr algn="l"/>
            <a:r>
              <a:rPr sz="900" b="0" i="0">
                <a:solidFill>
                  <a:srgbClr val="FFFFFF"/>
                </a:solidFill>
              </a:rPr>
              <a:t>Moteurs arrêtés, lire ADC PA5 et PC3</a:t>
            </a:r>
          </a:p>
        </p:txBody>
      </p:sp>
      <p:sp>
        <p:nvSpPr>
          <p:cNvPr id="121" name="Rectangle 120"/>
          <p:cNvSpPr/>
          <p:nvPr/>
        </p:nvSpPr>
        <p:spPr>
          <a:xfrm>
            <a:off x="6565392" y="6592824"/>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6592824" y="6620256"/>
            <a:ext cx="3145536" cy="329184"/>
          </a:xfrm>
          <a:prstGeom prst="rect">
            <a:avLst/>
          </a:prstGeom>
          <a:noFill/>
        </p:spPr>
        <p:txBody>
          <a:bodyPr wrap="square">
            <a:spAutoFit/>
          </a:bodyPr>
          <a:lstStyle/>
          <a:p>
            <a:pPr algn="l"/>
            <a:r>
              <a:rPr sz="900" b="0" i="0">
                <a:solidFill>
                  <a:srgbClr val="FFFFFF"/>
                </a:solidFill>
              </a:rPr>
              <a:t>Valeurs proches de 0 (&lt; 50 mV typ.)</a:t>
            </a:r>
          </a:p>
        </p:txBody>
      </p:sp>
      <p:sp>
        <p:nvSpPr>
          <p:cNvPr id="123" name="Rectangle 122"/>
          <p:cNvSpPr/>
          <p:nvPr/>
        </p:nvSpPr>
        <p:spPr>
          <a:xfrm>
            <a:off x="182880" y="6922008"/>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210312" y="6949440"/>
            <a:ext cx="201168" cy="329184"/>
          </a:xfrm>
          <a:prstGeom prst="rect">
            <a:avLst/>
          </a:prstGeom>
          <a:noFill/>
        </p:spPr>
        <p:txBody>
          <a:bodyPr wrap="square">
            <a:spAutoFit/>
          </a:bodyPr>
          <a:lstStyle/>
          <a:p>
            <a:pPr algn="ctr"/>
            <a:r>
              <a:rPr sz="900" b="0" i="0">
                <a:solidFill>
                  <a:srgbClr val="FFD700"/>
                </a:solidFill>
              </a:rPr>
              <a:t>☐</a:t>
            </a:r>
          </a:p>
        </p:txBody>
      </p:sp>
      <p:sp>
        <p:nvSpPr>
          <p:cNvPr id="125" name="Rectangle 124"/>
          <p:cNvSpPr/>
          <p:nvPr/>
        </p:nvSpPr>
        <p:spPr>
          <a:xfrm>
            <a:off x="438912" y="6922008"/>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466344" y="6949440"/>
            <a:ext cx="2231136" cy="329184"/>
          </a:xfrm>
          <a:prstGeom prst="rect">
            <a:avLst/>
          </a:prstGeom>
          <a:noFill/>
        </p:spPr>
        <p:txBody>
          <a:bodyPr wrap="square">
            <a:spAutoFit/>
          </a:bodyPr>
          <a:lstStyle/>
          <a:p>
            <a:pPr algn="l"/>
            <a:r>
              <a:rPr sz="900" b="0" i="0">
                <a:solidFill>
                  <a:srgbClr val="FFFFFF"/>
                </a:solidFill>
              </a:rPr>
              <a:t>Charge moteur</a:t>
            </a:r>
          </a:p>
        </p:txBody>
      </p:sp>
      <p:sp>
        <p:nvSpPr>
          <p:cNvPr id="127" name="Rectangle 126"/>
          <p:cNvSpPr/>
          <p:nvPr/>
        </p:nvSpPr>
        <p:spPr>
          <a:xfrm>
            <a:off x="2724912" y="6922008"/>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2752344" y="6949440"/>
            <a:ext cx="3785616" cy="329184"/>
          </a:xfrm>
          <a:prstGeom prst="rect">
            <a:avLst/>
          </a:prstGeom>
          <a:noFill/>
        </p:spPr>
        <p:txBody>
          <a:bodyPr wrap="square">
            <a:spAutoFit/>
          </a:bodyPr>
          <a:lstStyle/>
          <a:p>
            <a:pPr algn="l"/>
            <a:r>
              <a:rPr sz="900" b="0" i="0">
                <a:solidFill>
                  <a:srgbClr val="FFFFFF"/>
                </a:solidFill>
              </a:rPr>
              <a:t>PWM=30 %, lire ADC en courant</a:t>
            </a:r>
          </a:p>
        </p:txBody>
      </p:sp>
      <p:sp>
        <p:nvSpPr>
          <p:cNvPr id="129" name="Rectangle 128"/>
          <p:cNvSpPr/>
          <p:nvPr/>
        </p:nvSpPr>
        <p:spPr>
          <a:xfrm>
            <a:off x="6565392" y="6922008"/>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592824" y="6949440"/>
            <a:ext cx="3145536" cy="329184"/>
          </a:xfrm>
          <a:prstGeom prst="rect">
            <a:avLst/>
          </a:prstGeom>
          <a:noFill/>
        </p:spPr>
        <p:txBody>
          <a:bodyPr wrap="square">
            <a:spAutoFit/>
          </a:bodyPr>
          <a:lstStyle/>
          <a:p>
            <a:pPr algn="l"/>
            <a:r>
              <a:rPr sz="900" b="0" i="0">
                <a:solidFill>
                  <a:srgbClr val="FFFFFF"/>
                </a:solidFill>
              </a:rPr>
              <a:t>Valeur non nulle, cohérente avec charge (ex. 200–800 mV)</a:t>
            </a:r>
          </a:p>
        </p:txBody>
      </p:sp>
      <p:sp>
        <p:nvSpPr>
          <p:cNvPr id="131" name="Rectangle 130"/>
          <p:cNvSpPr/>
          <p:nvPr/>
        </p:nvSpPr>
        <p:spPr>
          <a:xfrm>
            <a:off x="182880" y="7251192"/>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210312" y="7278624"/>
            <a:ext cx="201168" cy="329184"/>
          </a:xfrm>
          <a:prstGeom prst="rect">
            <a:avLst/>
          </a:prstGeom>
          <a:noFill/>
        </p:spPr>
        <p:txBody>
          <a:bodyPr wrap="square">
            <a:spAutoFit/>
          </a:bodyPr>
          <a:lstStyle/>
          <a:p>
            <a:pPr algn="ctr"/>
            <a:r>
              <a:rPr sz="900" b="0" i="0">
                <a:solidFill>
                  <a:srgbClr val="FFD700"/>
                </a:solidFill>
              </a:rPr>
              <a:t>☐</a:t>
            </a:r>
          </a:p>
        </p:txBody>
      </p:sp>
      <p:sp>
        <p:nvSpPr>
          <p:cNvPr id="133" name="Rectangle 132"/>
          <p:cNvSpPr/>
          <p:nvPr/>
        </p:nvSpPr>
        <p:spPr>
          <a:xfrm>
            <a:off x="438912" y="7251192"/>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466344" y="7278624"/>
            <a:ext cx="2231136" cy="329184"/>
          </a:xfrm>
          <a:prstGeom prst="rect">
            <a:avLst/>
          </a:prstGeom>
          <a:noFill/>
        </p:spPr>
        <p:txBody>
          <a:bodyPr wrap="square">
            <a:spAutoFit/>
          </a:bodyPr>
          <a:lstStyle/>
          <a:p>
            <a:pPr algn="l"/>
            <a:r>
              <a:rPr sz="900" b="0" i="0">
                <a:solidFill>
                  <a:srgbClr val="FFFFFF"/>
                </a:solidFill>
              </a:rPr>
              <a:t>Unité physique</a:t>
            </a:r>
          </a:p>
        </p:txBody>
      </p:sp>
      <p:sp>
        <p:nvSpPr>
          <p:cNvPr id="135" name="Rectangle 134"/>
          <p:cNvSpPr/>
          <p:nvPr/>
        </p:nvSpPr>
        <p:spPr>
          <a:xfrm>
            <a:off x="2724912" y="7251192"/>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2752344" y="7278624"/>
            <a:ext cx="3785616" cy="329184"/>
          </a:xfrm>
          <a:prstGeom prst="rect">
            <a:avLst/>
          </a:prstGeom>
          <a:noFill/>
        </p:spPr>
        <p:txBody>
          <a:bodyPr wrap="square">
            <a:spAutoFit/>
          </a:bodyPr>
          <a:lstStyle/>
          <a:p>
            <a:pPr algn="l"/>
            <a:r>
              <a:rPr sz="900" b="0" i="0">
                <a:solidFill>
                  <a:srgbClr val="FFFFFF"/>
                </a:solidFill>
              </a:rPr>
              <a:t>Appliquer facteur V/A du CS L298 (typ. 1 V/A)</a:t>
            </a:r>
          </a:p>
        </p:txBody>
      </p:sp>
      <p:sp>
        <p:nvSpPr>
          <p:cNvPr id="137" name="Rectangle 136"/>
          <p:cNvSpPr/>
          <p:nvPr/>
        </p:nvSpPr>
        <p:spPr>
          <a:xfrm>
            <a:off x="6565392" y="7251192"/>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6592824" y="7278624"/>
            <a:ext cx="3145536" cy="329184"/>
          </a:xfrm>
          <a:prstGeom prst="rect">
            <a:avLst/>
          </a:prstGeom>
          <a:noFill/>
        </p:spPr>
        <p:txBody>
          <a:bodyPr wrap="square">
            <a:spAutoFit/>
          </a:bodyPr>
          <a:lstStyle/>
          <a:p>
            <a:pPr algn="l"/>
            <a:r>
              <a:rPr sz="900" b="0" i="0">
                <a:solidFill>
                  <a:srgbClr val="FFFFFF"/>
                </a:solidFill>
              </a:rPr>
              <a:t>Courant calculé &lt; 2 A (limite shield)</a:t>
            </a:r>
          </a:p>
        </p:txBody>
      </p:sp>
      <p:sp>
        <p:nvSpPr>
          <p:cNvPr id="139" name="Rectangle 138"/>
          <p:cNvSpPr/>
          <p:nvPr/>
        </p:nvSpPr>
        <p:spPr>
          <a:xfrm>
            <a:off x="182880" y="7580376"/>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210312" y="7607808"/>
            <a:ext cx="201168" cy="329184"/>
          </a:xfrm>
          <a:prstGeom prst="rect">
            <a:avLst/>
          </a:prstGeom>
          <a:noFill/>
        </p:spPr>
        <p:txBody>
          <a:bodyPr wrap="square">
            <a:spAutoFit/>
          </a:bodyPr>
          <a:lstStyle/>
          <a:p>
            <a:pPr algn="ctr"/>
            <a:r>
              <a:rPr sz="900" b="0" i="0">
                <a:solidFill>
                  <a:srgbClr val="FFD700"/>
                </a:solidFill>
              </a:rPr>
              <a:t>☐</a:t>
            </a:r>
          </a:p>
        </p:txBody>
      </p:sp>
      <p:sp>
        <p:nvSpPr>
          <p:cNvPr id="141" name="Rectangle 140"/>
          <p:cNvSpPr/>
          <p:nvPr/>
        </p:nvSpPr>
        <p:spPr>
          <a:xfrm>
            <a:off x="438912" y="7580376"/>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466344" y="7607808"/>
            <a:ext cx="2231136" cy="329184"/>
          </a:xfrm>
          <a:prstGeom prst="rect">
            <a:avLst/>
          </a:prstGeom>
          <a:noFill/>
        </p:spPr>
        <p:txBody>
          <a:bodyPr wrap="square">
            <a:spAutoFit/>
          </a:bodyPr>
          <a:lstStyle/>
          <a:p>
            <a:pPr algn="l"/>
            <a:r>
              <a:rPr sz="900" b="0" i="0">
                <a:solidFill>
                  <a:srgbClr val="FFFFFF"/>
                </a:solidFill>
              </a:rPr>
              <a:t>Blocage roue</a:t>
            </a:r>
          </a:p>
        </p:txBody>
      </p:sp>
      <p:sp>
        <p:nvSpPr>
          <p:cNvPr id="143" name="Rectangle 142"/>
          <p:cNvSpPr/>
          <p:nvPr/>
        </p:nvSpPr>
        <p:spPr>
          <a:xfrm>
            <a:off x="2724912" y="7580376"/>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2752344" y="7607808"/>
            <a:ext cx="3785616" cy="329184"/>
          </a:xfrm>
          <a:prstGeom prst="rect">
            <a:avLst/>
          </a:prstGeom>
          <a:noFill/>
        </p:spPr>
        <p:txBody>
          <a:bodyPr wrap="square">
            <a:spAutoFit/>
          </a:bodyPr>
          <a:lstStyle/>
          <a:p>
            <a:pPr algn="l"/>
            <a:r>
              <a:rPr sz="900" b="0" i="0">
                <a:solidFill>
                  <a:srgbClr val="FFFFFF"/>
                </a:solidFill>
              </a:rPr>
              <a:t>Bloquer la roue à la main, PWM=20 %</a:t>
            </a:r>
          </a:p>
        </p:txBody>
      </p:sp>
      <p:sp>
        <p:nvSpPr>
          <p:cNvPr id="145" name="Rectangle 144"/>
          <p:cNvSpPr/>
          <p:nvPr/>
        </p:nvSpPr>
        <p:spPr>
          <a:xfrm>
            <a:off x="6565392" y="7580376"/>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6592824" y="7607808"/>
            <a:ext cx="3145536" cy="329184"/>
          </a:xfrm>
          <a:prstGeom prst="rect">
            <a:avLst/>
          </a:prstGeom>
          <a:noFill/>
        </p:spPr>
        <p:txBody>
          <a:bodyPr wrap="square">
            <a:spAutoFit/>
          </a:bodyPr>
          <a:lstStyle/>
          <a:p>
            <a:pPr algn="l"/>
            <a:r>
              <a:rPr sz="900" b="0" i="0">
                <a:solidFill>
                  <a:srgbClr val="FFFFFF"/>
                </a:solidFill>
              </a:rPr>
              <a:t>Courant monte (&gt; 1 A typ.) — test surcourant</a:t>
            </a:r>
          </a:p>
        </p:txBody>
      </p:sp>
      <p:sp>
        <p:nvSpPr>
          <p:cNvPr id="147" name="Rectangle 146"/>
          <p:cNvSpPr/>
          <p:nvPr/>
        </p:nvSpPr>
        <p:spPr>
          <a:xfrm>
            <a:off x="182880" y="8019288"/>
            <a:ext cx="11795760" cy="347472"/>
          </a:xfrm>
          <a:prstGeom prst="rect">
            <a:avLst/>
          </a:prstGeom>
          <a:solidFill>
            <a:srgbClr val="AA55FF"/>
          </a:solidFill>
          <a:ln w="1270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274320" y="8055864"/>
            <a:ext cx="11612880" cy="347472"/>
          </a:xfrm>
          <a:prstGeom prst="rect">
            <a:avLst/>
          </a:prstGeom>
          <a:noFill/>
        </p:spPr>
        <p:txBody>
          <a:bodyPr wrap="square">
            <a:spAutoFit/>
          </a:bodyPr>
          <a:lstStyle/>
          <a:p>
            <a:pPr algn="l"/>
            <a:r>
              <a:rPr sz="1300" b="1" i="0">
                <a:solidFill>
                  <a:srgbClr val="1A1A2E"/>
                </a:solidFill>
              </a:rPr>
              <a:t>BLE 5.2 — STM32WB5MMG M0+ intégré</a:t>
            </a:r>
          </a:p>
        </p:txBody>
      </p:sp>
      <p:sp>
        <p:nvSpPr>
          <p:cNvPr id="149" name="Rectangle 148"/>
          <p:cNvSpPr/>
          <p:nvPr/>
        </p:nvSpPr>
        <p:spPr>
          <a:xfrm>
            <a:off x="182880" y="8366760"/>
            <a:ext cx="256032" cy="246888"/>
          </a:xfrm>
          <a:prstGeom prst="rect">
            <a:avLst/>
          </a:prstGeom>
          <a:solidFill>
            <a:srgbClr val="052050"/>
          </a:solidFill>
          <a:ln w="381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219456" y="8403336"/>
            <a:ext cx="182880" cy="246888"/>
          </a:xfrm>
          <a:prstGeom prst="rect">
            <a:avLst/>
          </a:prstGeom>
          <a:noFill/>
        </p:spPr>
        <p:txBody>
          <a:bodyPr wrap="square">
            <a:spAutoFit/>
          </a:bodyPr>
          <a:lstStyle/>
          <a:p>
            <a:pPr algn="ctr"/>
            <a:endParaRPr/>
          </a:p>
        </p:txBody>
      </p:sp>
      <p:sp>
        <p:nvSpPr>
          <p:cNvPr id="151" name="Rectangle 150"/>
          <p:cNvSpPr/>
          <p:nvPr/>
        </p:nvSpPr>
        <p:spPr>
          <a:xfrm>
            <a:off x="438912" y="8366760"/>
            <a:ext cx="2286000" cy="246888"/>
          </a:xfrm>
          <a:prstGeom prst="rect">
            <a:avLst/>
          </a:prstGeom>
          <a:solidFill>
            <a:srgbClr val="052050"/>
          </a:solidFill>
          <a:ln w="381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475488" y="8403336"/>
            <a:ext cx="2212848" cy="246888"/>
          </a:xfrm>
          <a:prstGeom prst="rect">
            <a:avLst/>
          </a:prstGeom>
          <a:noFill/>
        </p:spPr>
        <p:txBody>
          <a:bodyPr wrap="square">
            <a:spAutoFit/>
          </a:bodyPr>
          <a:lstStyle/>
          <a:p>
            <a:pPr algn="ctr"/>
            <a:r>
              <a:rPr sz="900" b="1" i="0">
                <a:solidFill>
                  <a:srgbClr val="AA55FF"/>
                </a:solidFill>
              </a:rPr>
              <a:t>Test</a:t>
            </a:r>
          </a:p>
        </p:txBody>
      </p:sp>
      <p:sp>
        <p:nvSpPr>
          <p:cNvPr id="153" name="Rectangle 152"/>
          <p:cNvSpPr/>
          <p:nvPr/>
        </p:nvSpPr>
        <p:spPr>
          <a:xfrm>
            <a:off x="2724912" y="8366760"/>
            <a:ext cx="3840480" cy="246888"/>
          </a:xfrm>
          <a:prstGeom prst="rect">
            <a:avLst/>
          </a:prstGeom>
          <a:solidFill>
            <a:srgbClr val="052050"/>
          </a:solidFill>
          <a:ln w="381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2761488" y="8403336"/>
            <a:ext cx="3767328" cy="246888"/>
          </a:xfrm>
          <a:prstGeom prst="rect">
            <a:avLst/>
          </a:prstGeom>
          <a:noFill/>
        </p:spPr>
        <p:txBody>
          <a:bodyPr wrap="square">
            <a:spAutoFit/>
          </a:bodyPr>
          <a:lstStyle/>
          <a:p>
            <a:pPr algn="ctr"/>
            <a:r>
              <a:rPr sz="900" b="1" i="0">
                <a:solidFill>
                  <a:srgbClr val="AA55FF"/>
                </a:solidFill>
              </a:rPr>
              <a:t>Procédure</a:t>
            </a:r>
          </a:p>
        </p:txBody>
      </p:sp>
      <p:sp>
        <p:nvSpPr>
          <p:cNvPr id="155" name="Rectangle 154"/>
          <p:cNvSpPr/>
          <p:nvPr/>
        </p:nvSpPr>
        <p:spPr>
          <a:xfrm>
            <a:off x="6565392" y="8366760"/>
            <a:ext cx="3200400" cy="246888"/>
          </a:xfrm>
          <a:prstGeom prst="rect">
            <a:avLst/>
          </a:prstGeom>
          <a:solidFill>
            <a:srgbClr val="052050"/>
          </a:solidFill>
          <a:ln w="3810">
            <a:solidFill>
              <a:srgbClr val="AA5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6601968" y="8403336"/>
            <a:ext cx="3127248" cy="246888"/>
          </a:xfrm>
          <a:prstGeom prst="rect">
            <a:avLst/>
          </a:prstGeom>
          <a:noFill/>
        </p:spPr>
        <p:txBody>
          <a:bodyPr wrap="square">
            <a:spAutoFit/>
          </a:bodyPr>
          <a:lstStyle/>
          <a:p>
            <a:pPr algn="ctr"/>
            <a:r>
              <a:rPr sz="900" b="1" i="0">
                <a:solidFill>
                  <a:srgbClr val="AA55FF"/>
                </a:solidFill>
              </a:rPr>
              <a:t>Résultat attendu</a:t>
            </a:r>
          </a:p>
        </p:txBody>
      </p:sp>
      <p:sp>
        <p:nvSpPr>
          <p:cNvPr id="157" name="Rectangle 156"/>
          <p:cNvSpPr/>
          <p:nvPr/>
        </p:nvSpPr>
        <p:spPr>
          <a:xfrm>
            <a:off x="182880" y="8613648"/>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210312" y="8641080"/>
            <a:ext cx="201168" cy="329184"/>
          </a:xfrm>
          <a:prstGeom prst="rect">
            <a:avLst/>
          </a:prstGeom>
          <a:noFill/>
        </p:spPr>
        <p:txBody>
          <a:bodyPr wrap="square">
            <a:spAutoFit/>
          </a:bodyPr>
          <a:lstStyle/>
          <a:p>
            <a:pPr algn="ctr"/>
            <a:r>
              <a:rPr sz="900" b="0" i="0">
                <a:solidFill>
                  <a:srgbClr val="FFD700"/>
                </a:solidFill>
              </a:rPr>
              <a:t>☐</a:t>
            </a:r>
          </a:p>
        </p:txBody>
      </p:sp>
      <p:sp>
        <p:nvSpPr>
          <p:cNvPr id="159" name="Rectangle 158"/>
          <p:cNvSpPr/>
          <p:nvPr/>
        </p:nvSpPr>
        <p:spPr>
          <a:xfrm>
            <a:off x="438912" y="8613648"/>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466344" y="8641080"/>
            <a:ext cx="2231136" cy="329184"/>
          </a:xfrm>
          <a:prstGeom prst="rect">
            <a:avLst/>
          </a:prstGeom>
          <a:noFill/>
        </p:spPr>
        <p:txBody>
          <a:bodyPr wrap="square">
            <a:spAutoFit/>
          </a:bodyPr>
          <a:lstStyle/>
          <a:p>
            <a:pPr algn="l"/>
            <a:r>
              <a:rPr sz="900" b="0" i="0">
                <a:solidFill>
                  <a:srgbClr val="FFFFFF"/>
                </a:solidFill>
              </a:rPr>
              <a:t>Advertisement</a:t>
            </a:r>
          </a:p>
        </p:txBody>
      </p:sp>
      <p:sp>
        <p:nvSpPr>
          <p:cNvPr id="161" name="Rectangle 160"/>
          <p:cNvSpPr/>
          <p:nvPr/>
        </p:nvSpPr>
        <p:spPr>
          <a:xfrm>
            <a:off x="2724912" y="8613648"/>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2752344" y="8641080"/>
            <a:ext cx="3785616" cy="329184"/>
          </a:xfrm>
          <a:prstGeom prst="rect">
            <a:avLst/>
          </a:prstGeom>
          <a:noFill/>
        </p:spPr>
        <p:txBody>
          <a:bodyPr wrap="square">
            <a:spAutoFit/>
          </a:bodyPr>
          <a:lstStyle/>
          <a:p>
            <a:pPr algn="l"/>
            <a:r>
              <a:rPr sz="900" b="0" i="0">
                <a:solidFill>
                  <a:srgbClr val="FFFFFF"/>
                </a:solidFill>
              </a:rPr>
              <a:t>Scanner BLE sur smartphone (ex. nRF Connect)</a:t>
            </a:r>
          </a:p>
        </p:txBody>
      </p:sp>
      <p:sp>
        <p:nvSpPr>
          <p:cNvPr id="163" name="Rectangle 162"/>
          <p:cNvSpPr/>
          <p:nvPr/>
        </p:nvSpPr>
        <p:spPr>
          <a:xfrm>
            <a:off x="6565392" y="8613648"/>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163"/>
          <p:cNvSpPr txBox="1"/>
          <p:nvPr/>
        </p:nvSpPr>
        <p:spPr>
          <a:xfrm>
            <a:off x="6592824" y="8641080"/>
            <a:ext cx="3145536" cy="329184"/>
          </a:xfrm>
          <a:prstGeom prst="rect">
            <a:avLst/>
          </a:prstGeom>
          <a:noFill/>
        </p:spPr>
        <p:txBody>
          <a:bodyPr wrap="square">
            <a:spAutoFit/>
          </a:bodyPr>
          <a:lstStyle/>
          <a:p>
            <a:pPr algn="l"/>
            <a:r>
              <a:rPr sz="900" b="0" i="0">
                <a:solidFill>
                  <a:srgbClr val="FFFFFF"/>
                </a:solidFill>
              </a:rPr>
              <a:t>Périphérique 'RobotPendule' visible à &lt; 5 m</a:t>
            </a:r>
          </a:p>
        </p:txBody>
      </p:sp>
      <p:sp>
        <p:nvSpPr>
          <p:cNvPr id="165" name="Rectangle 164"/>
          <p:cNvSpPr/>
          <p:nvPr/>
        </p:nvSpPr>
        <p:spPr>
          <a:xfrm>
            <a:off x="182880" y="8942832"/>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210312" y="8970264"/>
            <a:ext cx="201168" cy="329184"/>
          </a:xfrm>
          <a:prstGeom prst="rect">
            <a:avLst/>
          </a:prstGeom>
          <a:noFill/>
        </p:spPr>
        <p:txBody>
          <a:bodyPr wrap="square">
            <a:spAutoFit/>
          </a:bodyPr>
          <a:lstStyle/>
          <a:p>
            <a:pPr algn="ctr"/>
            <a:r>
              <a:rPr sz="900" b="0" i="0">
                <a:solidFill>
                  <a:srgbClr val="FFD700"/>
                </a:solidFill>
              </a:rPr>
              <a:t>☐</a:t>
            </a:r>
          </a:p>
        </p:txBody>
      </p:sp>
      <p:sp>
        <p:nvSpPr>
          <p:cNvPr id="167" name="Rectangle 166"/>
          <p:cNvSpPr/>
          <p:nvPr/>
        </p:nvSpPr>
        <p:spPr>
          <a:xfrm>
            <a:off x="438912" y="8942832"/>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466344" y="8970264"/>
            <a:ext cx="2231136" cy="329184"/>
          </a:xfrm>
          <a:prstGeom prst="rect">
            <a:avLst/>
          </a:prstGeom>
          <a:noFill/>
        </p:spPr>
        <p:txBody>
          <a:bodyPr wrap="square">
            <a:spAutoFit/>
          </a:bodyPr>
          <a:lstStyle/>
          <a:p>
            <a:pPr algn="l"/>
            <a:r>
              <a:rPr sz="900" b="0" i="0">
                <a:solidFill>
                  <a:srgbClr val="FFFFFF"/>
                </a:solidFill>
              </a:rPr>
              <a:t>Connexion</a:t>
            </a:r>
          </a:p>
        </p:txBody>
      </p:sp>
      <p:sp>
        <p:nvSpPr>
          <p:cNvPr id="169" name="Rectangle 168"/>
          <p:cNvSpPr/>
          <p:nvPr/>
        </p:nvSpPr>
        <p:spPr>
          <a:xfrm>
            <a:off x="2724912" y="8942832"/>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2752344" y="8970264"/>
            <a:ext cx="3785616" cy="329184"/>
          </a:xfrm>
          <a:prstGeom prst="rect">
            <a:avLst/>
          </a:prstGeom>
          <a:noFill/>
        </p:spPr>
        <p:txBody>
          <a:bodyPr wrap="square">
            <a:spAutoFit/>
          </a:bodyPr>
          <a:lstStyle/>
          <a:p>
            <a:pPr algn="l"/>
            <a:r>
              <a:rPr sz="900" b="0" i="0">
                <a:solidFill>
                  <a:srgbClr val="FFFFFF"/>
                </a:solidFill>
              </a:rPr>
              <a:t>Se connecter depuis l'app smartphone</a:t>
            </a:r>
          </a:p>
        </p:txBody>
      </p:sp>
      <p:sp>
        <p:nvSpPr>
          <p:cNvPr id="171" name="Rectangle 170"/>
          <p:cNvSpPr/>
          <p:nvPr/>
        </p:nvSpPr>
        <p:spPr>
          <a:xfrm>
            <a:off x="6565392" y="8942832"/>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6592824" y="8970264"/>
            <a:ext cx="3145536" cy="329184"/>
          </a:xfrm>
          <a:prstGeom prst="rect">
            <a:avLst/>
          </a:prstGeom>
          <a:noFill/>
        </p:spPr>
        <p:txBody>
          <a:bodyPr wrap="square">
            <a:spAutoFit/>
          </a:bodyPr>
          <a:lstStyle/>
          <a:p>
            <a:pPr algn="l"/>
            <a:r>
              <a:rPr sz="900" b="0" i="0">
                <a:solidFill>
                  <a:srgbClr val="FFFFFF"/>
                </a:solidFill>
              </a:rPr>
              <a:t>Connexion établie, RSSI &gt; −80 dBm</a:t>
            </a:r>
          </a:p>
        </p:txBody>
      </p:sp>
      <p:sp>
        <p:nvSpPr>
          <p:cNvPr id="173" name="Rectangle 172"/>
          <p:cNvSpPr/>
          <p:nvPr/>
        </p:nvSpPr>
        <p:spPr>
          <a:xfrm>
            <a:off x="182880" y="9272016"/>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210312" y="9299448"/>
            <a:ext cx="201168" cy="329184"/>
          </a:xfrm>
          <a:prstGeom prst="rect">
            <a:avLst/>
          </a:prstGeom>
          <a:noFill/>
        </p:spPr>
        <p:txBody>
          <a:bodyPr wrap="square">
            <a:spAutoFit/>
          </a:bodyPr>
          <a:lstStyle/>
          <a:p>
            <a:pPr algn="ctr"/>
            <a:r>
              <a:rPr sz="900" b="0" i="0">
                <a:solidFill>
                  <a:srgbClr val="FFD700"/>
                </a:solidFill>
              </a:rPr>
              <a:t>☐</a:t>
            </a:r>
          </a:p>
        </p:txBody>
      </p:sp>
      <p:sp>
        <p:nvSpPr>
          <p:cNvPr id="175" name="Rectangle 174"/>
          <p:cNvSpPr/>
          <p:nvPr/>
        </p:nvSpPr>
        <p:spPr>
          <a:xfrm>
            <a:off x="438912" y="9272016"/>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175"/>
          <p:cNvSpPr txBox="1"/>
          <p:nvPr/>
        </p:nvSpPr>
        <p:spPr>
          <a:xfrm>
            <a:off x="466344" y="9299448"/>
            <a:ext cx="2231136" cy="329184"/>
          </a:xfrm>
          <a:prstGeom prst="rect">
            <a:avLst/>
          </a:prstGeom>
          <a:noFill/>
        </p:spPr>
        <p:txBody>
          <a:bodyPr wrap="square">
            <a:spAutoFit/>
          </a:bodyPr>
          <a:lstStyle/>
          <a:p>
            <a:pPr algn="l"/>
            <a:r>
              <a:rPr sz="900" b="0" i="0">
                <a:solidFill>
                  <a:srgbClr val="FFFFFF"/>
                </a:solidFill>
              </a:rPr>
              <a:t>Commande test</a:t>
            </a:r>
          </a:p>
        </p:txBody>
      </p:sp>
      <p:sp>
        <p:nvSpPr>
          <p:cNvPr id="177" name="Rectangle 176"/>
          <p:cNvSpPr/>
          <p:nvPr/>
        </p:nvSpPr>
        <p:spPr>
          <a:xfrm>
            <a:off x="2724912" y="9272016"/>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2752344" y="9299448"/>
            <a:ext cx="3785616" cy="329184"/>
          </a:xfrm>
          <a:prstGeom prst="rect">
            <a:avLst/>
          </a:prstGeom>
          <a:noFill/>
        </p:spPr>
        <p:txBody>
          <a:bodyPr wrap="square">
            <a:spAutoFit/>
          </a:bodyPr>
          <a:lstStyle/>
          <a:p>
            <a:pPr algn="l"/>
            <a:r>
              <a:rPr sz="900" b="0" i="0">
                <a:solidFill>
                  <a:srgbClr val="FFFFFF"/>
                </a:solidFill>
              </a:rPr>
              <a:t>Envoyer commande avant/arrière depuis l'app</a:t>
            </a:r>
          </a:p>
        </p:txBody>
      </p:sp>
      <p:sp>
        <p:nvSpPr>
          <p:cNvPr id="179" name="Rectangle 178"/>
          <p:cNvSpPr/>
          <p:nvPr/>
        </p:nvSpPr>
        <p:spPr>
          <a:xfrm>
            <a:off x="6565392" y="9272016"/>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6592824" y="9299448"/>
            <a:ext cx="3145536" cy="329184"/>
          </a:xfrm>
          <a:prstGeom prst="rect">
            <a:avLst/>
          </a:prstGeom>
          <a:noFill/>
        </p:spPr>
        <p:txBody>
          <a:bodyPr wrap="square">
            <a:spAutoFit/>
          </a:bodyPr>
          <a:lstStyle/>
          <a:p>
            <a:pPr algn="l"/>
            <a:r>
              <a:rPr sz="900" b="0" i="0">
                <a:solidFill>
                  <a:srgbClr val="FFFFFF"/>
                </a:solidFill>
              </a:rPr>
              <a:t>Firmware reçoit et log la commande via VCP</a:t>
            </a:r>
          </a:p>
        </p:txBody>
      </p:sp>
      <p:sp>
        <p:nvSpPr>
          <p:cNvPr id="181" name="Rectangle 180"/>
          <p:cNvSpPr/>
          <p:nvPr/>
        </p:nvSpPr>
        <p:spPr>
          <a:xfrm>
            <a:off x="182880" y="9601200"/>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210312" y="9628632"/>
            <a:ext cx="201168" cy="329184"/>
          </a:xfrm>
          <a:prstGeom prst="rect">
            <a:avLst/>
          </a:prstGeom>
          <a:noFill/>
        </p:spPr>
        <p:txBody>
          <a:bodyPr wrap="square">
            <a:spAutoFit/>
          </a:bodyPr>
          <a:lstStyle/>
          <a:p>
            <a:pPr algn="ctr"/>
            <a:r>
              <a:rPr sz="900" b="0" i="0">
                <a:solidFill>
                  <a:srgbClr val="FFD700"/>
                </a:solidFill>
              </a:rPr>
              <a:t>☐</a:t>
            </a:r>
          </a:p>
        </p:txBody>
      </p:sp>
      <p:sp>
        <p:nvSpPr>
          <p:cNvPr id="183" name="Rectangle 182"/>
          <p:cNvSpPr/>
          <p:nvPr/>
        </p:nvSpPr>
        <p:spPr>
          <a:xfrm>
            <a:off x="438912" y="9601200"/>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466344" y="9628632"/>
            <a:ext cx="2231136" cy="329184"/>
          </a:xfrm>
          <a:prstGeom prst="rect">
            <a:avLst/>
          </a:prstGeom>
          <a:noFill/>
        </p:spPr>
        <p:txBody>
          <a:bodyPr wrap="square">
            <a:spAutoFit/>
          </a:bodyPr>
          <a:lstStyle/>
          <a:p>
            <a:pPr algn="l"/>
            <a:r>
              <a:rPr sz="900" b="0" i="0">
                <a:solidFill>
                  <a:srgbClr val="FFFFFF"/>
                </a:solidFill>
              </a:rPr>
              <a:t>Timeout BLE</a:t>
            </a:r>
          </a:p>
        </p:txBody>
      </p:sp>
      <p:sp>
        <p:nvSpPr>
          <p:cNvPr id="185" name="Rectangle 184"/>
          <p:cNvSpPr/>
          <p:nvPr/>
        </p:nvSpPr>
        <p:spPr>
          <a:xfrm>
            <a:off x="2724912" y="9601200"/>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2752344" y="9628632"/>
            <a:ext cx="3785616" cy="329184"/>
          </a:xfrm>
          <a:prstGeom prst="rect">
            <a:avLst/>
          </a:prstGeom>
          <a:noFill/>
        </p:spPr>
        <p:txBody>
          <a:bodyPr wrap="square">
            <a:spAutoFit/>
          </a:bodyPr>
          <a:lstStyle/>
          <a:p>
            <a:pPr algn="l"/>
            <a:r>
              <a:rPr sz="900" b="0" i="0">
                <a:solidFill>
                  <a:srgbClr val="FFFFFF"/>
                </a:solidFill>
              </a:rPr>
              <a:t>Couper la connexion BLE (fermer app)</a:t>
            </a:r>
          </a:p>
        </p:txBody>
      </p:sp>
      <p:sp>
        <p:nvSpPr>
          <p:cNvPr id="187" name="Rectangle 186"/>
          <p:cNvSpPr/>
          <p:nvPr/>
        </p:nvSpPr>
        <p:spPr>
          <a:xfrm>
            <a:off x="6565392" y="9601200"/>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6592824" y="9628632"/>
            <a:ext cx="3145536" cy="329184"/>
          </a:xfrm>
          <a:prstGeom prst="rect">
            <a:avLst/>
          </a:prstGeom>
          <a:noFill/>
        </p:spPr>
        <p:txBody>
          <a:bodyPr wrap="square">
            <a:spAutoFit/>
          </a:bodyPr>
          <a:lstStyle/>
          <a:p>
            <a:pPr algn="l"/>
            <a:r>
              <a:rPr sz="900" b="0" i="0">
                <a:solidFill>
                  <a:srgbClr val="FFFFFF"/>
                </a:solidFill>
              </a:rPr>
              <a:t>Firmware détecte timeout 200 ms → moteurs coupés</a:t>
            </a:r>
          </a:p>
        </p:txBody>
      </p:sp>
      <p:sp>
        <p:nvSpPr>
          <p:cNvPr id="189" name="Rectangle 188"/>
          <p:cNvSpPr/>
          <p:nvPr/>
        </p:nvSpPr>
        <p:spPr>
          <a:xfrm>
            <a:off x="182880" y="10040112"/>
            <a:ext cx="11795760" cy="347472"/>
          </a:xfrm>
          <a:prstGeom prst="rect">
            <a:avLst/>
          </a:prstGeom>
          <a:solidFill>
            <a:srgbClr val="FF4444"/>
          </a:solidFill>
          <a:ln w="1270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274320" y="10076688"/>
            <a:ext cx="11612880" cy="347472"/>
          </a:xfrm>
          <a:prstGeom prst="rect">
            <a:avLst/>
          </a:prstGeom>
          <a:noFill/>
        </p:spPr>
        <p:txBody>
          <a:bodyPr wrap="square">
            <a:spAutoFit/>
          </a:bodyPr>
          <a:lstStyle/>
          <a:p>
            <a:pPr algn="l"/>
            <a:r>
              <a:rPr sz="1300" b="1" i="0">
                <a:solidFill>
                  <a:srgbClr val="1A1A2E"/>
                </a:solidFill>
              </a:rPr>
              <a:t>SÉCURITÉS FIRMWARE</a:t>
            </a:r>
          </a:p>
        </p:txBody>
      </p:sp>
      <p:sp>
        <p:nvSpPr>
          <p:cNvPr id="191" name="Rectangle 190"/>
          <p:cNvSpPr/>
          <p:nvPr/>
        </p:nvSpPr>
        <p:spPr>
          <a:xfrm>
            <a:off x="182880" y="10387584"/>
            <a:ext cx="256032" cy="246888"/>
          </a:xfrm>
          <a:prstGeom prst="rect">
            <a:avLst/>
          </a:prstGeom>
          <a:solidFill>
            <a:srgbClr val="052050"/>
          </a:solidFill>
          <a:ln w="381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219456" y="10424160"/>
            <a:ext cx="182880" cy="246888"/>
          </a:xfrm>
          <a:prstGeom prst="rect">
            <a:avLst/>
          </a:prstGeom>
          <a:noFill/>
        </p:spPr>
        <p:txBody>
          <a:bodyPr wrap="square">
            <a:spAutoFit/>
          </a:bodyPr>
          <a:lstStyle/>
          <a:p>
            <a:pPr algn="ctr"/>
            <a:endParaRPr/>
          </a:p>
        </p:txBody>
      </p:sp>
      <p:sp>
        <p:nvSpPr>
          <p:cNvPr id="193" name="Rectangle 192"/>
          <p:cNvSpPr/>
          <p:nvPr/>
        </p:nvSpPr>
        <p:spPr>
          <a:xfrm>
            <a:off x="438912" y="10387584"/>
            <a:ext cx="2286000" cy="246888"/>
          </a:xfrm>
          <a:prstGeom prst="rect">
            <a:avLst/>
          </a:prstGeom>
          <a:solidFill>
            <a:srgbClr val="052050"/>
          </a:solidFill>
          <a:ln w="381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475488" y="10424160"/>
            <a:ext cx="2212848" cy="246888"/>
          </a:xfrm>
          <a:prstGeom prst="rect">
            <a:avLst/>
          </a:prstGeom>
          <a:noFill/>
        </p:spPr>
        <p:txBody>
          <a:bodyPr wrap="square">
            <a:spAutoFit/>
          </a:bodyPr>
          <a:lstStyle/>
          <a:p>
            <a:pPr algn="ctr"/>
            <a:r>
              <a:rPr sz="900" b="1" i="0">
                <a:solidFill>
                  <a:srgbClr val="FF4444"/>
                </a:solidFill>
              </a:rPr>
              <a:t>Test</a:t>
            </a:r>
          </a:p>
        </p:txBody>
      </p:sp>
      <p:sp>
        <p:nvSpPr>
          <p:cNvPr id="195" name="Rectangle 194"/>
          <p:cNvSpPr/>
          <p:nvPr/>
        </p:nvSpPr>
        <p:spPr>
          <a:xfrm>
            <a:off x="2724912" y="10387584"/>
            <a:ext cx="3840480" cy="246888"/>
          </a:xfrm>
          <a:prstGeom prst="rect">
            <a:avLst/>
          </a:prstGeom>
          <a:solidFill>
            <a:srgbClr val="052050"/>
          </a:solidFill>
          <a:ln w="381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2761488" y="10424160"/>
            <a:ext cx="3767328" cy="246888"/>
          </a:xfrm>
          <a:prstGeom prst="rect">
            <a:avLst/>
          </a:prstGeom>
          <a:noFill/>
        </p:spPr>
        <p:txBody>
          <a:bodyPr wrap="square">
            <a:spAutoFit/>
          </a:bodyPr>
          <a:lstStyle/>
          <a:p>
            <a:pPr algn="ctr"/>
            <a:r>
              <a:rPr sz="900" b="1" i="0">
                <a:solidFill>
                  <a:srgbClr val="FF4444"/>
                </a:solidFill>
              </a:rPr>
              <a:t>Procédure</a:t>
            </a:r>
          </a:p>
        </p:txBody>
      </p:sp>
      <p:sp>
        <p:nvSpPr>
          <p:cNvPr id="197" name="Rectangle 196"/>
          <p:cNvSpPr/>
          <p:nvPr/>
        </p:nvSpPr>
        <p:spPr>
          <a:xfrm>
            <a:off x="6565392" y="10387584"/>
            <a:ext cx="3200400" cy="246888"/>
          </a:xfrm>
          <a:prstGeom prst="rect">
            <a:avLst/>
          </a:prstGeom>
          <a:solidFill>
            <a:srgbClr val="052050"/>
          </a:solidFill>
          <a:ln w="3810">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6601968" y="10424160"/>
            <a:ext cx="3127248" cy="246888"/>
          </a:xfrm>
          <a:prstGeom prst="rect">
            <a:avLst/>
          </a:prstGeom>
          <a:noFill/>
        </p:spPr>
        <p:txBody>
          <a:bodyPr wrap="square">
            <a:spAutoFit/>
          </a:bodyPr>
          <a:lstStyle/>
          <a:p>
            <a:pPr algn="ctr"/>
            <a:r>
              <a:rPr sz="900" b="1" i="0">
                <a:solidFill>
                  <a:srgbClr val="FF4444"/>
                </a:solidFill>
              </a:rPr>
              <a:t>Résultat attendu</a:t>
            </a:r>
          </a:p>
        </p:txBody>
      </p:sp>
      <p:sp>
        <p:nvSpPr>
          <p:cNvPr id="199" name="Rectangle 198"/>
          <p:cNvSpPr/>
          <p:nvPr/>
        </p:nvSpPr>
        <p:spPr>
          <a:xfrm>
            <a:off x="182880" y="10634472"/>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210312" y="10661904"/>
            <a:ext cx="201168" cy="329184"/>
          </a:xfrm>
          <a:prstGeom prst="rect">
            <a:avLst/>
          </a:prstGeom>
          <a:noFill/>
        </p:spPr>
        <p:txBody>
          <a:bodyPr wrap="square">
            <a:spAutoFit/>
          </a:bodyPr>
          <a:lstStyle/>
          <a:p>
            <a:pPr algn="ctr"/>
            <a:r>
              <a:rPr sz="900" b="0" i="0">
                <a:solidFill>
                  <a:srgbClr val="FFD700"/>
                </a:solidFill>
              </a:rPr>
              <a:t>☐</a:t>
            </a:r>
          </a:p>
        </p:txBody>
      </p:sp>
      <p:sp>
        <p:nvSpPr>
          <p:cNvPr id="201" name="Rectangle 200"/>
          <p:cNvSpPr/>
          <p:nvPr/>
        </p:nvSpPr>
        <p:spPr>
          <a:xfrm>
            <a:off x="438912" y="10634472"/>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466344" y="10661904"/>
            <a:ext cx="2231136" cy="329184"/>
          </a:xfrm>
          <a:prstGeom prst="rect">
            <a:avLst/>
          </a:prstGeom>
          <a:noFill/>
        </p:spPr>
        <p:txBody>
          <a:bodyPr wrap="square">
            <a:spAutoFit/>
          </a:bodyPr>
          <a:lstStyle/>
          <a:p>
            <a:pPr algn="l"/>
            <a:r>
              <a:rPr sz="900" b="0" i="0">
                <a:solidFill>
                  <a:srgbClr val="FFFFFF"/>
                </a:solidFill>
              </a:rPr>
              <a:t>Tilt cutoff</a:t>
            </a:r>
          </a:p>
        </p:txBody>
      </p:sp>
      <p:sp>
        <p:nvSpPr>
          <p:cNvPr id="203" name="Rectangle 202"/>
          <p:cNvSpPr/>
          <p:nvPr/>
        </p:nvSpPr>
        <p:spPr>
          <a:xfrm>
            <a:off x="2724912" y="10634472"/>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2752344" y="10661904"/>
            <a:ext cx="3785616" cy="329184"/>
          </a:xfrm>
          <a:prstGeom prst="rect">
            <a:avLst/>
          </a:prstGeom>
          <a:noFill/>
        </p:spPr>
        <p:txBody>
          <a:bodyPr wrap="square">
            <a:spAutoFit/>
          </a:bodyPr>
          <a:lstStyle/>
          <a:p>
            <a:pPr algn="l"/>
            <a:r>
              <a:rPr sz="900" b="0" i="0">
                <a:solidFill>
                  <a:srgbClr val="FFFFFF"/>
                </a:solidFill>
              </a:rPr>
              <a:t>Incliner le robot au-delà de 45°</a:t>
            </a:r>
          </a:p>
        </p:txBody>
      </p:sp>
      <p:sp>
        <p:nvSpPr>
          <p:cNvPr id="205" name="Rectangle 204"/>
          <p:cNvSpPr/>
          <p:nvPr/>
        </p:nvSpPr>
        <p:spPr>
          <a:xfrm>
            <a:off x="6565392" y="10634472"/>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6592824" y="10661904"/>
            <a:ext cx="3145536" cy="329184"/>
          </a:xfrm>
          <a:prstGeom prst="rect">
            <a:avLst/>
          </a:prstGeom>
          <a:noFill/>
        </p:spPr>
        <p:txBody>
          <a:bodyPr wrap="square">
            <a:spAutoFit/>
          </a:bodyPr>
          <a:lstStyle/>
          <a:p>
            <a:pPr algn="l"/>
            <a:r>
              <a:rPr sz="900" b="0" i="0">
                <a:solidFill>
                  <a:srgbClr val="FFFFFF"/>
                </a:solidFill>
              </a:rPr>
              <a:t>Moteurs coupés immédiatement (PWM=0, BRAKE=1)</a:t>
            </a:r>
          </a:p>
        </p:txBody>
      </p:sp>
      <p:sp>
        <p:nvSpPr>
          <p:cNvPr id="207" name="Rectangle 206"/>
          <p:cNvSpPr/>
          <p:nvPr/>
        </p:nvSpPr>
        <p:spPr>
          <a:xfrm>
            <a:off x="182880" y="10963656"/>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210312" y="10991088"/>
            <a:ext cx="201168" cy="329184"/>
          </a:xfrm>
          <a:prstGeom prst="rect">
            <a:avLst/>
          </a:prstGeom>
          <a:noFill/>
        </p:spPr>
        <p:txBody>
          <a:bodyPr wrap="square">
            <a:spAutoFit/>
          </a:bodyPr>
          <a:lstStyle/>
          <a:p>
            <a:pPr algn="ctr"/>
            <a:r>
              <a:rPr sz="900" b="0" i="0">
                <a:solidFill>
                  <a:srgbClr val="FFD700"/>
                </a:solidFill>
              </a:rPr>
              <a:t>☐</a:t>
            </a:r>
          </a:p>
        </p:txBody>
      </p:sp>
      <p:sp>
        <p:nvSpPr>
          <p:cNvPr id="209" name="Rectangle 208"/>
          <p:cNvSpPr/>
          <p:nvPr/>
        </p:nvSpPr>
        <p:spPr>
          <a:xfrm>
            <a:off x="438912" y="10963656"/>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466344" y="10991088"/>
            <a:ext cx="2231136" cy="329184"/>
          </a:xfrm>
          <a:prstGeom prst="rect">
            <a:avLst/>
          </a:prstGeom>
          <a:noFill/>
        </p:spPr>
        <p:txBody>
          <a:bodyPr wrap="square">
            <a:spAutoFit/>
          </a:bodyPr>
          <a:lstStyle/>
          <a:p>
            <a:pPr algn="l"/>
            <a:r>
              <a:rPr sz="900" b="0" i="0">
                <a:solidFill>
                  <a:srgbClr val="FFFFFF"/>
                </a:solidFill>
              </a:rPr>
              <a:t>Watchdog 50 ms</a:t>
            </a:r>
          </a:p>
        </p:txBody>
      </p:sp>
      <p:sp>
        <p:nvSpPr>
          <p:cNvPr id="211" name="Rectangle 210"/>
          <p:cNvSpPr/>
          <p:nvPr/>
        </p:nvSpPr>
        <p:spPr>
          <a:xfrm>
            <a:off x="2724912" y="10963656"/>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2752344" y="10991088"/>
            <a:ext cx="3785616" cy="329184"/>
          </a:xfrm>
          <a:prstGeom prst="rect">
            <a:avLst/>
          </a:prstGeom>
          <a:noFill/>
        </p:spPr>
        <p:txBody>
          <a:bodyPr wrap="square">
            <a:spAutoFit/>
          </a:bodyPr>
          <a:lstStyle/>
          <a:p>
            <a:pPr algn="l"/>
            <a:r>
              <a:rPr sz="900" b="0" i="0">
                <a:solidFill>
                  <a:srgbClr val="FFFFFF"/>
                </a:solidFill>
              </a:rPr>
              <a:t>Bloquer la tâche control (simuler deadlock)</a:t>
            </a:r>
          </a:p>
        </p:txBody>
      </p:sp>
      <p:sp>
        <p:nvSpPr>
          <p:cNvPr id="213" name="Rectangle 212"/>
          <p:cNvSpPr/>
          <p:nvPr/>
        </p:nvSpPr>
        <p:spPr>
          <a:xfrm>
            <a:off x="6565392" y="10963656"/>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6592824" y="10991088"/>
            <a:ext cx="3145536" cy="329184"/>
          </a:xfrm>
          <a:prstGeom prst="rect">
            <a:avLst/>
          </a:prstGeom>
          <a:noFill/>
        </p:spPr>
        <p:txBody>
          <a:bodyPr wrap="square">
            <a:spAutoFit/>
          </a:bodyPr>
          <a:lstStyle/>
          <a:p>
            <a:pPr algn="l"/>
            <a:r>
              <a:rPr sz="900" b="0" i="0">
                <a:solidFill>
                  <a:srgbClr val="FFFFFF"/>
                </a:solidFill>
              </a:rPr>
              <a:t>Reset MCU en &lt; 50 ms — visible par redémarrage VCP</a:t>
            </a:r>
          </a:p>
        </p:txBody>
      </p:sp>
      <p:sp>
        <p:nvSpPr>
          <p:cNvPr id="215" name="Rectangle 214"/>
          <p:cNvSpPr/>
          <p:nvPr/>
        </p:nvSpPr>
        <p:spPr>
          <a:xfrm>
            <a:off x="182880" y="11292840"/>
            <a:ext cx="256032"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210312" y="11320272"/>
            <a:ext cx="201168" cy="329184"/>
          </a:xfrm>
          <a:prstGeom prst="rect">
            <a:avLst/>
          </a:prstGeom>
          <a:noFill/>
        </p:spPr>
        <p:txBody>
          <a:bodyPr wrap="square">
            <a:spAutoFit/>
          </a:bodyPr>
          <a:lstStyle/>
          <a:p>
            <a:pPr algn="ctr"/>
            <a:r>
              <a:rPr sz="900" b="0" i="0">
                <a:solidFill>
                  <a:srgbClr val="FFD700"/>
                </a:solidFill>
              </a:rPr>
              <a:t>☐</a:t>
            </a:r>
          </a:p>
        </p:txBody>
      </p:sp>
      <p:sp>
        <p:nvSpPr>
          <p:cNvPr id="217" name="Rectangle 216"/>
          <p:cNvSpPr/>
          <p:nvPr/>
        </p:nvSpPr>
        <p:spPr>
          <a:xfrm>
            <a:off x="438912" y="11292840"/>
            <a:ext cx="22860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p:cNvSpPr txBox="1"/>
          <p:nvPr/>
        </p:nvSpPr>
        <p:spPr>
          <a:xfrm>
            <a:off x="466344" y="11320272"/>
            <a:ext cx="2231136" cy="329184"/>
          </a:xfrm>
          <a:prstGeom prst="rect">
            <a:avLst/>
          </a:prstGeom>
          <a:noFill/>
        </p:spPr>
        <p:txBody>
          <a:bodyPr wrap="square">
            <a:spAutoFit/>
          </a:bodyPr>
          <a:lstStyle/>
          <a:p>
            <a:pPr algn="l"/>
            <a:r>
              <a:rPr sz="900" b="0" i="0">
                <a:solidFill>
                  <a:srgbClr val="FFFFFF"/>
                </a:solidFill>
              </a:rPr>
              <a:t>3 miss I2C</a:t>
            </a:r>
          </a:p>
        </p:txBody>
      </p:sp>
      <p:sp>
        <p:nvSpPr>
          <p:cNvPr id="219" name="Rectangle 218"/>
          <p:cNvSpPr/>
          <p:nvPr/>
        </p:nvSpPr>
        <p:spPr>
          <a:xfrm>
            <a:off x="2724912" y="11292840"/>
            <a:ext cx="384048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2752344" y="11320272"/>
            <a:ext cx="3785616" cy="329184"/>
          </a:xfrm>
          <a:prstGeom prst="rect">
            <a:avLst/>
          </a:prstGeom>
          <a:noFill/>
        </p:spPr>
        <p:txBody>
          <a:bodyPr wrap="square">
            <a:spAutoFit/>
          </a:bodyPr>
          <a:lstStyle/>
          <a:p>
            <a:pPr algn="l"/>
            <a:r>
              <a:rPr sz="900" b="0" i="0">
                <a:solidFill>
                  <a:srgbClr val="FFFFFF"/>
                </a:solidFill>
              </a:rPr>
              <a:t>Débrancher I2C3 SDA pendant exécution</a:t>
            </a:r>
          </a:p>
        </p:txBody>
      </p:sp>
      <p:sp>
        <p:nvSpPr>
          <p:cNvPr id="221" name="Rectangle 220"/>
          <p:cNvSpPr/>
          <p:nvPr/>
        </p:nvSpPr>
        <p:spPr>
          <a:xfrm>
            <a:off x="6565392" y="11292840"/>
            <a:ext cx="3200400" cy="329184"/>
          </a:xfrm>
          <a:prstGeom prst="rect">
            <a:avLst/>
          </a:prstGeom>
          <a:solidFill>
            <a:srgbClr val="16213E"/>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6592824" y="11320272"/>
            <a:ext cx="3145536" cy="329184"/>
          </a:xfrm>
          <a:prstGeom prst="rect">
            <a:avLst/>
          </a:prstGeom>
          <a:noFill/>
        </p:spPr>
        <p:txBody>
          <a:bodyPr wrap="square">
            <a:spAutoFit/>
          </a:bodyPr>
          <a:lstStyle/>
          <a:p>
            <a:pPr algn="l"/>
            <a:r>
              <a:rPr sz="900" b="0" i="0">
                <a:solidFill>
                  <a:srgbClr val="FFFFFF"/>
                </a:solidFill>
              </a:rPr>
              <a:t>Moteurs coupés après 3 lectures IMU manquées</a:t>
            </a:r>
          </a:p>
        </p:txBody>
      </p:sp>
      <p:sp>
        <p:nvSpPr>
          <p:cNvPr id="223" name="Rectangle 222"/>
          <p:cNvSpPr/>
          <p:nvPr/>
        </p:nvSpPr>
        <p:spPr>
          <a:xfrm>
            <a:off x="182880" y="11622024"/>
            <a:ext cx="256032"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210312" y="11649456"/>
            <a:ext cx="201168" cy="329184"/>
          </a:xfrm>
          <a:prstGeom prst="rect">
            <a:avLst/>
          </a:prstGeom>
          <a:noFill/>
        </p:spPr>
        <p:txBody>
          <a:bodyPr wrap="square">
            <a:spAutoFit/>
          </a:bodyPr>
          <a:lstStyle/>
          <a:p>
            <a:pPr algn="ctr"/>
            <a:r>
              <a:rPr sz="900" b="0" i="0">
                <a:solidFill>
                  <a:srgbClr val="FFD700"/>
                </a:solidFill>
              </a:rPr>
              <a:t>☐</a:t>
            </a:r>
          </a:p>
        </p:txBody>
      </p:sp>
      <p:sp>
        <p:nvSpPr>
          <p:cNvPr id="225" name="Rectangle 224"/>
          <p:cNvSpPr/>
          <p:nvPr/>
        </p:nvSpPr>
        <p:spPr>
          <a:xfrm>
            <a:off x="438912" y="11622024"/>
            <a:ext cx="22860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p:cNvSpPr txBox="1"/>
          <p:nvPr/>
        </p:nvSpPr>
        <p:spPr>
          <a:xfrm>
            <a:off x="466344" y="11649456"/>
            <a:ext cx="2231136" cy="329184"/>
          </a:xfrm>
          <a:prstGeom prst="rect">
            <a:avLst/>
          </a:prstGeom>
          <a:noFill/>
        </p:spPr>
        <p:txBody>
          <a:bodyPr wrap="square">
            <a:spAutoFit/>
          </a:bodyPr>
          <a:lstStyle/>
          <a:p>
            <a:pPr algn="l"/>
            <a:r>
              <a:rPr sz="900" b="0" i="0">
                <a:solidFill>
                  <a:srgbClr val="FFFFFF"/>
                </a:solidFill>
              </a:rPr>
              <a:t>Remise en marche</a:t>
            </a:r>
          </a:p>
        </p:txBody>
      </p:sp>
      <p:sp>
        <p:nvSpPr>
          <p:cNvPr id="227" name="Rectangle 226"/>
          <p:cNvSpPr/>
          <p:nvPr/>
        </p:nvSpPr>
        <p:spPr>
          <a:xfrm>
            <a:off x="2724912" y="11622024"/>
            <a:ext cx="384048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2752344" y="11649456"/>
            <a:ext cx="3785616" cy="329184"/>
          </a:xfrm>
          <a:prstGeom prst="rect">
            <a:avLst/>
          </a:prstGeom>
          <a:noFill/>
        </p:spPr>
        <p:txBody>
          <a:bodyPr wrap="square">
            <a:spAutoFit/>
          </a:bodyPr>
          <a:lstStyle/>
          <a:p>
            <a:pPr algn="l"/>
            <a:r>
              <a:rPr sz="900" b="0" i="0">
                <a:solidFill>
                  <a:srgbClr val="FFFFFF"/>
                </a:solidFill>
              </a:rPr>
              <a:t>Remettre robot droit après cutoff tilt</a:t>
            </a:r>
          </a:p>
        </p:txBody>
      </p:sp>
      <p:sp>
        <p:nvSpPr>
          <p:cNvPr id="229" name="Rectangle 228"/>
          <p:cNvSpPr/>
          <p:nvPr/>
        </p:nvSpPr>
        <p:spPr>
          <a:xfrm>
            <a:off x="6565392" y="11622024"/>
            <a:ext cx="3200400" cy="329184"/>
          </a:xfrm>
          <a:prstGeom prst="rect">
            <a:avLst/>
          </a:prstGeom>
          <a:solidFill>
            <a:srgbClr val="0A2855"/>
          </a:solidFill>
          <a:ln w="3810">
            <a:solidFill>
              <a:srgbClr val="2244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p:cNvSpPr txBox="1"/>
          <p:nvPr/>
        </p:nvSpPr>
        <p:spPr>
          <a:xfrm>
            <a:off x="6592824" y="11649456"/>
            <a:ext cx="3145536" cy="329184"/>
          </a:xfrm>
          <a:prstGeom prst="rect">
            <a:avLst/>
          </a:prstGeom>
          <a:noFill/>
        </p:spPr>
        <p:txBody>
          <a:bodyPr wrap="square">
            <a:spAutoFit/>
          </a:bodyPr>
          <a:lstStyle/>
          <a:p>
            <a:pPr algn="l"/>
            <a:r>
              <a:rPr sz="900" b="0" i="0">
                <a:solidFill>
                  <a:srgbClr val="FFFFFF"/>
                </a:solidFill>
              </a:rPr>
              <a:t>Contrôle reprend automatiquement si |tilt| &lt; 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84</TotalTime>
  <Words>2707</Words>
  <Application>Microsoft Office PowerPoint</Application>
  <PresentationFormat>Personnalisé</PresentationFormat>
  <Paragraphs>584</Paragraphs>
  <Slides>12</Slides>
  <Notes>0</Notes>
  <HiddenSlides>0</HiddenSlides>
  <MMClips>0</MMClips>
  <ScaleCrop>false</ScaleCrop>
  <HeadingPairs>
    <vt:vector size="4" baseType="variant">
      <vt:variant>
        <vt:lpstr>Thème</vt:lpstr>
      </vt:variant>
      <vt:variant>
        <vt:i4>1</vt:i4>
      </vt:variant>
      <vt:variant>
        <vt:lpstr>Titres des diapositives</vt:lpstr>
      </vt:variant>
      <vt:variant>
        <vt:i4>12</vt:i4>
      </vt:variant>
    </vt:vector>
  </HeadingPairs>
  <TitlesOfParts>
    <vt:vector size="13" baseType="lpstr">
      <vt:lpstr>Office Theme</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subject/>
  <dc:creator/>
  <cp:keywords/>
  <dc:description>generated using python-pptx</dc:description>
  <cp:lastModifiedBy>Pierre</cp:lastModifiedBy>
  <cp:revision>10</cp:revision>
  <dcterms:created xsi:type="dcterms:W3CDTF">2013-01-27T09:14:16Z</dcterms:created>
  <dcterms:modified xsi:type="dcterms:W3CDTF">2026-05-22T21:33:10Z</dcterms:modified>
  <cp:category/>
</cp:coreProperties>
</file>